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66" r:id="rId4"/>
    <p:sldId id="258" r:id="rId5"/>
    <p:sldId id="265" r:id="rId6"/>
    <p:sldId id="260" r:id="rId7"/>
    <p:sldId id="261" r:id="rId8"/>
    <p:sldId id="264" r:id="rId9"/>
    <p:sldId id="262" r:id="rId10"/>
    <p:sldId id="263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60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23529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9929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2.png"/><Relationship Id="rId4" Type="http://schemas.openxmlformats.org/officeDocument/2006/relationships/image" Target="../media/image8.png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CC"/>
          </a:solidFill>
          <a:ln w="12700">
            <a:solidFill>
              <a:srgbClr val="00B4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</a:rPr>
              <a:t>Concentration Polarization of LDL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</a:rPr>
              <a:t>in the Arterial System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00B4CC"/>
                </a:solidFill>
              </a:rPr>
              <a:t>Governing Equations, Boundary Conditions &amp; Computational Model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3337560"/>
            <a:ext cx="7772400" cy="0"/>
          </a:xfrm>
          <a:prstGeom prst="line">
            <a:avLst/>
          </a:prstGeom>
          <a:noFill/>
          <a:ln w="19050">
            <a:solidFill>
              <a:srgbClr val="0A7C8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457200" y="3520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B8899"/>
                </a:solidFill>
              </a:rPr>
              <a:t>Fatouraee, Deng, De Champlain &amp; Guidoin  |  Ann. N.Y. Acad. Sci., 1998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Model Assumptions, COMSOL Parameters &amp; Modules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Assumptions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1042416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</a:rPr>
              <a:t>Homogeneous, incompressible, Newtonian blood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</a:rPr>
              <a:t>Straight cylindrical vessel, uniform diameter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</a:rPr>
              <a:t>Vessel wall permeable to LDL (V</a:t>
            </a:r>
            <a:r>
              <a:rPr lang="en-US" sz="1100" baseline="-25000" dirty="0">
                <a:solidFill>
                  <a:srgbClr val="1A2B3C"/>
                </a:solidFill>
              </a:rPr>
              <a:t>w</a:t>
            </a:r>
            <a:r>
              <a:rPr lang="en-US" sz="1100" dirty="0">
                <a:solidFill>
                  <a:srgbClr val="1A2B3C"/>
                </a:solidFill>
              </a:rPr>
              <a:t> ~ 10⁻⁶ cm/s)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</a:rPr>
              <a:t>Pulsatile inlet: Womersley velocity profile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A2B3C"/>
                </a:solidFill>
              </a:rPr>
              <a:t>Uniform inlet LDL concentration (C = C₀)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3401568"/>
            <a:ext cx="1645920" cy="256032"/>
          </a:xfrm>
          <a:prstGeom prst="roundRect">
            <a:avLst>
              <a:gd name="adj" fmla="val 21429"/>
            </a:avLst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274320" y="34015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COMSOL Modules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3694176"/>
            <a:ext cx="3931920" cy="594360"/>
          </a:xfrm>
          <a:prstGeom prst="rect">
            <a:avLst/>
          </a:prstGeom>
          <a:solidFill>
            <a:srgbClr val="E8F5F7"/>
          </a:solidFill>
          <a:ln w="15240">
            <a:solidFill>
              <a:srgbClr val="0A7C8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411480" y="3694176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7C8C"/>
                </a:solidFill>
              </a:rPr>
              <a:t>Laminar Flow (spf)  </a:t>
            </a:r>
            <a:r>
              <a:rPr lang="en-US" sz="1100" dirty="0">
                <a:solidFill>
                  <a:srgbClr val="1A2B3C"/>
                </a:solidFill>
              </a:rPr>
              <a:t>— fluid flow solver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4325112"/>
            <a:ext cx="3931920" cy="594360"/>
          </a:xfrm>
          <a:prstGeom prst="rect">
            <a:avLst/>
          </a:prstGeom>
          <a:solidFill>
            <a:srgbClr val="E8F5F7"/>
          </a:solidFill>
          <a:ln w="15240">
            <a:solidFill>
              <a:srgbClr val="0A7C8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411480" y="4325112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7C8C"/>
                </a:solidFill>
              </a:rPr>
              <a:t>Transport of Diluted Species (tds)  </a:t>
            </a:r>
            <a:r>
              <a:rPr lang="en-US" sz="1100" dirty="0">
                <a:solidFill>
                  <a:srgbClr val="1A2B3C"/>
                </a:solidFill>
              </a:rPr>
              <a:t>— LDL mass transport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62272" y="749808"/>
            <a:ext cx="1828800" cy="256032"/>
          </a:xfrm>
          <a:prstGeom prst="roundRect">
            <a:avLst>
              <a:gd name="adj" fmla="val 21429"/>
            </a:avLst>
          </a:prstGeom>
          <a:solidFill>
            <a:srgbClr val="0A7C8C"/>
          </a:solidFill>
          <a:ln w="12700">
            <a:solidFill>
              <a:srgbClr val="0A7C8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4462272" y="7498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COMSOL Parameters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462272" y="1042416"/>
            <a:ext cx="960120" cy="274320"/>
          </a:xfrm>
          <a:prstGeom prst="rect">
            <a:avLst/>
          </a:prstGeom>
          <a:solidFill>
            <a:srgbClr val="0A7C8C"/>
          </a:solidFill>
          <a:ln w="12700">
            <a:solidFill>
              <a:srgbClr val="0A7C8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4462272" y="1042416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Name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22392" y="1042416"/>
            <a:ext cx="1051560" cy="274320"/>
          </a:xfrm>
          <a:prstGeom prst="rect">
            <a:avLst/>
          </a:prstGeom>
          <a:solidFill>
            <a:srgbClr val="0A7C8C"/>
          </a:solidFill>
          <a:ln w="12700">
            <a:solidFill>
              <a:srgbClr val="0A7C8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5422392" y="104241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Value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73952" y="1042416"/>
            <a:ext cx="2350008" cy="274320"/>
          </a:xfrm>
          <a:prstGeom prst="rect">
            <a:avLst/>
          </a:prstGeom>
          <a:solidFill>
            <a:srgbClr val="0A7C8C"/>
          </a:solidFill>
          <a:ln w="12700">
            <a:solidFill>
              <a:srgbClr val="0A7C8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6473952" y="1042416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Description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462272" y="1316736"/>
            <a:ext cx="960120" cy="333756"/>
          </a:xfrm>
          <a:prstGeom prst="rect">
            <a:avLst/>
          </a:prstGeom>
          <a:solidFill>
            <a:srgbClr val="FFFFFF"/>
          </a:solidFill>
          <a:ln w="5080">
            <a:solidFill>
              <a:srgbClr val="D0E8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4507992" y="1316736"/>
            <a:ext cx="86868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R₀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22392" y="1316736"/>
            <a:ext cx="1051560" cy="333756"/>
          </a:xfrm>
          <a:prstGeom prst="rect">
            <a:avLst/>
          </a:prstGeom>
          <a:solidFill>
            <a:srgbClr val="FFFFFF"/>
          </a:solidFill>
          <a:ln w="5080">
            <a:solidFill>
              <a:srgbClr val="D0E8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5468112" y="1316736"/>
            <a:ext cx="96012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0.0035 m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73952" y="1316736"/>
            <a:ext cx="2350008" cy="333756"/>
          </a:xfrm>
          <a:prstGeom prst="rect">
            <a:avLst/>
          </a:prstGeom>
          <a:solidFill>
            <a:srgbClr val="FFFFFF"/>
          </a:solidFill>
          <a:ln w="5080">
            <a:solidFill>
              <a:srgbClr val="D0E8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/>
          <p:nvPr/>
        </p:nvSpPr>
        <p:spPr>
          <a:xfrm>
            <a:off x="6519672" y="1316736"/>
            <a:ext cx="225856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radius of artery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462272" y="1650492"/>
            <a:ext cx="960120" cy="333756"/>
          </a:xfrm>
          <a:prstGeom prst="rect">
            <a:avLst/>
          </a:prstGeom>
          <a:solidFill>
            <a:srgbClr val="E8F5F7"/>
          </a:solidFill>
          <a:ln w="5080">
            <a:solidFill>
              <a:srgbClr val="D0E8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4507992" y="1650492"/>
            <a:ext cx="86868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22392" y="1650492"/>
            <a:ext cx="1051560" cy="333756"/>
          </a:xfrm>
          <a:prstGeom prst="rect">
            <a:avLst/>
          </a:prstGeom>
          <a:solidFill>
            <a:srgbClr val="E8F5F7"/>
          </a:solidFill>
          <a:ln w="5080">
            <a:solidFill>
              <a:srgbClr val="D0E8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/>
          <p:nvPr/>
        </p:nvSpPr>
        <p:spPr>
          <a:xfrm>
            <a:off x="5468112" y="1650492"/>
            <a:ext cx="96012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0.035 m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73952" y="1650492"/>
            <a:ext cx="2350008" cy="333756"/>
          </a:xfrm>
          <a:prstGeom prst="rect">
            <a:avLst/>
          </a:prstGeom>
          <a:solidFill>
            <a:srgbClr val="E8F5F7"/>
          </a:solidFill>
          <a:ln w="5080">
            <a:solidFill>
              <a:srgbClr val="D0E8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0"/>
          <p:cNvSpPr/>
          <p:nvPr/>
        </p:nvSpPr>
        <p:spPr>
          <a:xfrm>
            <a:off x="6519672" y="1650492"/>
            <a:ext cx="225856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of segment (10·R₀)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462272" y="1984248"/>
            <a:ext cx="960120" cy="333756"/>
          </a:xfrm>
          <a:prstGeom prst="rect">
            <a:avLst/>
          </a:prstGeom>
          <a:solidFill>
            <a:srgbClr val="FFFFFF"/>
          </a:solidFill>
          <a:ln w="5080">
            <a:solidFill>
              <a:srgbClr val="D0E8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2"/>
          <p:cNvSpPr/>
          <p:nvPr/>
        </p:nvSpPr>
        <p:spPr>
          <a:xfrm>
            <a:off x="4507992" y="1984248"/>
            <a:ext cx="86868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 err="1">
                <a:solidFill>
                  <a:srgbClr val="0D1B3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ρ</a:t>
            </a:r>
            <a:r>
              <a:rPr lang="en-US" sz="1050" b="1" baseline="-25000" dirty="0" err="1">
                <a:solidFill>
                  <a:srgbClr val="0D1B3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b</a:t>
            </a:r>
            <a:endParaRPr lang="en-US" sz="1050" baseline="-25000" dirty="0"/>
          </a:p>
        </p:txBody>
      </p:sp>
      <p:sp>
        <p:nvSpPr>
          <p:cNvPr id="35" name="Shape 33"/>
          <p:cNvSpPr/>
          <p:nvPr/>
        </p:nvSpPr>
        <p:spPr>
          <a:xfrm>
            <a:off x="5422392" y="1984248"/>
            <a:ext cx="1051560" cy="333756"/>
          </a:xfrm>
          <a:prstGeom prst="rect">
            <a:avLst/>
          </a:prstGeom>
          <a:solidFill>
            <a:srgbClr val="FFFFFF"/>
          </a:solidFill>
          <a:ln w="5080">
            <a:solidFill>
              <a:srgbClr val="D0E8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4"/>
          <p:cNvSpPr/>
          <p:nvPr/>
        </p:nvSpPr>
        <p:spPr>
          <a:xfrm>
            <a:off x="5468112" y="1984248"/>
            <a:ext cx="96012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1050 kg/m³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473952" y="1984248"/>
            <a:ext cx="2350008" cy="333756"/>
          </a:xfrm>
          <a:prstGeom prst="rect">
            <a:avLst/>
          </a:prstGeom>
          <a:solidFill>
            <a:srgbClr val="FFFFFF"/>
          </a:solidFill>
          <a:ln w="5080">
            <a:solidFill>
              <a:srgbClr val="D0E8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6"/>
          <p:cNvSpPr/>
          <p:nvPr/>
        </p:nvSpPr>
        <p:spPr>
          <a:xfrm>
            <a:off x="6519672" y="1984248"/>
            <a:ext cx="225856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 of blood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462272" y="2318004"/>
            <a:ext cx="960120" cy="333756"/>
          </a:xfrm>
          <a:prstGeom prst="rect">
            <a:avLst/>
          </a:prstGeom>
          <a:solidFill>
            <a:srgbClr val="E8F5F7"/>
          </a:solidFill>
          <a:ln w="5080">
            <a:solidFill>
              <a:srgbClr val="D0E8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/>
          <p:nvPr/>
        </p:nvSpPr>
        <p:spPr>
          <a:xfrm>
            <a:off x="4507992" y="2318004"/>
            <a:ext cx="86868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 err="1">
                <a:solidFill>
                  <a:srgbClr val="0D1B3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μ</a:t>
            </a:r>
            <a:r>
              <a:rPr lang="en-US" sz="1050" b="1" baseline="-25000" dirty="0" err="1">
                <a:solidFill>
                  <a:srgbClr val="0D1B3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b</a:t>
            </a:r>
            <a:endParaRPr lang="en-US" sz="1050" baseline="-25000" dirty="0"/>
          </a:p>
        </p:txBody>
      </p:sp>
      <p:sp>
        <p:nvSpPr>
          <p:cNvPr id="41" name="Shape 39"/>
          <p:cNvSpPr/>
          <p:nvPr/>
        </p:nvSpPr>
        <p:spPr>
          <a:xfrm>
            <a:off x="5422392" y="2318004"/>
            <a:ext cx="1051560" cy="333756"/>
          </a:xfrm>
          <a:prstGeom prst="rect">
            <a:avLst/>
          </a:prstGeom>
          <a:solidFill>
            <a:srgbClr val="E8F5F7"/>
          </a:solidFill>
          <a:ln w="5080">
            <a:solidFill>
              <a:srgbClr val="D0E8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Text 40"/>
          <p:cNvSpPr/>
          <p:nvPr/>
        </p:nvSpPr>
        <p:spPr>
          <a:xfrm>
            <a:off x="5468112" y="2318004"/>
            <a:ext cx="96012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0.0035 Pa·s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473952" y="2318004"/>
            <a:ext cx="2350008" cy="333756"/>
          </a:xfrm>
          <a:prstGeom prst="rect">
            <a:avLst/>
          </a:prstGeom>
          <a:solidFill>
            <a:srgbClr val="E8F5F7"/>
          </a:solidFill>
          <a:ln w="5080">
            <a:solidFill>
              <a:srgbClr val="D0E8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Text 42"/>
          <p:cNvSpPr/>
          <p:nvPr/>
        </p:nvSpPr>
        <p:spPr>
          <a:xfrm>
            <a:off x="6519672" y="2318004"/>
            <a:ext cx="225856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viscosity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462272" y="2651760"/>
            <a:ext cx="960120" cy="333756"/>
          </a:xfrm>
          <a:prstGeom prst="rect">
            <a:avLst/>
          </a:prstGeom>
          <a:solidFill>
            <a:srgbClr val="FFFFFF"/>
          </a:solidFill>
          <a:ln w="5080">
            <a:solidFill>
              <a:srgbClr val="D0E8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Text 44"/>
          <p:cNvSpPr/>
          <p:nvPr/>
        </p:nvSpPr>
        <p:spPr>
          <a:xfrm>
            <a:off x="4507992" y="2651760"/>
            <a:ext cx="86868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5422392" y="2651760"/>
            <a:ext cx="1051560" cy="333756"/>
          </a:xfrm>
          <a:prstGeom prst="rect">
            <a:avLst/>
          </a:prstGeom>
          <a:solidFill>
            <a:srgbClr val="FFFFFF"/>
          </a:solidFill>
          <a:ln w="5080">
            <a:solidFill>
              <a:srgbClr val="D0E8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Text 46"/>
          <p:cNvSpPr/>
          <p:nvPr/>
        </p:nvSpPr>
        <p:spPr>
          <a:xfrm>
            <a:off x="5468112" y="2651760"/>
            <a:ext cx="96012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5E-12 m²/s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473952" y="2651760"/>
            <a:ext cx="2350008" cy="333756"/>
          </a:xfrm>
          <a:prstGeom prst="rect">
            <a:avLst/>
          </a:prstGeom>
          <a:solidFill>
            <a:srgbClr val="FFFFFF"/>
          </a:solidFill>
          <a:ln w="5080">
            <a:solidFill>
              <a:srgbClr val="D0E8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Text 48"/>
          <p:cNvSpPr/>
          <p:nvPr/>
        </p:nvSpPr>
        <p:spPr>
          <a:xfrm>
            <a:off x="6519672" y="2651760"/>
            <a:ext cx="225856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 coefficient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462272" y="2985516"/>
            <a:ext cx="960120" cy="333756"/>
          </a:xfrm>
          <a:prstGeom prst="rect">
            <a:avLst/>
          </a:prstGeom>
          <a:solidFill>
            <a:srgbClr val="E8F5F7"/>
          </a:solidFill>
          <a:ln w="5080">
            <a:solidFill>
              <a:srgbClr val="D0E8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Text 50"/>
          <p:cNvSpPr/>
          <p:nvPr/>
        </p:nvSpPr>
        <p:spPr>
          <a:xfrm>
            <a:off x="4507992" y="2985516"/>
            <a:ext cx="86868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Vw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5422392" y="2985516"/>
            <a:ext cx="1051560" cy="333756"/>
          </a:xfrm>
          <a:prstGeom prst="rect">
            <a:avLst/>
          </a:prstGeom>
          <a:solidFill>
            <a:srgbClr val="E8F5F7"/>
          </a:solidFill>
          <a:ln w="5080">
            <a:solidFill>
              <a:srgbClr val="D0E8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Text 52"/>
          <p:cNvSpPr/>
          <p:nvPr/>
        </p:nvSpPr>
        <p:spPr>
          <a:xfrm>
            <a:off x="5468112" y="2985516"/>
            <a:ext cx="96012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4E-8 m/s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473952" y="2985516"/>
            <a:ext cx="2350008" cy="333756"/>
          </a:xfrm>
          <a:prstGeom prst="rect">
            <a:avLst/>
          </a:prstGeom>
          <a:solidFill>
            <a:srgbClr val="E8F5F7"/>
          </a:solidFill>
          <a:ln w="5080">
            <a:solidFill>
              <a:srgbClr val="D0E8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6" name="Text 54"/>
          <p:cNvSpPr/>
          <p:nvPr/>
        </p:nvSpPr>
        <p:spPr>
          <a:xfrm>
            <a:off x="6519672" y="2985516"/>
            <a:ext cx="225856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Filtration velocity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462272" y="3319272"/>
            <a:ext cx="960120" cy="333756"/>
          </a:xfrm>
          <a:prstGeom prst="rect">
            <a:avLst/>
          </a:prstGeom>
          <a:solidFill>
            <a:srgbClr val="FFFFFF"/>
          </a:solidFill>
          <a:ln w="5080">
            <a:solidFill>
              <a:srgbClr val="D0E8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" name="Text 56"/>
          <p:cNvSpPr/>
          <p:nvPr/>
        </p:nvSpPr>
        <p:spPr>
          <a:xfrm>
            <a:off x="4507992" y="3319272"/>
            <a:ext cx="86868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Q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5422392" y="3319272"/>
            <a:ext cx="1051560" cy="333756"/>
          </a:xfrm>
          <a:prstGeom prst="rect">
            <a:avLst/>
          </a:prstGeom>
          <a:solidFill>
            <a:srgbClr val="FFFFFF"/>
          </a:solidFill>
          <a:ln w="5080">
            <a:solidFill>
              <a:srgbClr val="D0E8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0" name="Text 58"/>
          <p:cNvSpPr/>
          <p:nvPr/>
        </p:nvSpPr>
        <p:spPr>
          <a:xfrm>
            <a:off x="5468112" y="3319272"/>
            <a:ext cx="96012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275 ml/min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6473952" y="3319272"/>
            <a:ext cx="2350008" cy="333756"/>
          </a:xfrm>
          <a:prstGeom prst="rect">
            <a:avLst/>
          </a:prstGeom>
          <a:solidFill>
            <a:srgbClr val="FFFFFF"/>
          </a:solidFill>
          <a:ln w="5080">
            <a:solidFill>
              <a:srgbClr val="D0E8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2" name="Text 60"/>
          <p:cNvSpPr/>
          <p:nvPr/>
        </p:nvSpPr>
        <p:spPr>
          <a:xfrm>
            <a:off x="6519672" y="3319272"/>
            <a:ext cx="225856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rate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462272" y="3653028"/>
            <a:ext cx="960120" cy="333756"/>
          </a:xfrm>
          <a:prstGeom prst="rect">
            <a:avLst/>
          </a:prstGeom>
          <a:solidFill>
            <a:srgbClr val="E8F5F7"/>
          </a:solidFill>
          <a:ln w="5080">
            <a:solidFill>
              <a:srgbClr val="D0E8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4" name="Text 62"/>
          <p:cNvSpPr/>
          <p:nvPr/>
        </p:nvSpPr>
        <p:spPr>
          <a:xfrm>
            <a:off x="4507992" y="3653028"/>
            <a:ext cx="86868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c₀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5422392" y="3653028"/>
            <a:ext cx="1051560" cy="333756"/>
          </a:xfrm>
          <a:prstGeom prst="rect">
            <a:avLst/>
          </a:prstGeom>
          <a:solidFill>
            <a:srgbClr val="E8F5F7"/>
          </a:solidFill>
          <a:ln w="5080">
            <a:solidFill>
              <a:srgbClr val="D0E8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6" name="Text 64"/>
          <p:cNvSpPr/>
          <p:nvPr/>
        </p:nvSpPr>
        <p:spPr>
          <a:xfrm>
            <a:off x="5468112" y="3653028"/>
            <a:ext cx="96012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mol/m³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6473952" y="3653028"/>
            <a:ext cx="2350008" cy="333756"/>
          </a:xfrm>
          <a:prstGeom prst="rect">
            <a:avLst/>
          </a:prstGeom>
          <a:solidFill>
            <a:srgbClr val="E8F5F7"/>
          </a:solidFill>
          <a:ln w="5080">
            <a:solidFill>
              <a:srgbClr val="D0E8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8" name="Text 66"/>
          <p:cNvSpPr/>
          <p:nvPr/>
        </p:nvSpPr>
        <p:spPr>
          <a:xfrm>
            <a:off x="6519672" y="3653028"/>
            <a:ext cx="225856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Inlet concentration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4462272" y="3986784"/>
            <a:ext cx="960120" cy="333756"/>
          </a:xfrm>
          <a:prstGeom prst="rect">
            <a:avLst/>
          </a:prstGeom>
          <a:solidFill>
            <a:srgbClr val="FFFFFF"/>
          </a:solidFill>
          <a:ln w="5080">
            <a:solidFill>
              <a:srgbClr val="D0E8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0" name="Text 68"/>
          <p:cNvSpPr/>
          <p:nvPr/>
        </p:nvSpPr>
        <p:spPr>
          <a:xfrm>
            <a:off x="4507992" y="3986784"/>
            <a:ext cx="86868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5422392" y="3986784"/>
            <a:ext cx="1051560" cy="333756"/>
          </a:xfrm>
          <a:prstGeom prst="rect">
            <a:avLst/>
          </a:prstGeom>
          <a:solidFill>
            <a:srgbClr val="FFFFFF"/>
          </a:solidFill>
          <a:ln w="5080">
            <a:solidFill>
              <a:srgbClr val="D0E8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2" name="Text 70"/>
          <p:cNvSpPr/>
          <p:nvPr/>
        </p:nvSpPr>
        <p:spPr>
          <a:xfrm>
            <a:off x="5468112" y="3986784"/>
            <a:ext cx="96012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/min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6473952" y="3986784"/>
            <a:ext cx="2350008" cy="333756"/>
          </a:xfrm>
          <a:prstGeom prst="rect">
            <a:avLst/>
          </a:prstGeom>
          <a:solidFill>
            <a:srgbClr val="FFFFFF"/>
          </a:solidFill>
          <a:ln w="5080">
            <a:solidFill>
              <a:srgbClr val="D0E8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4" name="Text 72"/>
          <p:cNvSpPr/>
          <p:nvPr/>
        </p:nvSpPr>
        <p:spPr>
          <a:xfrm>
            <a:off x="6519672" y="3986784"/>
            <a:ext cx="225856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rate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4462272" y="4320540"/>
            <a:ext cx="960120" cy="333756"/>
          </a:xfrm>
          <a:prstGeom prst="rect">
            <a:avLst/>
          </a:prstGeom>
          <a:solidFill>
            <a:srgbClr val="E8F5F7"/>
          </a:solidFill>
          <a:ln w="5080">
            <a:solidFill>
              <a:srgbClr val="D0E8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6" name="Text 74"/>
          <p:cNvSpPr/>
          <p:nvPr/>
        </p:nvSpPr>
        <p:spPr>
          <a:xfrm>
            <a:off x="4507992" y="4320540"/>
            <a:ext cx="86868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T</a:t>
            </a:r>
            <a:endParaRPr lang="en-US" sz="1050" dirty="0"/>
          </a:p>
        </p:txBody>
      </p:sp>
      <p:sp>
        <p:nvSpPr>
          <p:cNvPr id="77" name="Shape 75"/>
          <p:cNvSpPr/>
          <p:nvPr/>
        </p:nvSpPr>
        <p:spPr>
          <a:xfrm>
            <a:off x="5422392" y="4320540"/>
            <a:ext cx="1051560" cy="333756"/>
          </a:xfrm>
          <a:prstGeom prst="rect">
            <a:avLst/>
          </a:prstGeom>
          <a:solidFill>
            <a:srgbClr val="E8F5F7"/>
          </a:solidFill>
          <a:ln w="5080">
            <a:solidFill>
              <a:srgbClr val="D0E8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8" name="Text 76"/>
          <p:cNvSpPr/>
          <p:nvPr/>
        </p:nvSpPr>
        <p:spPr>
          <a:xfrm>
            <a:off x="5468112" y="4320540"/>
            <a:ext cx="96012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0.857 s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6473952" y="4320540"/>
            <a:ext cx="2350008" cy="333756"/>
          </a:xfrm>
          <a:prstGeom prst="rect">
            <a:avLst/>
          </a:prstGeom>
          <a:solidFill>
            <a:srgbClr val="E8F5F7"/>
          </a:solidFill>
          <a:ln w="5080">
            <a:solidFill>
              <a:srgbClr val="D0E8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0" name="Text 78"/>
          <p:cNvSpPr/>
          <p:nvPr/>
        </p:nvSpPr>
        <p:spPr>
          <a:xfrm>
            <a:off x="6519672" y="4320540"/>
            <a:ext cx="225856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Cardiac period (1/f)</a:t>
            </a:r>
            <a:endParaRPr lang="en-US" sz="1000" dirty="0"/>
          </a:p>
        </p:txBody>
      </p:sp>
      <p:sp>
        <p:nvSpPr>
          <p:cNvPr id="81" name="AutoShape 2">
            <a:extLst>
              <a:ext uri="{FF2B5EF4-FFF2-40B4-BE49-F238E27FC236}">
                <a16:creationId xmlns:a16="http://schemas.microsoft.com/office/drawing/2014/main" id="{501609AA-6F31-40C6-99E6-7AE97FECC78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2" name="AutoShape 4">
            <a:extLst>
              <a:ext uri="{FF2B5EF4-FFF2-40B4-BE49-F238E27FC236}">
                <a16:creationId xmlns:a16="http://schemas.microsoft.com/office/drawing/2014/main" id="{9E8F3384-CF4F-DD50-0EDE-CD22F12C047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717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Geometry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Geometry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462272" y="749808"/>
            <a:ext cx="1828800" cy="256032"/>
          </a:xfrm>
          <a:prstGeom prst="roundRect">
            <a:avLst>
              <a:gd name="adj" fmla="val 21429"/>
            </a:avLst>
          </a:prstGeom>
          <a:solidFill>
            <a:srgbClr val="0A7C8C"/>
          </a:solidFill>
          <a:ln w="12700">
            <a:solidFill>
              <a:srgbClr val="0A7C8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4462272" y="7498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Inlet Flow Rate Profile</a:t>
            </a:r>
            <a:endParaRPr lang="en-US" sz="1000" dirty="0"/>
          </a:p>
        </p:txBody>
      </p:sp>
      <p:pic>
        <p:nvPicPr>
          <p:cNvPr id="86" name="Picture 85">
            <a:extLst>
              <a:ext uri="{FF2B5EF4-FFF2-40B4-BE49-F238E27FC236}">
                <a16:creationId xmlns:a16="http://schemas.microsoft.com/office/drawing/2014/main" id="{8270900D-5AEB-8E83-6AF5-98FF122C616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501" r="19146"/>
          <a:stretch/>
        </p:blipFill>
        <p:spPr>
          <a:xfrm>
            <a:off x="274320" y="1164708"/>
            <a:ext cx="3800802" cy="3333751"/>
          </a:xfrm>
          <a:prstGeom prst="rect">
            <a:avLst/>
          </a:prstGeom>
        </p:spPr>
      </p:pic>
      <p:pic>
        <p:nvPicPr>
          <p:cNvPr id="88" name="Picture 87">
            <a:extLst>
              <a:ext uri="{FF2B5EF4-FFF2-40B4-BE49-F238E27FC236}">
                <a16:creationId xmlns:a16="http://schemas.microsoft.com/office/drawing/2014/main" id="{C106D602-97E1-7CCF-128A-6B102B5A71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2272" y="1117217"/>
            <a:ext cx="4540953" cy="2838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250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Governing Equations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1024127"/>
            <a:ext cx="8595360" cy="1413978"/>
          </a:xfrm>
          <a:prstGeom prst="rect">
            <a:avLst/>
          </a:prstGeom>
          <a:solidFill>
            <a:srgbClr val="E8F5F7"/>
          </a:solidFill>
          <a:ln w="19050">
            <a:solidFill>
              <a:srgbClr val="0A7C8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457200" y="1392173"/>
            <a:ext cx="2225842" cy="880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0A7C8C"/>
                </a:solidFill>
              </a:rPr>
              <a:t>Fluid Flow Equations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A7C8C"/>
                </a:solidFill>
              </a:rPr>
              <a:t>(Laminar Flow)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74320" y="3093229"/>
            <a:ext cx="8595360" cy="1413978"/>
          </a:xfrm>
          <a:prstGeom prst="rect">
            <a:avLst/>
          </a:prstGeom>
          <a:solidFill>
            <a:srgbClr val="E8F5F7"/>
          </a:solidFill>
          <a:ln w="19050">
            <a:solidFill>
              <a:srgbClr val="0A7C8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457199" y="3369330"/>
            <a:ext cx="2463209" cy="1060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0A7C8C"/>
                </a:solidFill>
              </a:rPr>
              <a:t>Mass Transport Equations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0A7C8C"/>
                </a:solidFill>
              </a:rPr>
              <a:t>(Transport of Diluted Species)</a:t>
            </a:r>
            <a:endParaRPr lang="en-US" sz="1400" dirty="0"/>
          </a:p>
        </p:txBody>
      </p:sp>
      <p:sp>
        <p:nvSpPr>
          <p:cNvPr id="99" name="Text 97"/>
          <p:cNvSpPr/>
          <p:nvPr/>
        </p:nvSpPr>
        <p:spPr>
          <a:xfrm>
            <a:off x="365760" y="468172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8899"/>
                </a:solidFill>
              </a:rPr>
              <a:t>J = diffusive flux |  R = reaction rate term</a:t>
            </a:r>
            <a:endParaRPr lang="en-US" sz="1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BF4B942-2A5A-19F7-3F88-4C129B5DBE4F}"/>
                  </a:ext>
                </a:extLst>
              </p:cNvPr>
              <p:cNvSpPr txBox="1"/>
              <p:nvPr/>
            </p:nvSpPr>
            <p:spPr>
              <a:xfrm>
                <a:off x="5494434" y="1332369"/>
                <a:ext cx="311476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𝒖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I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𝜵</m:t>
                          </m:r>
                        </m:e>
                      </m:d>
                      <m:r>
                        <a:rPr lang="en-I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𝒖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r>
                        <a:rPr lang="en-I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𝜵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begChr m:val="["/>
                          <m:endChr m:val="]"/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r>
                            <a:rPr lang="en-I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𝑰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I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𝑲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I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𝑭</m:t>
                      </m:r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BF4B942-2A5A-19F7-3F88-4C129B5DBE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4434" y="1332369"/>
                <a:ext cx="3114762" cy="276999"/>
              </a:xfrm>
              <a:prstGeom prst="rect">
                <a:avLst/>
              </a:prstGeom>
              <a:blipFill>
                <a:blip r:embed="rId3"/>
                <a:stretch>
                  <a:fillRect l="-1370" r="-1370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01C780B-EE95-8DF3-AA8A-40D30A45AF4A}"/>
                  </a:ext>
                </a:extLst>
              </p:cNvPr>
              <p:cNvSpPr txBox="1"/>
              <p:nvPr/>
            </p:nvSpPr>
            <p:spPr>
              <a:xfrm>
                <a:off x="5494434" y="1923803"/>
                <a:ext cx="10852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en-IN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𝜵</m:t>
                      </m:r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I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𝒖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01C780B-EE95-8DF3-AA8A-40D30A45AF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4434" y="1923803"/>
                <a:ext cx="1085232" cy="276999"/>
              </a:xfrm>
              <a:prstGeom prst="rect">
                <a:avLst/>
              </a:prstGeom>
              <a:blipFill>
                <a:blip r:embed="rId4"/>
                <a:stretch>
                  <a:fillRect l="-5056" r="-5056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EDCA978-87E9-88F1-7DF3-DB2B6039358A}"/>
                  </a:ext>
                </a:extLst>
              </p:cNvPr>
              <p:cNvSpPr txBox="1"/>
              <p:nvPr/>
            </p:nvSpPr>
            <p:spPr>
              <a:xfrm>
                <a:off x="5480385" y="3369330"/>
                <a:ext cx="205498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𝜵</m:t>
                      </m:r>
                      <m:r>
                        <a:rPr lang="en-I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I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𝑱</m:t>
                          </m:r>
                        </m:e>
                        <m:sub>
                          <m:r>
                            <a:rPr lang="en-I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I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𝒖</m:t>
                      </m:r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I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𝜵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I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𝑹</m:t>
                          </m:r>
                        </m:e>
                        <m:sub>
                          <m:r>
                            <a:rPr lang="en-IN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EDCA978-87E9-88F1-7DF3-DB2B603935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0385" y="3369330"/>
                <a:ext cx="2054986" cy="276999"/>
              </a:xfrm>
              <a:prstGeom prst="rect">
                <a:avLst/>
              </a:prstGeom>
              <a:blipFill>
                <a:blip r:embed="rId5"/>
                <a:stretch>
                  <a:fillRect l="-2077" r="-593" b="-311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54115A5-86F2-9099-5E64-2F3C774DA9E1}"/>
                  </a:ext>
                </a:extLst>
              </p:cNvPr>
              <p:cNvSpPr txBox="1"/>
              <p:nvPr/>
            </p:nvSpPr>
            <p:spPr>
              <a:xfrm>
                <a:off x="5532323" y="4025862"/>
                <a:ext cx="130022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1" i="1" smtClean="0">
                              <a:latin typeface="Cambria Math" panose="02040503050406030204" pitchFamily="18" charset="0"/>
                            </a:rPr>
                            <m:t>𝑱</m:t>
                          </m:r>
                        </m:e>
                        <m:sub>
                          <m:r>
                            <a:rPr lang="en-IN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I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𝜵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54115A5-86F2-9099-5E64-2F3C774DA9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2323" y="4025862"/>
                <a:ext cx="1300228" cy="276999"/>
              </a:xfrm>
              <a:prstGeom prst="rect">
                <a:avLst/>
              </a:prstGeom>
              <a:blipFill>
                <a:blip r:embed="rId6"/>
                <a:stretch>
                  <a:fillRect l="-5634" r="-1408" b="-2826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5F1EB8B9-52F9-3F82-30F1-104938AB64CF}"/>
              </a:ext>
            </a:extLst>
          </p:cNvPr>
          <p:cNvSpPr txBox="1"/>
          <p:nvPr/>
        </p:nvSpPr>
        <p:spPr>
          <a:xfrm>
            <a:off x="3090465" y="1301592"/>
            <a:ext cx="21153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/>
              <a:t>Navier-Stokes Equation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C40F68-C744-D67A-820A-0B9319AC2E9A}"/>
              </a:ext>
            </a:extLst>
          </p:cNvPr>
          <p:cNvSpPr txBox="1"/>
          <p:nvPr/>
        </p:nvSpPr>
        <p:spPr>
          <a:xfrm>
            <a:off x="3090465" y="1934391"/>
            <a:ext cx="18337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/>
              <a:t>Continuity Equation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9D4F95A-0B07-BD6C-F3D3-0B816A317D06}"/>
              </a:ext>
            </a:extLst>
          </p:cNvPr>
          <p:cNvSpPr txBox="1"/>
          <p:nvPr/>
        </p:nvSpPr>
        <p:spPr>
          <a:xfrm>
            <a:off x="3077093" y="3215443"/>
            <a:ext cx="21287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Convection-Diffusion</a:t>
            </a:r>
          </a:p>
          <a:p>
            <a:r>
              <a:rPr lang="en-IN" sz="1600" dirty="0"/>
              <a:t>Equation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27BF2F-4320-5B7A-8D87-B19ADDD8B7A3}"/>
              </a:ext>
            </a:extLst>
          </p:cNvPr>
          <p:cNvSpPr txBox="1"/>
          <p:nvPr/>
        </p:nvSpPr>
        <p:spPr>
          <a:xfrm>
            <a:off x="3090465" y="3995085"/>
            <a:ext cx="17942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/>
              <a:t>Fick’s Diffusion Law</a:t>
            </a:r>
          </a:p>
        </p:txBody>
      </p:sp>
      <p:sp>
        <p:nvSpPr>
          <p:cNvPr id="15" name="Text 97">
            <a:extLst>
              <a:ext uri="{FF2B5EF4-FFF2-40B4-BE49-F238E27FC236}">
                <a16:creationId xmlns:a16="http://schemas.microsoft.com/office/drawing/2014/main" id="{820A7AC7-F2C4-C6B1-D490-087D259D544F}"/>
              </a:ext>
            </a:extLst>
          </p:cNvPr>
          <p:cNvSpPr/>
          <p:nvPr/>
        </p:nvSpPr>
        <p:spPr>
          <a:xfrm>
            <a:off x="287200" y="2620034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8899"/>
                </a:solidFill>
              </a:rPr>
              <a:t>p = static pressure  |  I = identity tensor  |  K = viscous stress tensor  |  F = body force vector field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Grid Independence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eshImage"/>
          <p:cNvPicPr/>
          <p:nvPr/>
        </p:nvPicPr>
        <p:blipFill rotWithShape="1">
          <a:blip r:embed="rId2"/>
          <a:srcRect l="5227" r="4250"/>
          <a:stretch/>
        </p:blipFill>
        <p:spPr>
          <a:xfrm>
            <a:off x="320040" y="1193692"/>
            <a:ext cx="3530432" cy="3200000"/>
          </a:xfrm>
          <a:prstGeom prst="rect">
            <a:avLst/>
          </a:prstGeom>
        </p:spPr>
      </p:pic>
      <p:pic>
        <p:nvPicPr>
          <p:cNvPr id="8" name="GraphImage"/>
          <p:cNvPicPr/>
          <p:nvPr/>
        </p:nvPicPr>
        <p:blipFill>
          <a:blip r:embed="rId3"/>
          <a:stretch>
            <a:fillRect/>
          </a:stretch>
        </p:blipFill>
        <p:spPr>
          <a:xfrm>
            <a:off x="4479935" y="1260913"/>
            <a:ext cx="4291200" cy="2945692"/>
          </a:xfrm>
          <a:prstGeom prst="rect">
            <a:avLst/>
          </a:prstGeom>
        </p:spPr>
      </p:pic>
      <p:sp>
        <p:nvSpPr>
          <p:cNvPr id="10" name="Shape 0">
            <a:extLst>
              <a:ext uri="{FF2B5EF4-FFF2-40B4-BE49-F238E27FC236}">
                <a16:creationId xmlns:a16="http://schemas.microsoft.com/office/drawing/2014/main" id="{A50FDE08-988D-3A03-39A2-A7CC1F4450F7}"/>
              </a:ext>
            </a:extLst>
          </p:cNvPr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D07EFE90-0809-5EB0-857B-4A598457D1F7}"/>
              </a:ext>
            </a:extLst>
          </p:cNvPr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Grid Independent Study</a:t>
            </a:r>
            <a:endParaRPr lang="en-US" sz="2000" dirty="0"/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9C1F2248-710F-CD4A-6FF4-49AAC8144B94}"/>
              </a:ext>
            </a:extLst>
          </p:cNvPr>
          <p:cNvSpPr/>
          <p:nvPr/>
        </p:nvSpPr>
        <p:spPr>
          <a:xfrm>
            <a:off x="304800" y="4505388"/>
            <a:ext cx="3530432" cy="412980"/>
          </a:xfrm>
          <a:prstGeom prst="rect">
            <a:avLst/>
          </a:prstGeom>
          <a:solidFill>
            <a:srgbClr val="E8F5F7"/>
          </a:solidFill>
          <a:ln w="19050">
            <a:solidFill>
              <a:srgbClr val="0A7C8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496BD8-35FE-8133-4033-61830CA37B2F}"/>
              </a:ext>
            </a:extLst>
          </p:cNvPr>
          <p:cNvSpPr txBox="1"/>
          <p:nvPr/>
        </p:nvSpPr>
        <p:spPr>
          <a:xfrm>
            <a:off x="304800" y="4557989"/>
            <a:ext cx="35304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120 x 1200 elements ; refined at the wall</a:t>
            </a:r>
            <a:endParaRPr lang="en-GB" sz="1200" dirty="0"/>
          </a:p>
        </p:txBody>
      </p:sp>
      <p:sp>
        <p:nvSpPr>
          <p:cNvPr id="14" name="Shape 2">
            <a:extLst>
              <a:ext uri="{FF2B5EF4-FFF2-40B4-BE49-F238E27FC236}">
                <a16:creationId xmlns:a16="http://schemas.microsoft.com/office/drawing/2014/main" id="{9F44E795-083C-A361-1EAA-45600706FDB8}"/>
              </a:ext>
            </a:extLst>
          </p:cNvPr>
          <p:cNvSpPr/>
          <p:nvPr/>
        </p:nvSpPr>
        <p:spPr>
          <a:xfrm>
            <a:off x="320040" y="749808"/>
            <a:ext cx="3475932" cy="384048"/>
          </a:xfrm>
          <a:prstGeom prst="roundRect">
            <a:avLst>
              <a:gd name="adj" fmla="val 21429"/>
            </a:avLst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12AA2AFF-A773-B0E4-DA34-BDCA3FA4FCA0}"/>
              </a:ext>
            </a:extLst>
          </p:cNvPr>
          <p:cNvSpPr/>
          <p:nvPr/>
        </p:nvSpPr>
        <p:spPr>
          <a:xfrm>
            <a:off x="320040" y="749808"/>
            <a:ext cx="3460692" cy="38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Grid Independent Mesh (N = 120)</a:t>
            </a:r>
            <a:endParaRPr lang="en-US" sz="1400" dirty="0"/>
          </a:p>
        </p:txBody>
      </p:sp>
      <p:sp>
        <p:nvSpPr>
          <p:cNvPr id="16" name="Shape 3">
            <a:extLst>
              <a:ext uri="{FF2B5EF4-FFF2-40B4-BE49-F238E27FC236}">
                <a16:creationId xmlns:a16="http://schemas.microsoft.com/office/drawing/2014/main" id="{19EC12D3-CC70-3ECD-577A-BA5BEF575116}"/>
              </a:ext>
            </a:extLst>
          </p:cNvPr>
          <p:cNvSpPr/>
          <p:nvPr/>
        </p:nvSpPr>
        <p:spPr>
          <a:xfrm>
            <a:off x="4479935" y="4244997"/>
            <a:ext cx="4251960" cy="677487"/>
          </a:xfrm>
          <a:prstGeom prst="rect">
            <a:avLst/>
          </a:prstGeom>
          <a:solidFill>
            <a:srgbClr val="E8F5F7"/>
          </a:solidFill>
          <a:ln w="19050">
            <a:solidFill>
              <a:srgbClr val="0A7C8C"/>
            </a:solidFill>
            <a:prstDash val="solid"/>
          </a:ln>
        </p:spPr>
        <p:txBody>
          <a:bodyPr/>
          <a:lstStyle/>
          <a:p>
            <a:endParaRPr lang="en-GB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4DBE3D8-B99E-7F3A-EDA2-7A23C502A8C9}"/>
              </a:ext>
            </a:extLst>
          </p:cNvPr>
          <p:cNvSpPr txBox="1"/>
          <p:nvPr/>
        </p:nvSpPr>
        <p:spPr>
          <a:xfrm>
            <a:off x="4524000" y="4318323"/>
            <a:ext cx="415507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Baseline Selection: N = 120</a:t>
            </a:r>
            <a:endParaRPr lang="en-US" sz="1200" b="1" dirty="0"/>
          </a:p>
          <a:p>
            <a:r>
              <a:rPr lang="en-US" sz="1200" dirty="0"/>
              <a:t>Relative change from N = 120 to N = 160 &lt; 0.35%</a:t>
            </a:r>
            <a:endParaRPr lang="en-GB" sz="1200" dirty="0"/>
          </a:p>
        </p:txBody>
      </p:sp>
      <p:sp>
        <p:nvSpPr>
          <p:cNvPr id="19" name="Shape 2">
            <a:extLst>
              <a:ext uri="{FF2B5EF4-FFF2-40B4-BE49-F238E27FC236}">
                <a16:creationId xmlns:a16="http://schemas.microsoft.com/office/drawing/2014/main" id="{01DC57C8-3975-C091-36E6-B4FCFD40FD06}"/>
              </a:ext>
            </a:extLst>
          </p:cNvPr>
          <p:cNvSpPr/>
          <p:nvPr/>
        </p:nvSpPr>
        <p:spPr>
          <a:xfrm>
            <a:off x="4479935" y="749808"/>
            <a:ext cx="4270685" cy="384048"/>
          </a:xfrm>
          <a:prstGeom prst="roundRect">
            <a:avLst>
              <a:gd name="adj" fmla="val 21429"/>
            </a:avLst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20" name="Text 3">
            <a:extLst>
              <a:ext uri="{FF2B5EF4-FFF2-40B4-BE49-F238E27FC236}">
                <a16:creationId xmlns:a16="http://schemas.microsoft.com/office/drawing/2014/main" id="{EE5F538F-8E18-64F4-F0CD-73C609ED4B9C}"/>
              </a:ext>
            </a:extLst>
          </p:cNvPr>
          <p:cNvSpPr/>
          <p:nvPr/>
        </p:nvSpPr>
        <p:spPr>
          <a:xfrm>
            <a:off x="4479936" y="749808"/>
            <a:ext cx="4251960" cy="38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Grid Independence Study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Boundary Conditions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347472" y="749808"/>
            <a:ext cx="146304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Location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920240" y="749808"/>
            <a:ext cx="324612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Condition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321808" y="749808"/>
            <a:ext cx="3547872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Equation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115568"/>
            <a:ext cx="85953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5E8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1874520" y="1115568"/>
            <a:ext cx="0" cy="777240"/>
          </a:xfrm>
          <a:prstGeom prst="line">
            <a:avLst/>
          </a:prstGeom>
          <a:noFill/>
          <a:ln w="6350">
            <a:solidFill>
              <a:srgbClr val="D5E8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5248656" y="1115568"/>
            <a:ext cx="0" cy="777240"/>
          </a:xfrm>
          <a:prstGeom prst="line">
            <a:avLst/>
          </a:prstGeom>
          <a:noFill/>
          <a:ln w="6350">
            <a:solidFill>
              <a:srgbClr val="D5E8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347472" y="1170432"/>
            <a:ext cx="14630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</a:rPr>
              <a:t>Vessel wall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</a:rPr>
              <a:t>(no-slip)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938528" y="1170432"/>
            <a:ext cx="324612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</a:rPr>
              <a:t>No-slip axial velocity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</a:rPr>
              <a:t>Radial velocity = Vw / ū₀</a:t>
            </a:r>
            <a:endParaRPr lang="en-US" sz="1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11"/>
              <p:cNvSpPr/>
              <p:nvPr/>
            </p:nvSpPr>
            <p:spPr>
              <a:xfrm>
                <a:off x="5321808" y="1229868"/>
                <a:ext cx="3200400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IN" sz="1200" b="0" i="1" smtClean="0">
                        <a:solidFill>
                          <a:schemeClr val="bg2">
                            <a:lumMod val="25000"/>
                          </a:schemeClr>
                        </a:solidFill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IN" sz="1200" b="0" i="1" smtClean="0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1200" b="0" i="1" smtClean="0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1200" b="0" i="1" smtClean="0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1200" b="0" i="1" smtClean="0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IN" sz="1200" b="0" i="1" smtClean="0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1200" b="0" i="1" smtClean="0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IN" sz="1200" b="0" i="1" smtClean="0">
                        <a:solidFill>
                          <a:schemeClr val="bg2">
                            <a:lumMod val="2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1200" b="0" i="1" smtClean="0">
                        <a:solidFill>
                          <a:schemeClr val="bg2">
                            <a:lumMod val="25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200" dirty="0">
                    <a:solidFill>
                      <a:schemeClr val="bg2">
                        <a:lumMod val="25000"/>
                      </a:schemeClr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3" name="Text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1808" y="1229868"/>
                <a:ext cx="3200400" cy="256032"/>
              </a:xfrm>
              <a:prstGeom prst="rect">
                <a:avLst/>
              </a:prstGeom>
              <a:blipFill>
                <a:blip r:embed="rId3"/>
                <a:stretch>
                  <a:fillRect l="-1143" t="-4762" b="-21429"/>
                </a:stretch>
              </a:blipFill>
              <a:ln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 12"/>
              <p:cNvSpPr/>
              <p:nvPr/>
            </p:nvSpPr>
            <p:spPr>
              <a:xfrm>
                <a:off x="5321808" y="1540764"/>
                <a:ext cx="2194560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IN" sz="1200" b="0" i="1" smtClean="0">
                        <a:solidFill>
                          <a:schemeClr val="bg2">
                            <a:lumMod val="25000"/>
                          </a:schemeClr>
                        </a:solidFill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lang="en-IN" sz="1200" b="0" i="1" smtClean="0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1200" b="0" i="1" smtClean="0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1200" b="0" i="1" smtClean="0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1200" b="0" i="1" smtClean="0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IN" sz="1200" b="0" i="1" smtClean="0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1200" b="0" i="1" smtClean="0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IN" sz="1200" b="0" i="1" smtClean="0">
                        <a:solidFill>
                          <a:schemeClr val="bg2">
                            <a:lumMod val="25000"/>
                          </a:schemeClr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IN" sz="1200" b="0" i="1" smtClean="0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sz="1200" b="0" i="1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200" b="0" i="1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IN" sz="1200" b="0" i="1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</m:num>
                      <m:den>
                        <m:acc>
                          <m:accPr>
                            <m:chr m:val="̅"/>
                            <m:ctrlPr>
                              <a:rPr lang="en-IN" sz="1200" b="0" i="1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1200" b="0" i="1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en-IN" sz="1200" b="0" i="1" baseline="-2500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acc>
                      </m:den>
                    </m:f>
                    <m:r>
                      <a:rPr lang="en-IN" sz="1200" b="0" i="1" smtClean="0">
                        <a:solidFill>
                          <a:schemeClr val="bg2">
                            <a:lumMod val="25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200" dirty="0">
                    <a:solidFill>
                      <a:schemeClr val="bg2">
                        <a:lumMod val="25000"/>
                      </a:schemeClr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4" name="Text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1808" y="1540764"/>
                <a:ext cx="2194560" cy="256032"/>
              </a:xfrm>
              <a:prstGeom prst="rect">
                <a:avLst/>
              </a:prstGeom>
              <a:blipFill>
                <a:blip r:embed="rId4"/>
                <a:stretch>
                  <a:fillRect l="-1667" t="-4762" b="-23810"/>
                </a:stretch>
              </a:blipFill>
              <a:ln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Shape 13"/>
          <p:cNvSpPr/>
          <p:nvPr/>
        </p:nvSpPr>
        <p:spPr>
          <a:xfrm>
            <a:off x="274320" y="1892808"/>
            <a:ext cx="8595360" cy="777240"/>
          </a:xfrm>
          <a:prstGeom prst="rect">
            <a:avLst/>
          </a:prstGeom>
          <a:solidFill>
            <a:srgbClr val="E8F5F7"/>
          </a:solidFill>
          <a:ln w="6350">
            <a:solidFill>
              <a:srgbClr val="D5E8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1874520" y="1892808"/>
            <a:ext cx="0" cy="777240"/>
          </a:xfrm>
          <a:prstGeom prst="line">
            <a:avLst/>
          </a:prstGeom>
          <a:noFill/>
          <a:ln w="6350">
            <a:solidFill>
              <a:srgbClr val="D5E8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5248656" y="1892808"/>
            <a:ext cx="0" cy="777240"/>
          </a:xfrm>
          <a:prstGeom prst="line">
            <a:avLst/>
          </a:prstGeom>
          <a:noFill/>
          <a:ln w="6350">
            <a:solidFill>
              <a:srgbClr val="D5E8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347472" y="1947672"/>
            <a:ext cx="14630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</a:rPr>
              <a:t>Inlet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</a:rPr>
              <a:t>(x = 0)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938528" y="1947672"/>
            <a:ext cx="324612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</a:rPr>
              <a:t>Womersley pulsatile velocity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</a:rPr>
              <a:t>Uniform LDL concentration</a:t>
            </a:r>
            <a:endParaRPr lang="en-US" sz="1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 18"/>
              <p:cNvSpPr/>
              <p:nvPr/>
            </p:nvSpPr>
            <p:spPr>
              <a:xfrm>
                <a:off x="5321808" y="2007108"/>
                <a:ext cx="3749040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IN" sz="1200" b="0" i="1" smtClean="0">
                        <a:solidFill>
                          <a:schemeClr val="bg2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𝑢</m:t>
                    </m:r>
                    <m:d>
                      <m:dPr>
                        <m:ctrlPr>
                          <a:rPr lang="en-IN" sz="1200" b="0" i="1" smtClean="0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</m:ctrlPr>
                      </m:dPr>
                      <m:e>
                        <m:r>
                          <a:rPr lang="en-IN" sz="1200" b="0" i="1" smtClean="0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  <m:t>0</m:t>
                        </m:r>
                        <m:r>
                          <a:rPr lang="en-IN" sz="1200" b="0" i="1" smtClean="0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  <m:t>,</m:t>
                        </m:r>
                        <m:r>
                          <a:rPr lang="en-IN" sz="1200" b="0" i="1" smtClean="0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  <m:t>𝑦</m:t>
                        </m:r>
                        <m:r>
                          <a:rPr lang="en-IN" sz="1200" b="0" i="1" smtClean="0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  <m:t>,</m:t>
                        </m:r>
                        <m:r>
                          <a:rPr lang="en-IN" sz="1200" b="0" i="1" smtClean="0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</m:d>
                    <m:r>
                      <a:rPr lang="en-IN" sz="1200" b="0" i="1" smtClean="0">
                        <a:solidFill>
                          <a:schemeClr val="bg2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Cambria Math" pitchFamily="34" charset="-122"/>
                        <a:cs typeface="Cambria Math" pitchFamily="34" charset="-120"/>
                      </a:rPr>
                      <m:t>= </m:t>
                    </m:r>
                    <m:sSub>
                      <m:sSubPr>
                        <m:ctrlPr>
                          <a:rPr lang="en-IN" sz="1200" b="0" i="1" smtClean="0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</a:rPr>
                        </m:ctrlPr>
                      </m:sSubPr>
                      <m:e>
                        <m:r>
                          <a:rPr lang="en-IN" sz="1200" b="0" i="1" smtClean="0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</a:rPr>
                          <m:t>𝑢</m:t>
                        </m:r>
                      </m:e>
                      <m:sub>
                        <m:r>
                          <a:rPr lang="en-IN" sz="1200" b="0" i="1" smtClean="0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</a:rPr>
                          <m:t>𝑤𝑚</m:t>
                        </m:r>
                      </m:sub>
                    </m:sSub>
                    <m:r>
                      <a:rPr lang="en-IN" sz="1200" b="0" i="1" smtClean="0">
                        <a:solidFill>
                          <a:schemeClr val="bg2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Cambria Math" pitchFamily="34" charset="-122"/>
                      </a:rPr>
                      <m:t>,     </m:t>
                    </m:r>
                    <m:r>
                      <a:rPr lang="en-IN" sz="1200" b="0" i="1" smtClean="0">
                        <a:solidFill>
                          <a:schemeClr val="bg2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Cambria Math" pitchFamily="34" charset="-122"/>
                      </a:rPr>
                      <m:t>𝑣</m:t>
                    </m:r>
                    <m:d>
                      <m:dPr>
                        <m:ctrlPr>
                          <a:rPr lang="en-IN" sz="1200" b="0" i="1" smtClean="0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</a:rPr>
                        </m:ctrlPr>
                      </m:dPr>
                      <m:e>
                        <m:r>
                          <a:rPr lang="en-IN" sz="1200" b="0" i="1" smtClean="0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</a:rPr>
                          <m:t>0</m:t>
                        </m:r>
                        <m:r>
                          <a:rPr lang="en-IN" sz="1200" b="0" i="1" smtClean="0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</a:rPr>
                          <m:t>,</m:t>
                        </m:r>
                        <m:r>
                          <a:rPr lang="en-IN" sz="1200" b="0" i="1" smtClean="0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</a:rPr>
                          <m:t>𝑦</m:t>
                        </m:r>
                        <m:r>
                          <a:rPr lang="en-IN" sz="1200" b="0" i="1" smtClean="0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</a:rPr>
                          <m:t>,</m:t>
                        </m:r>
                        <m:r>
                          <a:rPr lang="en-IN" sz="1200" b="0" i="1" smtClean="0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</a:rPr>
                          <m:t>𝑡</m:t>
                        </m:r>
                      </m:e>
                    </m:d>
                    <m:r>
                      <a:rPr lang="en-IN" sz="1200" b="0" i="1" smtClean="0">
                        <a:solidFill>
                          <a:schemeClr val="bg2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Cambria Math" pitchFamily="34" charset="-122"/>
                      </a:rPr>
                      <m:t>=</m:t>
                    </m:r>
                    <m:r>
                      <a:rPr lang="en-IN" sz="1200" b="0" i="1" smtClean="0">
                        <a:solidFill>
                          <a:schemeClr val="bg2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Cambria Math" pitchFamily="34" charset="-122"/>
                      </a:rPr>
                      <m:t>0</m:t>
                    </m:r>
                  </m:oMath>
                </a14:m>
                <a:r>
                  <a:rPr lang="en-US" sz="1200" dirty="0"/>
                  <a:t> </a:t>
                </a:r>
              </a:p>
            </p:txBody>
          </p:sp>
        </mc:Choice>
        <mc:Fallback xmlns="">
          <p:sp>
            <p:nvSpPr>
              <p:cNvPr id="20" name="Text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1808" y="2007108"/>
                <a:ext cx="3749040" cy="256032"/>
              </a:xfrm>
              <a:prstGeom prst="rect">
                <a:avLst/>
              </a:prstGeom>
              <a:blipFill>
                <a:blip r:embed="rId5"/>
                <a:stretch>
                  <a:fillRect l="-976" t="-4762" b="-23810"/>
                </a:stretch>
              </a:blipFill>
              <a:ln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 19"/>
              <p:cNvSpPr/>
              <p:nvPr/>
            </p:nvSpPr>
            <p:spPr>
              <a:xfrm>
                <a:off x="5321808" y="2318004"/>
                <a:ext cx="2560320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IN" sz="1200" b="0" i="1" smtClean="0">
                        <a:solidFill>
                          <a:schemeClr val="bg2">
                            <a:lumMod val="25000"/>
                          </a:schemeClr>
                        </a:solidFill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IN" sz="1200" b="0" i="1" smtClean="0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1200" b="0" i="1" smtClean="0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IN" sz="1200" b="0" i="1" smtClean="0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1200" b="0" i="1" smtClean="0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IN" sz="1200" b="0" i="1" smtClean="0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1200" b="0" i="1" smtClean="0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IN" sz="1200" b="0" i="1" smtClean="0">
                        <a:solidFill>
                          <a:schemeClr val="bg2">
                            <a:lumMod val="2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1200" b="0" i="1" smtClean="0">
                        <a:solidFill>
                          <a:schemeClr val="bg2">
                            <a:lumMod val="25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1200" dirty="0">
                    <a:solidFill>
                      <a:schemeClr val="bg2">
                        <a:lumMod val="25000"/>
                      </a:schemeClr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1" name="Text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1808" y="2318004"/>
                <a:ext cx="2560320" cy="256032"/>
              </a:xfrm>
              <a:prstGeom prst="rect">
                <a:avLst/>
              </a:prstGeom>
              <a:blipFill>
                <a:blip r:embed="rId6"/>
                <a:stretch>
                  <a:fillRect l="-1429" b="-2381"/>
                </a:stretch>
              </a:blipFill>
              <a:ln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Shape 20"/>
          <p:cNvSpPr/>
          <p:nvPr/>
        </p:nvSpPr>
        <p:spPr>
          <a:xfrm>
            <a:off x="274320" y="2670048"/>
            <a:ext cx="85953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5E8E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3" name="Shape 21"/>
          <p:cNvSpPr/>
          <p:nvPr/>
        </p:nvSpPr>
        <p:spPr>
          <a:xfrm>
            <a:off x="1874520" y="2670048"/>
            <a:ext cx="0" cy="777240"/>
          </a:xfrm>
          <a:prstGeom prst="line">
            <a:avLst/>
          </a:prstGeom>
          <a:noFill/>
          <a:ln w="6350">
            <a:solidFill>
              <a:srgbClr val="D5E8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5248656" y="2670048"/>
            <a:ext cx="0" cy="777240"/>
          </a:xfrm>
          <a:prstGeom prst="line">
            <a:avLst/>
          </a:prstGeom>
          <a:noFill/>
          <a:ln w="6350">
            <a:solidFill>
              <a:srgbClr val="D5E8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347472" y="2724912"/>
            <a:ext cx="14630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</a:rPr>
              <a:t>Axis of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</a:rPr>
              <a:t>symmetry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938528" y="2724912"/>
            <a:ext cx="324612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</a:rPr>
              <a:t>Streamline; zero vorticity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</a:rPr>
              <a:t>Zero radial conc. gradient</a:t>
            </a:r>
            <a:endParaRPr lang="en-US" sz="1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 25"/>
              <p:cNvSpPr/>
              <p:nvPr/>
            </p:nvSpPr>
            <p:spPr>
              <a:xfrm>
                <a:off x="5321808" y="2784348"/>
                <a:ext cx="3474720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14:m>
                  <m:oMath xmlns:m="http://schemas.openxmlformats.org/officeDocument/2006/math">
                    <m:r>
                      <a:rPr lang="en-IN" sz="1200" b="0" i="1" smtClean="0">
                        <a:solidFill>
                          <a:schemeClr val="bg2">
                            <a:lumMod val="25000"/>
                          </a:schemeClr>
                        </a:solidFill>
                        <a:latin typeface="Cambria Math" panose="02040503050406030204" pitchFamily="18" charset="0"/>
                      </a:rPr>
                      <m:t>𝑣</m:t>
                    </m:r>
                    <m:d>
                      <m:dPr>
                        <m:ctrlPr>
                          <a:rPr lang="en-IN" sz="1200" b="0" i="1" smtClean="0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1200" b="0" i="1" smtClean="0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1200" b="0" i="1" smtClean="0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1200" b="0" i="1" smtClean="0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IN" sz="1200" b="0" i="1" smtClean="0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1200" b="0" i="1" smtClean="0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IN" sz="1200" b="0" i="1" smtClean="0">
                        <a:solidFill>
                          <a:schemeClr val="bg2">
                            <a:lumMod val="2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1200" b="0" i="1" smtClean="0">
                        <a:solidFill>
                          <a:schemeClr val="bg2">
                            <a:lumMod val="25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1200" dirty="0">
                    <a:solidFill>
                      <a:schemeClr val="bg2">
                        <a:lumMod val="25000"/>
                      </a:schemeClr>
                    </a:solidFill>
                  </a:rPr>
                  <a:t> </a:t>
                </a:r>
              </a:p>
            </p:txBody>
          </p:sp>
        </mc:Choice>
        <mc:Fallback>
          <p:sp>
            <p:nvSpPr>
              <p:cNvPr id="27" name="Text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1808" y="2784348"/>
                <a:ext cx="3474720" cy="256032"/>
              </a:xfrm>
              <a:prstGeom prst="rect">
                <a:avLst/>
              </a:prstGeom>
              <a:blipFill>
                <a:blip r:embed="rId7"/>
                <a:stretch>
                  <a:fillRect l="-1053" t="-4762" b="-21429"/>
                </a:stretch>
              </a:blipFill>
              <a:ln/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Shape 30"/>
          <p:cNvSpPr/>
          <p:nvPr/>
        </p:nvSpPr>
        <p:spPr>
          <a:xfrm>
            <a:off x="274320" y="3447288"/>
            <a:ext cx="8595360" cy="777240"/>
          </a:xfrm>
          <a:prstGeom prst="rect">
            <a:avLst/>
          </a:prstGeom>
          <a:solidFill>
            <a:srgbClr val="E8F5F7"/>
          </a:solidFill>
          <a:ln w="6350">
            <a:solidFill>
              <a:srgbClr val="D5E8E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3" name="Shape 31"/>
          <p:cNvSpPr/>
          <p:nvPr/>
        </p:nvSpPr>
        <p:spPr>
          <a:xfrm>
            <a:off x="1874520" y="3447288"/>
            <a:ext cx="0" cy="777240"/>
          </a:xfrm>
          <a:prstGeom prst="line">
            <a:avLst/>
          </a:prstGeom>
          <a:noFill/>
          <a:ln w="6350">
            <a:solidFill>
              <a:srgbClr val="D5E8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32"/>
          <p:cNvSpPr/>
          <p:nvPr/>
        </p:nvSpPr>
        <p:spPr>
          <a:xfrm>
            <a:off x="5248656" y="3447288"/>
            <a:ext cx="0" cy="777240"/>
          </a:xfrm>
          <a:prstGeom prst="line">
            <a:avLst/>
          </a:prstGeom>
          <a:noFill/>
          <a:ln w="6350">
            <a:solidFill>
              <a:srgbClr val="D5E8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/>
          <p:nvPr/>
        </p:nvSpPr>
        <p:spPr>
          <a:xfrm>
            <a:off x="347472" y="3478299"/>
            <a:ext cx="14630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</a:rPr>
              <a:t>Outlet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</a:rPr>
              <a:t>(x = 10R₀)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938528" y="3502046"/>
            <a:ext cx="324612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</a:rPr>
              <a:t>Extrapolation condition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</a:rPr>
              <a:t>(no upstream reflection)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81196" y="4219956"/>
            <a:ext cx="85953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5E8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Shape 37"/>
          <p:cNvSpPr/>
          <p:nvPr/>
        </p:nvSpPr>
        <p:spPr>
          <a:xfrm>
            <a:off x="1874520" y="4224528"/>
            <a:ext cx="0" cy="777240"/>
          </a:xfrm>
          <a:prstGeom prst="line">
            <a:avLst/>
          </a:prstGeom>
          <a:noFill/>
          <a:ln w="6350">
            <a:solidFill>
              <a:srgbClr val="D5E8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Shape 38"/>
          <p:cNvSpPr/>
          <p:nvPr/>
        </p:nvSpPr>
        <p:spPr>
          <a:xfrm>
            <a:off x="5248656" y="4224528"/>
            <a:ext cx="0" cy="777240"/>
          </a:xfrm>
          <a:prstGeom prst="line">
            <a:avLst/>
          </a:prstGeom>
          <a:noFill/>
          <a:ln w="6350">
            <a:solidFill>
              <a:srgbClr val="D5E8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/>
          <p:nvPr/>
        </p:nvSpPr>
        <p:spPr>
          <a:xfrm>
            <a:off x="321955" y="4215384"/>
            <a:ext cx="146304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</a:rPr>
              <a:t>Wall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</a:rPr>
              <a:t>(LDL conc.)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1953946" y="4224528"/>
            <a:ext cx="324612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</a:rPr>
              <a:t>Convective flux = diffusive flux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B3C"/>
                </a:solidFill>
              </a:rPr>
              <a:t>at impervious vessel wall</a:t>
            </a:r>
            <a:endParaRPr lang="en-US" sz="1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1D8D5173-3631-85AA-B5C7-78EF75FD8BB6}"/>
                  </a:ext>
                </a:extLst>
              </p:cNvPr>
              <p:cNvSpPr txBox="1"/>
              <p:nvPr/>
            </p:nvSpPr>
            <p:spPr>
              <a:xfrm>
                <a:off x="5320287" y="4393046"/>
                <a:ext cx="1702838" cy="4464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400" i="1" smtClean="0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b="0" i="1" smtClean="0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IN" sz="1400" b="0" i="1" smtClean="0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sSub>
                        <m:sSubPr>
                          <m:ctrlPr>
                            <a:rPr lang="en-IN" sz="1400" i="1" smtClean="0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b="0" i="1" smtClean="0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IN" sz="1400" b="0" i="1" smtClean="0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IN" sz="1400" b="0" i="1" smtClean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IN" sz="1400" b="0" i="1" smtClean="0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1400" b="0" i="1" smtClean="0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IN" sz="1400" b="0" i="1" smtClean="0">
                                  <a:solidFill>
                                    <a:schemeClr val="bg2">
                                      <a:lumMod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en-IN" sz="1400" i="1">
                                      <a:solidFill>
                                        <a:schemeClr val="bg2">
                                          <a:lumMod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IN" sz="1400" i="1">
                                      <a:solidFill>
                                        <a:schemeClr val="bg2">
                                          <a:lumMod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  <m:r>
                                    <a:rPr lang="en-IN" sz="1400" i="1" baseline="-25000">
                                      <a:solidFill>
                                        <a:schemeClr val="bg2">
                                          <a:lumMod val="2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acc>
                              <m:r>
                                <a:rPr lang="en-IN" sz="1400" b="0" i="1" smtClean="0">
                                  <a:solidFill>
                                    <a:schemeClr val="bg2">
                                      <a:lumMod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IN" sz="1400" b="0" i="1" smtClean="0">
                                  <a:solidFill>
                                    <a:schemeClr val="bg2">
                                      <a:lumMod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IN" sz="1400" b="0" i="1" smtClean="0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𝑅𝑒</m:t>
                          </m:r>
                          <m:r>
                            <a:rPr lang="en-IN" sz="1400" b="0" i="1" smtClean="0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sz="1400" b="0" i="1" smtClean="0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𝑆𝑐</m:t>
                          </m:r>
                        </m:den>
                      </m:f>
                      <m:r>
                        <a:rPr lang="en-IN" sz="1400" b="0" i="1" smtClean="0">
                          <a:solidFill>
                            <a:schemeClr val="bg2">
                              <a:lumMod val="25000"/>
                            </a:schemeClr>
                          </a:solidFill>
                          <a:latin typeface="Cambria Math" panose="02040503050406030204" pitchFamily="18" charset="0"/>
                        </a:rPr>
                        <m:t> (</m:t>
                      </m:r>
                      <m:f>
                        <m:fPr>
                          <m:ctrlPr>
                            <a:rPr lang="en-IN" sz="1400" b="0" i="1" smtClean="0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1400" dirty="0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>∂</m:t>
                          </m:r>
                          <m:r>
                            <a:rPr lang="en-IN" sz="1400" b="0" i="1" dirty="0" smtClean="0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  <m:t>𝑐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sz="1400" dirty="0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itchFamily="34" charset="0"/>
                              <a:ea typeface="Cambria Math" pitchFamily="34" charset="-122"/>
                              <a:cs typeface="Cambria Math" pitchFamily="34" charset="-120"/>
                            </a:rPr>
                            <m:t>∂</m:t>
                          </m:r>
                          <m:r>
                            <a:rPr lang="en-IN" sz="1400" b="0" i="1" dirty="0" smtClean="0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itchFamily="34" charset="-122"/>
                              <a:cs typeface="Cambria Math" pitchFamily="34" charset="-120"/>
                            </a:rPr>
                            <m:t>𝑦</m:t>
                          </m:r>
                        </m:den>
                      </m:f>
                      <m:sSub>
                        <m:sSubPr>
                          <m:ctrlPr>
                            <a:rPr lang="en-IN" sz="1400" b="0" i="1" smtClean="0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400" b="0" i="1" smtClean="0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b>
                          <m:r>
                            <a:rPr lang="en-IN" sz="1400" b="0" i="1" smtClean="0">
                              <a:solidFill>
                                <a:schemeClr val="bg2">
                                  <a:lumMod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</m:oMath>
                  </m:oMathPara>
                </a14:m>
                <a:endParaRPr lang="en-IN" sz="1400" dirty="0">
                  <a:solidFill>
                    <a:schemeClr val="bg2">
                      <a:lumMod val="2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1D8D5173-3631-85AA-B5C7-78EF75FD8B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0287" y="4393046"/>
                <a:ext cx="1702838" cy="446469"/>
              </a:xfrm>
              <a:prstGeom prst="rect">
                <a:avLst/>
              </a:prstGeom>
              <a:blipFill>
                <a:blip r:embed="rId8"/>
                <a:stretch>
                  <a:fillRect l="-1792" t="-1370" b="-123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1D4027CC-F994-5864-B710-625AC113D41B}"/>
                  </a:ext>
                </a:extLst>
              </p:cNvPr>
              <p:cNvSpPr txBox="1"/>
              <p:nvPr/>
            </p:nvSpPr>
            <p:spPr>
              <a:xfrm>
                <a:off x="5297247" y="3533866"/>
                <a:ext cx="3393096" cy="60183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sz="1200" i="1" smtClean="0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IN" sz="1200" i="1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en-US" sz="1200" dirty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∂</m:t>
                            </m:r>
                          </m:e>
                          <m:sup>
                            <m:r>
                              <a:rPr lang="en-IN" sz="1200" b="0" i="1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1200" b="0" i="1" smtClean="0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sSup>
                          <m:sSupPr>
                            <m:ctrlPr>
                              <a:rPr lang="en-IN" sz="1200" i="1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en-US" sz="1200" dirty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∂</m:t>
                            </m:r>
                            <m:r>
                              <a:rPr lang="en-IN" sz="1200" b="0" i="1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1200" b="0" i="1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1200" b="0" i="1" smtClean="0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den>
                    </m:f>
                    <m:r>
                      <a:rPr lang="en-IN" sz="1200" b="0" i="1" smtClean="0">
                        <a:solidFill>
                          <a:schemeClr val="bg2">
                            <a:lumMod val="2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1200" b="0" i="1" smtClean="0">
                        <a:solidFill>
                          <a:schemeClr val="bg2">
                            <a:lumMod val="25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sz="1200" i="1" smtClean="0">
                        <a:solidFill>
                          <a:schemeClr val="bg2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Cambria Math" pitchFamily="34" charset="-122"/>
                      </a:rPr>
                      <m:t>,</m:t>
                    </m:r>
                    <m:r>
                      <a:rPr lang="en-IN" sz="1200" b="0" i="1" smtClean="0">
                        <a:solidFill>
                          <a:schemeClr val="bg2">
                            <a:lumMod val="25000"/>
                          </a:schemeClr>
                        </a:solidFill>
                        <a:latin typeface="Cambria Math" panose="02040503050406030204" pitchFamily="18" charset="0"/>
                        <a:ea typeface="Cambria Math" pitchFamily="34" charset="-122"/>
                      </a:rPr>
                      <m:t>     </m:t>
                    </m:r>
                  </m:oMath>
                </a14:m>
                <a:r>
                  <a:rPr lang="en-IN" sz="1200" dirty="0">
                    <a:solidFill>
                      <a:schemeClr val="bg2">
                        <a:lumMod val="25000"/>
                      </a:schemeClr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1200" i="1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IN" sz="1200" i="1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en-US" sz="1200" dirty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∂</m:t>
                            </m:r>
                          </m:e>
                          <m:sup>
                            <m:r>
                              <a:rPr lang="en-IN" sz="1200" i="1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1200" b="0" i="1" smtClean="0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num>
                      <m:den>
                        <m:sSup>
                          <m:sSupPr>
                            <m:ctrlPr>
                              <a:rPr lang="en-IN" sz="1200" i="1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en-US" sz="1200" dirty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∂</m:t>
                            </m:r>
                            <m:r>
                              <a:rPr lang="en-IN" sz="1200" i="1" dirty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1200" i="1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1200" i="1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den>
                    </m:f>
                    <m:r>
                      <a:rPr lang="en-IN" sz="1200" i="1">
                        <a:solidFill>
                          <a:schemeClr val="bg2">
                            <a:lumMod val="2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1200" i="1">
                        <a:solidFill>
                          <a:schemeClr val="bg2">
                            <a:lumMod val="25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IN" sz="1200" dirty="0">
                  <a:solidFill>
                    <a:schemeClr val="bg2">
                      <a:lumMod val="25000"/>
                    </a:schemeClr>
                  </a:solidFill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sz="1200" i="1" smtClean="0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IN" sz="1200" i="1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en-US" sz="1200" dirty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∂</m:t>
                            </m:r>
                          </m:e>
                          <m:sup>
                            <m:r>
                              <a:rPr lang="en-IN" sz="1200" b="0" i="1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1200" b="0" i="1" smtClean="0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sSup>
                          <m:sSupPr>
                            <m:ctrlPr>
                              <a:rPr lang="en-IN" sz="1200" i="1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en-US" sz="1200" dirty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∂</m:t>
                            </m:r>
                            <m:r>
                              <a:rPr lang="en-IN" sz="1200" b="0" i="1" dirty="0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1200" b="0" i="1" smtClean="0">
                                <a:solidFill>
                                  <a:schemeClr val="bg2">
                                    <a:lumMod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1200" b="0" i="1" smtClean="0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den>
                    </m:f>
                    <m:r>
                      <a:rPr lang="en-IN" sz="1200" b="0" i="1" smtClean="0">
                        <a:solidFill>
                          <a:schemeClr val="bg2">
                            <a:lumMod val="2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1200" b="0" i="1" smtClean="0">
                        <a:solidFill>
                          <a:schemeClr val="bg2">
                            <a:lumMod val="25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IN" sz="1200" dirty="0">
                    <a:solidFill>
                      <a:schemeClr val="bg2">
                        <a:lumMod val="25000"/>
                      </a:schemeClr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1D4027CC-F994-5864-B710-625AC113D4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7247" y="3533866"/>
                <a:ext cx="3393096" cy="601831"/>
              </a:xfrm>
              <a:prstGeom prst="rect">
                <a:avLst/>
              </a:prstGeom>
              <a:blipFill>
                <a:blip r:embed="rId9"/>
                <a:stretch>
                  <a:fillRect l="-1795" t="-2041" b="-1020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CC2051CD-A09C-D91E-B559-047E019566B9}"/>
                  </a:ext>
                </a:extLst>
              </p:cNvPr>
              <p:cNvSpPr txBox="1"/>
              <p:nvPr/>
            </p:nvSpPr>
            <p:spPr>
              <a:xfrm>
                <a:off x="5327756" y="3059169"/>
                <a:ext cx="1017971" cy="29674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sz="1100" i="1" smtClean="0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100" dirty="0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∂</m:t>
                        </m:r>
                        <m:r>
                          <a:rPr lang="en-IN" sz="1100" b="0" i="1" dirty="0" smtClean="0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  <m:t>𝑢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100" dirty="0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∂</m:t>
                        </m:r>
                        <m:r>
                          <a:rPr lang="en-IN" sz="1100" b="0" i="1" dirty="0" smtClean="0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  <m:t>𝑦</m:t>
                        </m:r>
                      </m:den>
                    </m:f>
                    <m:r>
                      <a:rPr lang="en-IN" sz="1100" b="0" i="1" smtClean="0">
                        <a:solidFill>
                          <a:schemeClr val="bg2">
                            <a:lumMod val="2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1100" b="0" i="1" smtClean="0">
                        <a:solidFill>
                          <a:schemeClr val="bg2">
                            <a:lumMod val="25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sz="1100" b="0" i="1" smtClean="0">
                        <a:solidFill>
                          <a:schemeClr val="bg2">
                            <a:lumMod val="25000"/>
                          </a:schemeClr>
                        </a:solidFill>
                        <a:latin typeface="Cambria Math" panose="02040503050406030204" pitchFamily="18" charset="0"/>
                      </a:rPr>
                      <m:t>,     </m:t>
                    </m:r>
                    <m:f>
                      <m:fPr>
                        <m:ctrlPr>
                          <a:rPr lang="en-IN" sz="1100" i="1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100" dirty="0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∂</m:t>
                        </m:r>
                        <m:r>
                          <a:rPr lang="en-IN" sz="1100" b="0" i="1" dirty="0" smtClean="0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  <m:t>𝑐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100" dirty="0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∂</m:t>
                        </m:r>
                        <m:r>
                          <a:rPr lang="en-IN" sz="1100" i="1" dirty="0">
                            <a:solidFill>
                              <a:schemeClr val="bg2">
                                <a:lumMod val="25000"/>
                              </a:schemeClr>
                            </a:solidFill>
                            <a:latin typeface="Cambria Math" panose="02040503050406030204" pitchFamily="18" charset="0"/>
                            <a:ea typeface="Cambria Math" pitchFamily="34" charset="-122"/>
                            <a:cs typeface="Cambria Math" pitchFamily="34" charset="-120"/>
                          </a:rPr>
                          <m:t>𝑦</m:t>
                        </m:r>
                      </m:den>
                    </m:f>
                    <m:r>
                      <a:rPr lang="en-IN" sz="1100" i="1">
                        <a:solidFill>
                          <a:schemeClr val="bg2">
                            <a:lumMod val="2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sz="1100" dirty="0">
                    <a:solidFill>
                      <a:schemeClr val="bg2">
                        <a:lumMod val="25000"/>
                      </a:schemeClr>
                    </a:solidFill>
                  </a:rPr>
                  <a:t>0</a:t>
                </a: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CC2051CD-A09C-D91E-B559-047E019566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7756" y="3059169"/>
                <a:ext cx="1017971" cy="296748"/>
              </a:xfrm>
              <a:prstGeom prst="rect">
                <a:avLst/>
              </a:prstGeom>
              <a:blipFill>
                <a:blip r:embed="rId10"/>
                <a:stretch>
                  <a:fillRect l="-5389" t="-2041" r="-4790" b="-1224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Results: Steady-State LDL Concentration Profiles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89712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8899"/>
                </a:solidFill>
              </a:rPr>
              <a:t>Time-averaged normalised luminal surface LDL concentration  (V</a:t>
            </a:r>
            <a:r>
              <a:rPr lang="en-US" sz="1100" i="1" baseline="-25000" dirty="0">
                <a:solidFill>
                  <a:srgbClr val="6B8899"/>
                </a:solidFill>
              </a:rPr>
              <a:t>w </a:t>
            </a:r>
            <a:r>
              <a:rPr lang="en-US" sz="1100" i="1" dirty="0">
                <a:solidFill>
                  <a:srgbClr val="6B8899"/>
                </a:solidFill>
              </a:rPr>
              <a:t>= 4×10⁻⁶ cm/s)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137160" y="3870032"/>
            <a:ext cx="4343400" cy="2743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137160" y="387003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Fig. 2a — Axial distribution (z/R₀)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4663440" y="3870032"/>
            <a:ext cx="4343400" cy="2743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6"/>
          <p:cNvSpPr/>
          <p:nvPr/>
        </p:nvSpPr>
        <p:spPr>
          <a:xfrm>
            <a:off x="4663440" y="3870032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Fig. 2b — Radial distribution near wall (zoomed)</a:t>
            </a:r>
            <a:endParaRPr lang="en-US" sz="10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8058397-2197-CD7B-4EAB-04319ED91F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" y="1213664"/>
            <a:ext cx="4343400" cy="26244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BD36E04-6B1E-D794-68CE-46D9E26770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213664"/>
            <a:ext cx="4343400" cy="2624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ig 3 Pulsatile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3" name="Title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Results: Pulsatile Flow — Steady Periodic State (Fig. 3)</a:t>
            </a:r>
          </a:p>
        </p:txBody>
      </p:sp>
      <p:sp>
        <p:nvSpPr>
          <p:cNvPr id="4" name="Subtitle"/>
          <p:cNvSpPr/>
          <p:nvPr/>
        </p:nvSpPr>
        <p:spPr>
          <a:xfrm>
            <a:off x="320040" y="867553"/>
            <a:ext cx="8412480" cy="2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8899"/>
                </a:solidFill>
              </a:rPr>
              <a:t>C</a:t>
            </a:r>
            <a:r>
              <a:rPr lang="en-US" sz="1100" i="1" baseline="-25000" dirty="0">
                <a:solidFill>
                  <a:srgbClr val="6B8899"/>
                </a:solidFill>
              </a:rPr>
              <a:t>w</a:t>
            </a:r>
            <a:r>
              <a:rPr lang="en-US" sz="1100" i="1" dirty="0">
                <a:solidFill>
                  <a:srgbClr val="6B8899"/>
                </a:solidFill>
              </a:rPr>
              <a:t>/C</a:t>
            </a:r>
            <a:r>
              <a:rPr lang="en-US" sz="1100" i="1" baseline="-25000" dirty="0">
                <a:solidFill>
                  <a:srgbClr val="6B8899"/>
                </a:solidFill>
              </a:rPr>
              <a:t>0</a:t>
            </a:r>
            <a:r>
              <a:rPr lang="en-US" sz="1100" i="1" dirty="0">
                <a:solidFill>
                  <a:srgbClr val="6B8899"/>
                </a:solidFill>
              </a:rPr>
              <a:t> vs phase angle over one cardiac cycle  (</a:t>
            </a:r>
            <a:r>
              <a:rPr lang="en-US" sz="1100" i="1" dirty="0" err="1">
                <a:solidFill>
                  <a:srgbClr val="6B8899"/>
                </a:solidFill>
              </a:rPr>
              <a:t>V</a:t>
            </a:r>
            <a:r>
              <a:rPr lang="en-US" sz="1100" i="1" baseline="-25000" dirty="0" err="1">
                <a:solidFill>
                  <a:srgbClr val="6B8899"/>
                </a:solidFill>
              </a:rPr>
              <a:t>w</a:t>
            </a:r>
            <a:r>
              <a:rPr lang="en-US" sz="1100" i="1" dirty="0">
                <a:solidFill>
                  <a:srgbClr val="6B8899"/>
                </a:solidFill>
              </a:rPr>
              <a:t> = 4×10⁻⁸ m/s)</a:t>
            </a:r>
          </a:p>
        </p:txBody>
      </p:sp>
      <p:sp>
        <p:nvSpPr>
          <p:cNvPr id="10" name="Cap1"/>
          <p:cNvSpPr/>
          <p:nvPr/>
        </p:nvSpPr>
        <p:spPr>
          <a:xfrm>
            <a:off x="62601" y="3535134"/>
            <a:ext cx="2923658" cy="304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11" name="CapTxt1"/>
          <p:cNvSpPr/>
          <p:nvPr/>
        </p:nvSpPr>
        <p:spPr>
          <a:xfrm>
            <a:off x="62601" y="3535134"/>
            <a:ext cx="292365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Fig. 3a — D = 5×10⁻¹² m²/s  (Sc = 6.6×10⁵)</a:t>
            </a:r>
          </a:p>
        </p:txBody>
      </p:sp>
      <p:sp>
        <p:nvSpPr>
          <p:cNvPr id="20" name="Cap2"/>
          <p:cNvSpPr/>
          <p:nvPr/>
        </p:nvSpPr>
        <p:spPr>
          <a:xfrm>
            <a:off x="3110400" y="3535134"/>
            <a:ext cx="2923200" cy="304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21" name="CapTxt2"/>
          <p:cNvSpPr/>
          <p:nvPr/>
        </p:nvSpPr>
        <p:spPr>
          <a:xfrm>
            <a:off x="3110400" y="3535134"/>
            <a:ext cx="2923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Fig. 3b — D = 1×10⁻¹¹ m²/s  (Sc = 3.3×10⁵)</a:t>
            </a:r>
          </a:p>
        </p:txBody>
      </p:sp>
      <p:sp>
        <p:nvSpPr>
          <p:cNvPr id="30" name="Cap3"/>
          <p:cNvSpPr/>
          <p:nvPr/>
        </p:nvSpPr>
        <p:spPr>
          <a:xfrm>
            <a:off x="6157741" y="3535134"/>
            <a:ext cx="2923200" cy="304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31" name="CapTxt3"/>
          <p:cNvSpPr/>
          <p:nvPr/>
        </p:nvSpPr>
        <p:spPr>
          <a:xfrm>
            <a:off x="6157741" y="3535134"/>
            <a:ext cx="2923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Fig. 3c — D = 2×10⁻¹¹ m²/s  (Sc = 1.6×10⁵)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7F9952-E73D-1158-69AB-6495E3F1EB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46" y="1316738"/>
            <a:ext cx="2924313" cy="216156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D2F8288-586C-A374-D6C4-F4907AC29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0400" y="1316738"/>
            <a:ext cx="2923200" cy="216156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6F68F50-9E0F-856A-CCA8-F28D053D4F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7741" y="1316738"/>
            <a:ext cx="2923200" cy="216156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Results: Effect of Filtration Rate &amp; Wall Shear Rate on C̄w/C₀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8899"/>
                </a:solidFill>
              </a:rPr>
              <a:t>Time-averaged normalised wall LDL concentration vs. V</a:t>
            </a:r>
            <a:r>
              <a:rPr lang="en-US" sz="1100" i="1" baseline="-25000" dirty="0">
                <a:solidFill>
                  <a:srgbClr val="6B8899"/>
                </a:solidFill>
              </a:rPr>
              <a:t>w</a:t>
            </a:r>
            <a:r>
              <a:rPr lang="en-US" sz="1100" i="1" dirty="0">
                <a:solidFill>
                  <a:srgbClr val="6B8899"/>
                </a:solidFill>
              </a:rPr>
              <a:t> and wall shear rate </a:t>
            </a:r>
            <a:r>
              <a:rPr lang="en-US" sz="1100" i="1" dirty="0" err="1">
                <a:solidFill>
                  <a:srgbClr val="6B8899"/>
                </a:solidFill>
              </a:rPr>
              <a:t>G̅</a:t>
            </a:r>
            <a:r>
              <a:rPr lang="en-US" sz="1100" i="1" baseline="-25000" dirty="0" err="1">
                <a:solidFill>
                  <a:srgbClr val="6B8899"/>
                </a:solidFill>
              </a:rPr>
              <a:t>w</a:t>
            </a:r>
            <a:endParaRPr lang="en-US" sz="1100" baseline="-25000" dirty="0"/>
          </a:p>
        </p:txBody>
      </p:sp>
      <p:sp>
        <p:nvSpPr>
          <p:cNvPr id="6" name="Shape 3"/>
          <p:cNvSpPr/>
          <p:nvPr/>
        </p:nvSpPr>
        <p:spPr>
          <a:xfrm>
            <a:off x="94533" y="4128588"/>
            <a:ext cx="4519857" cy="2743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179550" y="4128588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Fig. 4a — </a:t>
            </a:r>
            <a:r>
              <a:rPr lang="en-US" sz="1000" dirty="0" err="1">
                <a:solidFill>
                  <a:srgbClr val="FFFFFF"/>
                </a:solidFill>
              </a:rPr>
              <a:t>C̄</a:t>
            </a:r>
            <a:r>
              <a:rPr lang="en-US" sz="1000" baseline="-25000" dirty="0" err="1">
                <a:solidFill>
                  <a:srgbClr val="FFFFFF"/>
                </a:solidFill>
              </a:rPr>
              <a:t>w</a:t>
            </a:r>
            <a:r>
              <a:rPr lang="en-US" sz="1000" dirty="0">
                <a:solidFill>
                  <a:srgbClr val="FFFFFF"/>
                </a:solidFill>
              </a:rPr>
              <a:t>/C₀ vs filtration rate </a:t>
            </a:r>
            <a:r>
              <a:rPr lang="en-US" sz="1000" dirty="0" err="1">
                <a:solidFill>
                  <a:srgbClr val="FFFFFF"/>
                </a:solidFill>
              </a:rPr>
              <a:t>V</a:t>
            </a:r>
            <a:r>
              <a:rPr lang="en-US" sz="1000" baseline="-25000" dirty="0" err="1">
                <a:solidFill>
                  <a:srgbClr val="FFFFFF"/>
                </a:solidFill>
              </a:rPr>
              <a:t>w</a:t>
            </a:r>
            <a:r>
              <a:rPr lang="en-US" sz="1000" dirty="0">
                <a:solidFill>
                  <a:srgbClr val="FFFFFF"/>
                </a:solidFill>
              </a:rPr>
              <a:t>  (linear increase)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4705830" y="4128588"/>
            <a:ext cx="4343400" cy="2743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6"/>
          <p:cNvSpPr/>
          <p:nvPr/>
        </p:nvSpPr>
        <p:spPr>
          <a:xfrm>
            <a:off x="4705830" y="4128588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Fig. 4b — </a:t>
            </a:r>
            <a:r>
              <a:rPr lang="en-US" sz="1000" dirty="0" err="1">
                <a:solidFill>
                  <a:srgbClr val="FFFFFF"/>
                </a:solidFill>
              </a:rPr>
              <a:t>C̄</a:t>
            </a:r>
            <a:r>
              <a:rPr lang="en-US" sz="1000" baseline="-25000" dirty="0" err="1">
                <a:solidFill>
                  <a:srgbClr val="FFFFFF"/>
                </a:solidFill>
              </a:rPr>
              <a:t>w</a:t>
            </a:r>
            <a:r>
              <a:rPr lang="en-US" sz="1000" dirty="0">
                <a:solidFill>
                  <a:srgbClr val="FFFFFF"/>
                </a:solidFill>
              </a:rPr>
              <a:t>/C₀ vs wall shear rate </a:t>
            </a:r>
            <a:r>
              <a:rPr lang="en-US" sz="1000" dirty="0" err="1">
                <a:solidFill>
                  <a:srgbClr val="FFFFFF"/>
                </a:solidFill>
              </a:rPr>
              <a:t>G̅</a:t>
            </a:r>
            <a:r>
              <a:rPr lang="en-US" sz="1000" baseline="-25000" dirty="0" err="1">
                <a:solidFill>
                  <a:srgbClr val="FFFFFF"/>
                </a:solidFill>
              </a:rPr>
              <a:t>w</a:t>
            </a:r>
            <a:r>
              <a:rPr lang="en-US" sz="1000" dirty="0">
                <a:solidFill>
                  <a:srgbClr val="FFFFFF"/>
                </a:solidFill>
              </a:rPr>
              <a:t>  (inverse relationship)</a:t>
            </a:r>
            <a:endParaRPr lang="en-US" sz="10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2492C57-807C-5B0F-0966-FC4A8C1377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33" y="1133856"/>
            <a:ext cx="4519857" cy="29628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ECA2EA0-D61A-967D-B73D-ABE2ADE040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5831" y="1133856"/>
            <a:ext cx="4343400" cy="2962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CC"/>
          </a:solidFill>
          <a:ln w="12700">
            <a:solidFill>
              <a:srgbClr val="00B4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Key Findings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7772400" cy="0"/>
          </a:xfrm>
          <a:prstGeom prst="line">
            <a:avLst/>
          </a:prstGeom>
          <a:noFill/>
          <a:ln w="19050">
            <a:solidFill>
              <a:srgbClr val="00B4C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8229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D4EEF2"/>
                </a:solidFill>
              </a:rPr>
              <a:t>Concentration polarization of LDL is confirmed under both steady-state and pulsatile flow; time-averaged luminal LDL concentration is 5-14% above bulk concentration. 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D4EEF2"/>
                </a:solidFill>
              </a:rPr>
              <a:t>Axial </a:t>
            </a:r>
            <a:r>
              <a:rPr lang="en-US" sz="1350" dirty="0" err="1">
                <a:solidFill>
                  <a:srgbClr val="D4EEF2"/>
                </a:solidFill>
              </a:rPr>
              <a:t>C̄</a:t>
            </a:r>
            <a:r>
              <a:rPr lang="en-US" sz="1350" baseline="-25000" dirty="0" err="1">
                <a:solidFill>
                  <a:srgbClr val="D4EEF2"/>
                </a:solidFill>
              </a:rPr>
              <a:t>w</a:t>
            </a:r>
            <a:r>
              <a:rPr lang="en-US" sz="1350" dirty="0">
                <a:solidFill>
                  <a:srgbClr val="D4EEF2"/>
                </a:solidFill>
              </a:rPr>
              <a:t>/C</a:t>
            </a:r>
            <a:r>
              <a:rPr lang="en-US" sz="1350" baseline="-25000" dirty="0">
                <a:solidFill>
                  <a:srgbClr val="D4EEF2"/>
                </a:solidFill>
              </a:rPr>
              <a:t>0</a:t>
            </a:r>
            <a:r>
              <a:rPr lang="en-US" sz="1350" dirty="0">
                <a:solidFill>
                  <a:srgbClr val="D4EEF2"/>
                </a:solidFill>
              </a:rPr>
              <a:t> increases along the artery, with a steeper rise at higher Schmidt numbers. 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D4EEF2"/>
                </a:solidFill>
              </a:rPr>
              <a:t>Radial </a:t>
            </a:r>
            <a:r>
              <a:rPr lang="en-US" sz="1350" dirty="0" err="1">
                <a:solidFill>
                  <a:srgbClr val="D4EEF2"/>
                </a:solidFill>
              </a:rPr>
              <a:t>C̄</a:t>
            </a:r>
            <a:r>
              <a:rPr lang="en-US" sz="1350" baseline="-25000" dirty="0" err="1">
                <a:solidFill>
                  <a:srgbClr val="D4EEF2"/>
                </a:solidFill>
              </a:rPr>
              <a:t>w</a:t>
            </a:r>
            <a:r>
              <a:rPr lang="en-US" sz="1350" dirty="0">
                <a:solidFill>
                  <a:srgbClr val="D4EEF2"/>
                </a:solidFill>
              </a:rPr>
              <a:t>/C</a:t>
            </a:r>
            <a:r>
              <a:rPr lang="en-US" sz="1350" baseline="-25000" dirty="0">
                <a:solidFill>
                  <a:srgbClr val="D4EEF2"/>
                </a:solidFill>
              </a:rPr>
              <a:t>0</a:t>
            </a:r>
            <a:r>
              <a:rPr lang="en-US" sz="1350" dirty="0">
                <a:solidFill>
                  <a:srgbClr val="D4EEF2"/>
                </a:solidFill>
              </a:rPr>
              <a:t> remains nearly uniform in the core flow but rises sharply near the wall, forming a concentration boundary layer. 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D4EEF2"/>
                </a:solidFill>
              </a:rPr>
              <a:t>Pulsatile flow causes periodic fluctuations in LDL concentration. 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 err="1">
                <a:solidFill>
                  <a:srgbClr val="D4EEF2"/>
                </a:solidFill>
              </a:rPr>
              <a:t>C̄</a:t>
            </a:r>
            <a:r>
              <a:rPr lang="en-US" sz="1350" baseline="-25000" dirty="0" err="1">
                <a:solidFill>
                  <a:srgbClr val="D4EEF2"/>
                </a:solidFill>
              </a:rPr>
              <a:t>w</a:t>
            </a:r>
            <a:r>
              <a:rPr lang="en-US" sz="1350" dirty="0">
                <a:solidFill>
                  <a:srgbClr val="D4EEF2"/>
                </a:solidFill>
              </a:rPr>
              <a:t>/C</a:t>
            </a:r>
            <a:r>
              <a:rPr lang="en-US" sz="1350" baseline="-25000" dirty="0">
                <a:solidFill>
                  <a:srgbClr val="D4EEF2"/>
                </a:solidFill>
              </a:rPr>
              <a:t>0</a:t>
            </a:r>
            <a:r>
              <a:rPr lang="en-US" sz="1350" dirty="0">
                <a:solidFill>
                  <a:srgbClr val="D4EEF2"/>
                </a:solidFill>
              </a:rPr>
              <a:t> increases linearly with filtration rate through the vessel wall.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 err="1">
                <a:solidFill>
                  <a:srgbClr val="D4EEF2"/>
                </a:solidFill>
              </a:rPr>
              <a:t>C̄</a:t>
            </a:r>
            <a:r>
              <a:rPr lang="en-US" sz="1350" baseline="-25000" dirty="0" err="1">
                <a:solidFill>
                  <a:srgbClr val="D4EEF2"/>
                </a:solidFill>
              </a:rPr>
              <a:t>w</a:t>
            </a:r>
            <a:r>
              <a:rPr lang="en-US" sz="1350" dirty="0">
                <a:solidFill>
                  <a:srgbClr val="D4EEF2"/>
                </a:solidFill>
              </a:rPr>
              <a:t>/C</a:t>
            </a:r>
            <a:r>
              <a:rPr lang="en-US" sz="1350" baseline="-25000" dirty="0">
                <a:solidFill>
                  <a:srgbClr val="D4EEF2"/>
                </a:solidFill>
              </a:rPr>
              <a:t>0</a:t>
            </a:r>
            <a:r>
              <a:rPr lang="en-US" sz="1350" dirty="0">
                <a:solidFill>
                  <a:srgbClr val="D4EEF2"/>
                </a:solidFill>
              </a:rPr>
              <a:t> decreases inversely with wall shear rate, indicating highest LDL accumulation at low-shear regions.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 err="1">
                <a:solidFill>
                  <a:srgbClr val="D4EEF2"/>
                </a:solidFill>
              </a:rPr>
              <a:t>Pulsatility</a:t>
            </a:r>
            <a:r>
              <a:rPr lang="en-US" sz="1350" dirty="0">
                <a:solidFill>
                  <a:srgbClr val="D4EEF2"/>
                </a:solidFill>
              </a:rPr>
              <a:t> raises time-averaged surface concentration slightly above the steady-flow value. </a:t>
            </a: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D4EEF2"/>
                </a:solidFill>
              </a:rPr>
              <a:t>Results support regional LDL accumulation as a mechanism for atherosclerosis localization.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542</TotalTime>
  <Words>798</Words>
  <Application>Microsoft Office PowerPoint</Application>
  <PresentationFormat>On-screen Show (16:9)</PresentationFormat>
  <Paragraphs>136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LDL Concentration Polarization – Governing Equations &amp; Models</dc:title>
  <dc:subject>PptxGenJS Presentation</dc:subject>
  <dc:creator>Sriya PS</dc:creator>
  <cp:lastModifiedBy>Sriya PS</cp:lastModifiedBy>
  <cp:revision>33</cp:revision>
  <dcterms:created xsi:type="dcterms:W3CDTF">2026-05-25T04:30:08Z</dcterms:created>
  <dcterms:modified xsi:type="dcterms:W3CDTF">2026-06-16T06:26:20Z</dcterms:modified>
</cp:coreProperties>
</file>