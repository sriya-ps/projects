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66" r:id="rId4"/>
    <p:sldId id="267" r:id="rId5"/>
    <p:sldId id="265" r:id="rId6"/>
    <p:sldId id="258" r:id="rId7"/>
    <p:sldId id="260" r:id="rId8"/>
    <p:sldId id="269" r:id="rId9"/>
    <p:sldId id="268"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83974" autoAdjust="0"/>
  </p:normalViewPr>
  <p:slideViewPr>
    <p:cSldViewPr snapToGrid="0" snapToObjects="1">
      <p:cViewPr varScale="1">
        <p:scale>
          <a:sx n="90" d="100"/>
          <a:sy n="90" d="100"/>
        </p:scale>
        <p:origin x="600" y="60"/>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2352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7169929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8474587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b="1" dirty="0">
                <a:effectLst/>
                <a:latin typeface="Google Sans Text"/>
              </a:rPr>
              <a:t>Two Stagnation Zones:</a:t>
            </a:r>
            <a:r>
              <a:rPr lang="en-US" dirty="0">
                <a:effectLst/>
                <a:latin typeface="Google Sans Text"/>
              </a:rPr>
              <a:t> The double peak is a documented physical phenomenon in stenosed vessels. The primary sharp peak forms at the </a:t>
            </a:r>
            <a:r>
              <a:rPr lang="en-US" b="1" dirty="0">
                <a:effectLst/>
                <a:latin typeface="Google Sans Text"/>
              </a:rPr>
              <a:t>flow separation point</a:t>
            </a:r>
            <a:r>
              <a:rPr lang="en-US" dirty="0">
                <a:effectLst/>
                <a:latin typeface="Google Sans Text"/>
              </a:rPr>
              <a:t> (right at the throat exit), while the secondary kink forms further downstream at the </a:t>
            </a:r>
            <a:r>
              <a:rPr lang="en-US" b="1" dirty="0">
                <a:effectLst/>
                <a:latin typeface="Google Sans Text"/>
              </a:rPr>
              <a:t>flow reattachment point</a:t>
            </a:r>
            <a:r>
              <a:rPr lang="en-US" dirty="0">
                <a:effectLst/>
                <a:latin typeface="Google Sans Text"/>
              </a:rPr>
              <a:t> (where the jet hits the wall again).</a:t>
            </a:r>
          </a:p>
          <a:p>
            <a:r>
              <a:rPr lang="en-US" b="1" dirty="0">
                <a:effectLst/>
                <a:latin typeface="Google Sans Text"/>
              </a:rPr>
              <a:t>Zero Convective Clearance:</a:t>
            </a:r>
            <a:r>
              <a:rPr lang="en-US" dirty="0">
                <a:effectLst/>
                <a:latin typeface="Google Sans Text"/>
              </a:rPr>
              <a:t> At both the separation and reattachment lines, the fluid velocity tangential to the wall drops exactly to zero. Because the fluid isn't moving horizontally to sweep molecules away, solutes (LDL) pile up at these two distinct axial locations.</a:t>
            </a:r>
          </a:p>
          <a:p>
            <a:endParaRPr lang="en-IN" dirty="0"/>
          </a:p>
        </p:txBody>
      </p:sp>
    </p:spTree>
    <p:extLst>
      <p:ext uri="{BB962C8B-B14F-4D97-AF65-F5344CB8AC3E}">
        <p14:creationId xmlns:p14="http://schemas.microsoft.com/office/powerpoint/2010/main" val="41934370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0.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70.png"/><Relationship Id="rId7" Type="http://schemas.openxmlformats.org/officeDocument/2006/relationships/image" Target="../media/image6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2.png"/><Relationship Id="rId4" Type="http://schemas.openxmlformats.org/officeDocument/2006/relationships/image" Target="../media/image80.png"/><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4CC"/>
          </a:solidFill>
          <a:ln w="12700">
            <a:solidFill>
              <a:srgbClr val="00B4CC"/>
            </a:solidFill>
            <a:prstDash val="solid"/>
          </a:ln>
        </p:spPr>
        <p:txBody>
          <a:bodyPr/>
          <a:lstStyle/>
          <a:p>
            <a:endParaRPr lang="en-GB"/>
          </a:p>
        </p:txBody>
      </p:sp>
      <p:sp>
        <p:nvSpPr>
          <p:cNvPr id="3" name="Text 1"/>
          <p:cNvSpPr/>
          <p:nvPr/>
        </p:nvSpPr>
        <p:spPr>
          <a:xfrm>
            <a:off x="457200" y="914400"/>
            <a:ext cx="8229600" cy="1737360"/>
          </a:xfrm>
          <a:prstGeom prst="rect">
            <a:avLst/>
          </a:prstGeom>
          <a:noFill/>
          <a:ln/>
        </p:spPr>
        <p:txBody>
          <a:bodyPr wrap="square" rtlCol="0" anchor="ctr"/>
          <a:lstStyle/>
          <a:p>
            <a:pPr marL="0" indent="0" algn="l">
              <a:buNone/>
            </a:pPr>
            <a:r>
              <a:rPr lang="en-US" sz="3400" b="1" dirty="0">
                <a:solidFill>
                  <a:srgbClr val="FFFFFF"/>
                </a:solidFill>
              </a:rPr>
              <a:t>Transport and Interaction of Blood and LDL</a:t>
            </a:r>
            <a:endParaRPr lang="en-US" sz="3400" dirty="0"/>
          </a:p>
        </p:txBody>
      </p:sp>
      <p:sp>
        <p:nvSpPr>
          <p:cNvPr id="4" name="Text 2"/>
          <p:cNvSpPr/>
          <p:nvPr/>
        </p:nvSpPr>
        <p:spPr>
          <a:xfrm>
            <a:off x="457200" y="2743200"/>
            <a:ext cx="8229600" cy="502920"/>
          </a:xfrm>
          <a:prstGeom prst="rect">
            <a:avLst/>
          </a:prstGeom>
          <a:noFill/>
          <a:ln/>
        </p:spPr>
        <p:txBody>
          <a:bodyPr wrap="square" rtlCol="0" anchor="ctr"/>
          <a:lstStyle/>
          <a:p>
            <a:pPr marL="0" indent="0" algn="l">
              <a:buNone/>
            </a:pPr>
            <a:r>
              <a:rPr lang="en-US" sz="1500" i="1" dirty="0">
                <a:solidFill>
                  <a:srgbClr val="00B4CC"/>
                </a:solidFill>
              </a:rPr>
              <a:t>A computational study in near-wall regions of Abdominal Aortic Aneurysms and Stenosed Arteries</a:t>
            </a:r>
          </a:p>
        </p:txBody>
      </p:sp>
      <p:sp>
        <p:nvSpPr>
          <p:cNvPr id="5" name="Shape 3"/>
          <p:cNvSpPr/>
          <p:nvPr/>
        </p:nvSpPr>
        <p:spPr>
          <a:xfrm>
            <a:off x="457200" y="3337560"/>
            <a:ext cx="7772400" cy="0"/>
          </a:xfrm>
          <a:prstGeom prst="line">
            <a:avLst/>
          </a:prstGeom>
          <a:noFill/>
          <a:ln w="19050">
            <a:solidFill>
              <a:srgbClr val="0A7C8C"/>
            </a:solidFill>
            <a:prstDash val="solid"/>
          </a:ln>
        </p:spPr>
        <p:txBody>
          <a:bodyPr/>
          <a:lstStyle/>
          <a:p>
            <a:endParaRPr lang="en-GB"/>
          </a:p>
        </p:txBody>
      </p:sp>
      <p:sp>
        <p:nvSpPr>
          <p:cNvPr id="6" name="Text 4"/>
          <p:cNvSpPr/>
          <p:nvPr/>
        </p:nvSpPr>
        <p:spPr>
          <a:xfrm>
            <a:off x="457200" y="3520440"/>
            <a:ext cx="8229600" cy="365760"/>
          </a:xfrm>
          <a:prstGeom prst="rect">
            <a:avLst/>
          </a:prstGeom>
          <a:noFill/>
          <a:ln/>
        </p:spPr>
        <p:txBody>
          <a:bodyPr wrap="square" rtlCol="0" anchor="ctr"/>
          <a:lstStyle/>
          <a:p>
            <a:pPr marL="0" marR="0" lvl="0" indent="0" rtl="0">
              <a:spcBef>
                <a:spcPts val="0"/>
              </a:spcBef>
              <a:spcAft>
                <a:spcPts val="0"/>
              </a:spcAft>
              <a:buNone/>
            </a:pPr>
            <a:r>
              <a:rPr lang="en-US" sz="1100" b="0" i="0" u="none" strike="noStrike" cap="none" dirty="0">
                <a:solidFill>
                  <a:srgbClr val="FCFAF2"/>
                </a:solidFill>
                <a:latin typeface="DM Sans"/>
                <a:ea typeface="DM Sans"/>
                <a:cs typeface="DM Sans"/>
                <a:sym typeface="DM Sans"/>
              </a:rPr>
              <a:t>Based on research by Satyajit Choudhury, K. </a:t>
            </a:r>
            <a:r>
              <a:rPr lang="en-US" sz="1100" b="0" i="0" u="none" strike="noStrike" cap="none" dirty="0" err="1">
                <a:solidFill>
                  <a:srgbClr val="FCFAF2"/>
                </a:solidFill>
                <a:latin typeface="DM Sans"/>
                <a:ea typeface="DM Sans"/>
                <a:cs typeface="DM Sans"/>
                <a:sym typeface="DM Sans"/>
              </a:rPr>
              <a:t>Anupindi</a:t>
            </a:r>
            <a:r>
              <a:rPr lang="en-US" sz="1100" b="0" i="0" u="none" strike="noStrike" cap="none" dirty="0">
                <a:solidFill>
                  <a:srgbClr val="FCFAF2"/>
                </a:solidFill>
                <a:latin typeface="DM Sans"/>
                <a:ea typeface="DM Sans"/>
                <a:cs typeface="DM Sans"/>
                <a:sym typeface="DM Sans"/>
              </a:rPr>
              <a:t> &amp; B. S. V. Patnaik (2021)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3E"/>
          </a:solidFill>
          <a:ln w="12700">
            <a:solidFill>
              <a:srgbClr val="0D1B3E"/>
            </a:solidFill>
            <a:prstDash val="solid"/>
          </a:ln>
        </p:spPr>
        <p:txBody>
          <a:bodyPr/>
          <a:lstStyle/>
          <a:p>
            <a:endParaRPr lang="en-GB"/>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000" b="1" dirty="0">
                <a:solidFill>
                  <a:srgbClr val="FFFFFF"/>
                </a:solidFill>
              </a:rPr>
              <a:t>Model Assumptions, COMSOL Parameters &amp; Modules</a:t>
            </a:r>
            <a:endParaRPr lang="en-US" sz="2000" dirty="0"/>
          </a:p>
        </p:txBody>
      </p:sp>
      <p:sp>
        <p:nvSpPr>
          <p:cNvPr id="4" name="Shape 2"/>
          <p:cNvSpPr/>
          <p:nvPr/>
        </p:nvSpPr>
        <p:spPr>
          <a:xfrm>
            <a:off x="274320" y="749808"/>
            <a:ext cx="1463040" cy="256032"/>
          </a:xfrm>
          <a:prstGeom prst="roundRect">
            <a:avLst>
              <a:gd name="adj" fmla="val 21429"/>
            </a:avLst>
          </a:prstGeom>
          <a:solidFill>
            <a:srgbClr val="0D1B3E"/>
          </a:solidFill>
          <a:ln w="12700">
            <a:solidFill>
              <a:srgbClr val="0D1B3E"/>
            </a:solidFill>
            <a:prstDash val="solid"/>
          </a:ln>
        </p:spPr>
        <p:txBody>
          <a:bodyPr/>
          <a:lstStyle/>
          <a:p>
            <a:endParaRPr lang="en-GB"/>
          </a:p>
        </p:txBody>
      </p:sp>
      <p:sp>
        <p:nvSpPr>
          <p:cNvPr id="5" name="Text 3"/>
          <p:cNvSpPr/>
          <p:nvPr/>
        </p:nvSpPr>
        <p:spPr>
          <a:xfrm>
            <a:off x="274320" y="749808"/>
            <a:ext cx="1463040" cy="256032"/>
          </a:xfrm>
          <a:prstGeom prst="rect">
            <a:avLst/>
          </a:prstGeom>
          <a:noFill/>
          <a:ln/>
        </p:spPr>
        <p:txBody>
          <a:bodyPr wrap="square" lIns="0" tIns="0" rIns="0" bIns="0" rtlCol="0" anchor="ctr"/>
          <a:lstStyle/>
          <a:p>
            <a:pPr marL="0" indent="0" algn="ctr">
              <a:buNone/>
            </a:pPr>
            <a:r>
              <a:rPr lang="en-US" sz="1000" b="1" dirty="0">
                <a:solidFill>
                  <a:srgbClr val="FFFFFF"/>
                </a:solidFill>
              </a:rPr>
              <a:t>Assumptions</a:t>
            </a:r>
            <a:endParaRPr lang="en-US" sz="1000" dirty="0"/>
          </a:p>
        </p:txBody>
      </p:sp>
      <p:sp>
        <p:nvSpPr>
          <p:cNvPr id="6" name="Text 4"/>
          <p:cNvSpPr/>
          <p:nvPr/>
        </p:nvSpPr>
        <p:spPr>
          <a:xfrm>
            <a:off x="274320" y="1042416"/>
            <a:ext cx="3931920" cy="2286000"/>
          </a:xfrm>
          <a:prstGeom prst="rect">
            <a:avLst/>
          </a:prstGeom>
          <a:noFill/>
          <a:ln/>
        </p:spPr>
        <p:txBody>
          <a:bodyPr wrap="square" rtlCol="0" anchor="t"/>
          <a:lstStyle/>
          <a:p>
            <a:pPr marL="342900" indent="-342900">
              <a:spcAft>
                <a:spcPts val="200"/>
              </a:spcAft>
              <a:buSzPct val="100000"/>
              <a:buChar char="•"/>
            </a:pPr>
            <a:r>
              <a:rPr lang="en-US" sz="1100" dirty="0">
                <a:solidFill>
                  <a:srgbClr val="1A2B3C"/>
                </a:solidFill>
              </a:rPr>
              <a:t>Homogeneous, incompressible, Newtonian blood</a:t>
            </a:r>
            <a:endParaRPr lang="en-US" sz="1100" dirty="0"/>
          </a:p>
          <a:p>
            <a:pPr marL="342900" indent="-342900">
              <a:spcAft>
                <a:spcPts val="200"/>
              </a:spcAft>
              <a:buSzPct val="100000"/>
              <a:buChar char="•"/>
            </a:pPr>
            <a:r>
              <a:rPr lang="en-US" sz="1100" dirty="0">
                <a:solidFill>
                  <a:srgbClr val="1A2B3C"/>
                </a:solidFill>
              </a:rPr>
              <a:t>Vessel wall permeable to LDL (V</a:t>
            </a:r>
            <a:r>
              <a:rPr lang="en-US" sz="1100" baseline="-25000" dirty="0">
                <a:solidFill>
                  <a:srgbClr val="1A2B3C"/>
                </a:solidFill>
              </a:rPr>
              <a:t>w</a:t>
            </a:r>
            <a:r>
              <a:rPr lang="en-US" sz="1100" dirty="0">
                <a:solidFill>
                  <a:srgbClr val="1A2B3C"/>
                </a:solidFill>
              </a:rPr>
              <a:t> ~ 10⁻⁶ cm/s)</a:t>
            </a:r>
            <a:endParaRPr lang="en-US" sz="1100" dirty="0"/>
          </a:p>
          <a:p>
            <a:pPr marL="342900" indent="-342900">
              <a:spcAft>
                <a:spcPts val="200"/>
              </a:spcAft>
              <a:buSzPct val="100000"/>
              <a:buChar char="•"/>
            </a:pPr>
            <a:r>
              <a:rPr lang="en-US" sz="1100" dirty="0">
                <a:solidFill>
                  <a:srgbClr val="1A2B3C"/>
                </a:solidFill>
              </a:rPr>
              <a:t>Uniform inlet LDL concentration (C = C₀)</a:t>
            </a:r>
          </a:p>
          <a:p>
            <a:pPr marL="342900" indent="-342900">
              <a:spcAft>
                <a:spcPts val="200"/>
              </a:spcAft>
              <a:buSzPct val="100000"/>
              <a:buChar char="•"/>
            </a:pPr>
            <a:r>
              <a:rPr lang="en-US" sz="1100" dirty="0">
                <a:solidFill>
                  <a:srgbClr val="1A2B3C"/>
                </a:solidFill>
              </a:rPr>
              <a:t>Flow is completely laminar throughout</a:t>
            </a:r>
            <a:endParaRPr lang="en-US" sz="1100" dirty="0"/>
          </a:p>
        </p:txBody>
      </p:sp>
      <p:sp>
        <p:nvSpPr>
          <p:cNvPr id="7" name="Shape 5"/>
          <p:cNvSpPr/>
          <p:nvPr/>
        </p:nvSpPr>
        <p:spPr>
          <a:xfrm>
            <a:off x="274320" y="3401568"/>
            <a:ext cx="1645920" cy="256032"/>
          </a:xfrm>
          <a:prstGeom prst="roundRect">
            <a:avLst>
              <a:gd name="adj" fmla="val 21429"/>
            </a:avLst>
          </a:prstGeom>
          <a:solidFill>
            <a:srgbClr val="0D1B3E"/>
          </a:solidFill>
          <a:ln w="12700">
            <a:solidFill>
              <a:srgbClr val="0D1B3E"/>
            </a:solidFill>
            <a:prstDash val="solid"/>
          </a:ln>
        </p:spPr>
        <p:txBody>
          <a:bodyPr/>
          <a:lstStyle/>
          <a:p>
            <a:endParaRPr lang="en-GB"/>
          </a:p>
        </p:txBody>
      </p:sp>
      <p:sp>
        <p:nvSpPr>
          <p:cNvPr id="8" name="Text 6"/>
          <p:cNvSpPr/>
          <p:nvPr/>
        </p:nvSpPr>
        <p:spPr>
          <a:xfrm>
            <a:off x="274320" y="3401568"/>
            <a:ext cx="1645920" cy="256032"/>
          </a:xfrm>
          <a:prstGeom prst="rect">
            <a:avLst/>
          </a:prstGeom>
          <a:noFill/>
          <a:ln/>
        </p:spPr>
        <p:txBody>
          <a:bodyPr wrap="square" lIns="0" tIns="0" rIns="0" bIns="0" rtlCol="0" anchor="ctr"/>
          <a:lstStyle/>
          <a:p>
            <a:pPr marL="0" indent="0" algn="ctr">
              <a:buNone/>
            </a:pPr>
            <a:r>
              <a:rPr lang="en-US" sz="1000" b="1" dirty="0">
                <a:solidFill>
                  <a:srgbClr val="FFFFFF"/>
                </a:solidFill>
              </a:rPr>
              <a:t>COMSOL Modules</a:t>
            </a:r>
            <a:endParaRPr lang="en-US" sz="1000" dirty="0"/>
          </a:p>
        </p:txBody>
      </p:sp>
      <p:sp>
        <p:nvSpPr>
          <p:cNvPr id="9" name="Shape 7"/>
          <p:cNvSpPr/>
          <p:nvPr/>
        </p:nvSpPr>
        <p:spPr>
          <a:xfrm>
            <a:off x="274320" y="3694176"/>
            <a:ext cx="3931920" cy="594360"/>
          </a:xfrm>
          <a:prstGeom prst="rect">
            <a:avLst/>
          </a:prstGeom>
          <a:solidFill>
            <a:srgbClr val="E8F5F7"/>
          </a:solidFill>
          <a:ln w="15240">
            <a:solidFill>
              <a:srgbClr val="0A7C8C"/>
            </a:solidFill>
            <a:prstDash val="solid"/>
          </a:ln>
        </p:spPr>
        <p:txBody>
          <a:bodyPr/>
          <a:lstStyle/>
          <a:p>
            <a:endParaRPr lang="en-GB"/>
          </a:p>
        </p:txBody>
      </p:sp>
      <p:sp>
        <p:nvSpPr>
          <p:cNvPr id="10" name="Text 8"/>
          <p:cNvSpPr/>
          <p:nvPr/>
        </p:nvSpPr>
        <p:spPr>
          <a:xfrm>
            <a:off x="411480" y="3694176"/>
            <a:ext cx="3749040" cy="594360"/>
          </a:xfrm>
          <a:prstGeom prst="rect">
            <a:avLst/>
          </a:prstGeom>
          <a:noFill/>
          <a:ln/>
        </p:spPr>
        <p:txBody>
          <a:bodyPr wrap="square" lIns="0" tIns="0" rIns="0" bIns="0" rtlCol="0" anchor="ctr"/>
          <a:lstStyle/>
          <a:p>
            <a:pPr marL="0" indent="0">
              <a:buNone/>
            </a:pPr>
            <a:r>
              <a:rPr lang="en-US" sz="1100" b="1" dirty="0">
                <a:solidFill>
                  <a:srgbClr val="0A7C8C"/>
                </a:solidFill>
              </a:rPr>
              <a:t>Laminar Flow (spf)  </a:t>
            </a:r>
            <a:r>
              <a:rPr lang="en-US" sz="1100" dirty="0">
                <a:solidFill>
                  <a:srgbClr val="1A2B3C"/>
                </a:solidFill>
              </a:rPr>
              <a:t>— fluid flow solver</a:t>
            </a:r>
            <a:endParaRPr lang="en-US" sz="1100" dirty="0"/>
          </a:p>
        </p:txBody>
      </p:sp>
      <p:sp>
        <p:nvSpPr>
          <p:cNvPr id="11" name="Shape 9"/>
          <p:cNvSpPr/>
          <p:nvPr/>
        </p:nvSpPr>
        <p:spPr>
          <a:xfrm>
            <a:off x="274320" y="4325112"/>
            <a:ext cx="3931920" cy="594360"/>
          </a:xfrm>
          <a:prstGeom prst="rect">
            <a:avLst/>
          </a:prstGeom>
          <a:solidFill>
            <a:srgbClr val="E8F5F7"/>
          </a:solidFill>
          <a:ln w="15240">
            <a:solidFill>
              <a:srgbClr val="0A7C8C"/>
            </a:solidFill>
            <a:prstDash val="solid"/>
          </a:ln>
        </p:spPr>
        <p:txBody>
          <a:bodyPr/>
          <a:lstStyle/>
          <a:p>
            <a:endParaRPr lang="en-GB"/>
          </a:p>
        </p:txBody>
      </p:sp>
      <p:sp>
        <p:nvSpPr>
          <p:cNvPr id="12" name="Text 10"/>
          <p:cNvSpPr/>
          <p:nvPr/>
        </p:nvSpPr>
        <p:spPr>
          <a:xfrm>
            <a:off x="411480" y="4325112"/>
            <a:ext cx="3749040" cy="594360"/>
          </a:xfrm>
          <a:prstGeom prst="rect">
            <a:avLst/>
          </a:prstGeom>
          <a:noFill/>
          <a:ln/>
        </p:spPr>
        <p:txBody>
          <a:bodyPr wrap="square" lIns="0" tIns="0" rIns="0" bIns="0" rtlCol="0" anchor="ctr"/>
          <a:lstStyle/>
          <a:p>
            <a:pPr marL="0" indent="0">
              <a:buNone/>
            </a:pPr>
            <a:r>
              <a:rPr lang="en-US" sz="1100" b="1" dirty="0">
                <a:solidFill>
                  <a:srgbClr val="0A7C8C"/>
                </a:solidFill>
              </a:rPr>
              <a:t>Transport of Diluted Species (tds)  </a:t>
            </a:r>
            <a:r>
              <a:rPr lang="en-US" sz="1100" dirty="0">
                <a:solidFill>
                  <a:srgbClr val="1A2B3C"/>
                </a:solidFill>
              </a:rPr>
              <a:t>— LDL mass transport</a:t>
            </a:r>
            <a:endParaRPr lang="en-US" sz="1100" dirty="0"/>
          </a:p>
        </p:txBody>
      </p:sp>
      <p:sp>
        <p:nvSpPr>
          <p:cNvPr id="13" name="Shape 11"/>
          <p:cNvSpPr/>
          <p:nvPr/>
        </p:nvSpPr>
        <p:spPr>
          <a:xfrm>
            <a:off x="4462272" y="749808"/>
            <a:ext cx="1828800" cy="256032"/>
          </a:xfrm>
          <a:prstGeom prst="roundRect">
            <a:avLst>
              <a:gd name="adj" fmla="val 21429"/>
            </a:avLst>
          </a:prstGeom>
          <a:solidFill>
            <a:srgbClr val="0A7C8C"/>
          </a:solidFill>
          <a:ln w="12700">
            <a:solidFill>
              <a:srgbClr val="0A7C8C"/>
            </a:solidFill>
            <a:prstDash val="solid"/>
          </a:ln>
        </p:spPr>
        <p:txBody>
          <a:bodyPr/>
          <a:lstStyle/>
          <a:p>
            <a:endParaRPr lang="en-GB"/>
          </a:p>
        </p:txBody>
      </p:sp>
      <p:sp>
        <p:nvSpPr>
          <p:cNvPr id="14" name="Text 12"/>
          <p:cNvSpPr/>
          <p:nvPr/>
        </p:nvSpPr>
        <p:spPr>
          <a:xfrm>
            <a:off x="4462272" y="749808"/>
            <a:ext cx="1828800" cy="256032"/>
          </a:xfrm>
          <a:prstGeom prst="rect">
            <a:avLst/>
          </a:prstGeom>
          <a:noFill/>
          <a:ln/>
        </p:spPr>
        <p:txBody>
          <a:bodyPr wrap="square" lIns="0" tIns="0" rIns="0" bIns="0" rtlCol="0" anchor="ctr"/>
          <a:lstStyle/>
          <a:p>
            <a:pPr marL="0" indent="0" algn="ctr">
              <a:buNone/>
            </a:pPr>
            <a:r>
              <a:rPr lang="en-US" sz="1000" b="1" dirty="0">
                <a:solidFill>
                  <a:srgbClr val="FFFFFF"/>
                </a:solidFill>
              </a:rPr>
              <a:t>COMSOL Parameters</a:t>
            </a:r>
            <a:endParaRPr lang="en-US" sz="1000" dirty="0"/>
          </a:p>
        </p:txBody>
      </p:sp>
      <p:sp>
        <p:nvSpPr>
          <p:cNvPr id="15" name="Shape 13"/>
          <p:cNvSpPr/>
          <p:nvPr/>
        </p:nvSpPr>
        <p:spPr>
          <a:xfrm>
            <a:off x="4462272" y="1042416"/>
            <a:ext cx="960120" cy="274320"/>
          </a:xfrm>
          <a:prstGeom prst="rect">
            <a:avLst/>
          </a:prstGeom>
          <a:solidFill>
            <a:srgbClr val="0A7C8C"/>
          </a:solidFill>
          <a:ln w="12700">
            <a:solidFill>
              <a:srgbClr val="0A7C8C"/>
            </a:solidFill>
            <a:prstDash val="solid"/>
          </a:ln>
        </p:spPr>
        <p:txBody>
          <a:bodyPr/>
          <a:lstStyle/>
          <a:p>
            <a:endParaRPr lang="en-GB"/>
          </a:p>
        </p:txBody>
      </p:sp>
      <p:sp>
        <p:nvSpPr>
          <p:cNvPr id="16" name="Text 14"/>
          <p:cNvSpPr/>
          <p:nvPr/>
        </p:nvSpPr>
        <p:spPr>
          <a:xfrm>
            <a:off x="4462272" y="1042416"/>
            <a:ext cx="960120" cy="274320"/>
          </a:xfrm>
          <a:prstGeom prst="rect">
            <a:avLst/>
          </a:prstGeom>
          <a:noFill/>
          <a:ln/>
        </p:spPr>
        <p:txBody>
          <a:bodyPr wrap="square" lIns="0" tIns="0" rIns="0" bIns="0" rtlCol="0" anchor="ctr"/>
          <a:lstStyle/>
          <a:p>
            <a:pPr marL="0" indent="0" algn="ctr">
              <a:buNone/>
            </a:pPr>
            <a:r>
              <a:rPr lang="en-US" sz="1000" b="1" dirty="0">
                <a:solidFill>
                  <a:srgbClr val="FFFFFF"/>
                </a:solidFill>
              </a:rPr>
              <a:t>Name</a:t>
            </a:r>
            <a:endParaRPr lang="en-US" sz="1000" dirty="0"/>
          </a:p>
        </p:txBody>
      </p:sp>
      <p:sp>
        <p:nvSpPr>
          <p:cNvPr id="17" name="Shape 15"/>
          <p:cNvSpPr/>
          <p:nvPr/>
        </p:nvSpPr>
        <p:spPr>
          <a:xfrm>
            <a:off x="5422392" y="1042416"/>
            <a:ext cx="1051560" cy="274320"/>
          </a:xfrm>
          <a:prstGeom prst="rect">
            <a:avLst/>
          </a:prstGeom>
          <a:solidFill>
            <a:srgbClr val="0A7C8C"/>
          </a:solidFill>
          <a:ln w="12700">
            <a:solidFill>
              <a:srgbClr val="0A7C8C"/>
            </a:solidFill>
            <a:prstDash val="solid"/>
          </a:ln>
        </p:spPr>
        <p:txBody>
          <a:bodyPr/>
          <a:lstStyle/>
          <a:p>
            <a:endParaRPr lang="en-GB"/>
          </a:p>
        </p:txBody>
      </p:sp>
      <p:sp>
        <p:nvSpPr>
          <p:cNvPr id="18" name="Text 16"/>
          <p:cNvSpPr/>
          <p:nvPr/>
        </p:nvSpPr>
        <p:spPr>
          <a:xfrm>
            <a:off x="5422392" y="1042416"/>
            <a:ext cx="1051560" cy="274320"/>
          </a:xfrm>
          <a:prstGeom prst="rect">
            <a:avLst/>
          </a:prstGeom>
          <a:noFill/>
          <a:ln/>
        </p:spPr>
        <p:txBody>
          <a:bodyPr wrap="square" lIns="0" tIns="0" rIns="0" bIns="0" rtlCol="0" anchor="ctr"/>
          <a:lstStyle/>
          <a:p>
            <a:pPr marL="0" indent="0" algn="ctr">
              <a:buNone/>
            </a:pPr>
            <a:r>
              <a:rPr lang="en-US" sz="1000" b="1" dirty="0">
                <a:solidFill>
                  <a:srgbClr val="FFFFFF"/>
                </a:solidFill>
              </a:rPr>
              <a:t>Value</a:t>
            </a:r>
            <a:endParaRPr lang="en-US" sz="1000" dirty="0"/>
          </a:p>
        </p:txBody>
      </p:sp>
      <p:sp>
        <p:nvSpPr>
          <p:cNvPr id="19" name="Shape 17"/>
          <p:cNvSpPr/>
          <p:nvPr/>
        </p:nvSpPr>
        <p:spPr>
          <a:xfrm>
            <a:off x="6473952" y="1042416"/>
            <a:ext cx="2350008" cy="274320"/>
          </a:xfrm>
          <a:prstGeom prst="rect">
            <a:avLst/>
          </a:prstGeom>
          <a:solidFill>
            <a:srgbClr val="0A7C8C"/>
          </a:solidFill>
          <a:ln w="12700">
            <a:solidFill>
              <a:srgbClr val="0A7C8C"/>
            </a:solidFill>
            <a:prstDash val="solid"/>
          </a:ln>
        </p:spPr>
        <p:txBody>
          <a:bodyPr/>
          <a:lstStyle/>
          <a:p>
            <a:endParaRPr lang="en-GB"/>
          </a:p>
        </p:txBody>
      </p:sp>
      <p:sp>
        <p:nvSpPr>
          <p:cNvPr id="20" name="Text 18"/>
          <p:cNvSpPr/>
          <p:nvPr/>
        </p:nvSpPr>
        <p:spPr>
          <a:xfrm>
            <a:off x="6473952" y="1042416"/>
            <a:ext cx="2350008" cy="274320"/>
          </a:xfrm>
          <a:prstGeom prst="rect">
            <a:avLst/>
          </a:prstGeom>
          <a:noFill/>
          <a:ln/>
        </p:spPr>
        <p:txBody>
          <a:bodyPr wrap="square" lIns="0" tIns="0" rIns="0" bIns="0" rtlCol="0" anchor="ctr"/>
          <a:lstStyle/>
          <a:p>
            <a:pPr marL="0" indent="0" algn="ctr">
              <a:buNone/>
            </a:pPr>
            <a:r>
              <a:rPr lang="en-US" sz="1000" b="1" dirty="0">
                <a:solidFill>
                  <a:srgbClr val="FFFFFF"/>
                </a:solidFill>
              </a:rPr>
              <a:t>Description</a:t>
            </a:r>
            <a:endParaRPr lang="en-US" sz="1000" dirty="0"/>
          </a:p>
        </p:txBody>
      </p:sp>
      <p:sp>
        <p:nvSpPr>
          <p:cNvPr id="33" name="Shape 31"/>
          <p:cNvSpPr/>
          <p:nvPr/>
        </p:nvSpPr>
        <p:spPr>
          <a:xfrm>
            <a:off x="4462272" y="1316736"/>
            <a:ext cx="960120" cy="333756"/>
          </a:xfrm>
          <a:prstGeom prst="rect">
            <a:avLst/>
          </a:prstGeom>
          <a:solidFill>
            <a:srgbClr val="FFFFFF"/>
          </a:solidFill>
          <a:ln w="5080">
            <a:solidFill>
              <a:srgbClr val="D0E8EC"/>
            </a:solidFill>
            <a:prstDash val="solid"/>
          </a:ln>
        </p:spPr>
        <p:txBody>
          <a:bodyPr/>
          <a:lstStyle/>
          <a:p>
            <a:endParaRPr lang="en-GB"/>
          </a:p>
        </p:txBody>
      </p:sp>
      <p:sp>
        <p:nvSpPr>
          <p:cNvPr id="34" name="Text 32"/>
          <p:cNvSpPr/>
          <p:nvPr/>
        </p:nvSpPr>
        <p:spPr>
          <a:xfrm>
            <a:off x="4507992" y="1316736"/>
            <a:ext cx="868680" cy="333756"/>
          </a:xfrm>
          <a:prstGeom prst="rect">
            <a:avLst/>
          </a:prstGeom>
          <a:noFill/>
          <a:ln/>
        </p:spPr>
        <p:txBody>
          <a:bodyPr wrap="square" lIns="0" tIns="0" rIns="0" bIns="0" rtlCol="0" anchor="ctr"/>
          <a:lstStyle/>
          <a:p>
            <a:pPr marL="0" indent="0">
              <a:buNone/>
            </a:pPr>
            <a:r>
              <a:rPr lang="en-US" sz="1050" b="1" dirty="0" err="1">
                <a:solidFill>
                  <a:srgbClr val="0D1B3E"/>
                </a:solidFill>
                <a:latin typeface="Cambria Math" pitchFamily="34" charset="0"/>
                <a:ea typeface="Cambria Math" pitchFamily="34" charset="-122"/>
                <a:cs typeface="Cambria Math" pitchFamily="34" charset="-120"/>
              </a:rPr>
              <a:t>ρ</a:t>
            </a:r>
            <a:r>
              <a:rPr lang="en-US" sz="1050" b="1" baseline="-25000" dirty="0" err="1">
                <a:solidFill>
                  <a:srgbClr val="0D1B3E"/>
                </a:solidFill>
                <a:latin typeface="Cambria Math" pitchFamily="34" charset="0"/>
                <a:ea typeface="Cambria Math" pitchFamily="34" charset="-122"/>
                <a:cs typeface="Cambria Math" pitchFamily="34" charset="-120"/>
              </a:rPr>
              <a:t>b</a:t>
            </a:r>
            <a:endParaRPr lang="en-US" sz="1050" baseline="-25000" dirty="0"/>
          </a:p>
        </p:txBody>
      </p:sp>
      <p:sp>
        <p:nvSpPr>
          <p:cNvPr id="35" name="Shape 33"/>
          <p:cNvSpPr/>
          <p:nvPr/>
        </p:nvSpPr>
        <p:spPr>
          <a:xfrm>
            <a:off x="5422392" y="1316736"/>
            <a:ext cx="1051560" cy="333756"/>
          </a:xfrm>
          <a:prstGeom prst="rect">
            <a:avLst/>
          </a:prstGeom>
          <a:solidFill>
            <a:srgbClr val="FFFFFF"/>
          </a:solidFill>
          <a:ln w="5080">
            <a:solidFill>
              <a:srgbClr val="D0E8EC"/>
            </a:solidFill>
            <a:prstDash val="solid"/>
          </a:ln>
        </p:spPr>
        <p:txBody>
          <a:bodyPr/>
          <a:lstStyle/>
          <a:p>
            <a:endParaRPr lang="en-GB"/>
          </a:p>
        </p:txBody>
      </p:sp>
      <p:sp>
        <p:nvSpPr>
          <p:cNvPr id="36" name="Text 34"/>
          <p:cNvSpPr/>
          <p:nvPr/>
        </p:nvSpPr>
        <p:spPr>
          <a:xfrm>
            <a:off x="5468112" y="1316736"/>
            <a:ext cx="960120" cy="333756"/>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1060 kg/m³</a:t>
            </a:r>
            <a:endParaRPr lang="en-US" sz="1000" dirty="0"/>
          </a:p>
        </p:txBody>
      </p:sp>
      <p:sp>
        <p:nvSpPr>
          <p:cNvPr id="37" name="Shape 35"/>
          <p:cNvSpPr/>
          <p:nvPr/>
        </p:nvSpPr>
        <p:spPr>
          <a:xfrm>
            <a:off x="6473952" y="1316736"/>
            <a:ext cx="2350008" cy="333756"/>
          </a:xfrm>
          <a:prstGeom prst="rect">
            <a:avLst/>
          </a:prstGeom>
          <a:solidFill>
            <a:srgbClr val="FFFFFF"/>
          </a:solidFill>
          <a:ln w="5080">
            <a:solidFill>
              <a:srgbClr val="D0E8EC"/>
            </a:solidFill>
            <a:prstDash val="solid"/>
          </a:ln>
        </p:spPr>
        <p:txBody>
          <a:bodyPr/>
          <a:lstStyle/>
          <a:p>
            <a:endParaRPr lang="en-GB"/>
          </a:p>
        </p:txBody>
      </p:sp>
      <p:sp>
        <p:nvSpPr>
          <p:cNvPr id="38" name="Text 36"/>
          <p:cNvSpPr/>
          <p:nvPr/>
        </p:nvSpPr>
        <p:spPr>
          <a:xfrm>
            <a:off x="6519672" y="1316736"/>
            <a:ext cx="2258568" cy="333756"/>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Density of blood</a:t>
            </a:r>
            <a:endParaRPr lang="en-US" sz="1000" dirty="0"/>
          </a:p>
        </p:txBody>
      </p:sp>
      <p:sp>
        <p:nvSpPr>
          <p:cNvPr id="39" name="Shape 37"/>
          <p:cNvSpPr/>
          <p:nvPr/>
        </p:nvSpPr>
        <p:spPr>
          <a:xfrm>
            <a:off x="4462272" y="1650492"/>
            <a:ext cx="960120" cy="333756"/>
          </a:xfrm>
          <a:prstGeom prst="rect">
            <a:avLst/>
          </a:prstGeom>
          <a:solidFill>
            <a:srgbClr val="E8F5F7"/>
          </a:solidFill>
          <a:ln w="5080">
            <a:solidFill>
              <a:srgbClr val="D0E8EC"/>
            </a:solidFill>
            <a:prstDash val="solid"/>
          </a:ln>
        </p:spPr>
        <p:txBody>
          <a:bodyPr/>
          <a:lstStyle/>
          <a:p>
            <a:endParaRPr lang="en-GB"/>
          </a:p>
        </p:txBody>
      </p:sp>
      <p:sp>
        <p:nvSpPr>
          <p:cNvPr id="40" name="Text 38"/>
          <p:cNvSpPr/>
          <p:nvPr/>
        </p:nvSpPr>
        <p:spPr>
          <a:xfrm>
            <a:off x="4507992" y="1650492"/>
            <a:ext cx="868680" cy="333756"/>
          </a:xfrm>
          <a:prstGeom prst="rect">
            <a:avLst/>
          </a:prstGeom>
          <a:noFill/>
          <a:ln/>
        </p:spPr>
        <p:txBody>
          <a:bodyPr wrap="square" lIns="0" tIns="0" rIns="0" bIns="0" rtlCol="0" anchor="ctr"/>
          <a:lstStyle/>
          <a:p>
            <a:pPr marL="0" indent="0">
              <a:buNone/>
            </a:pPr>
            <a:r>
              <a:rPr lang="en-US" sz="1050" b="1" dirty="0" err="1">
                <a:solidFill>
                  <a:srgbClr val="0D1B3E"/>
                </a:solidFill>
                <a:latin typeface="Cambria Math" pitchFamily="34" charset="0"/>
                <a:ea typeface="Cambria Math" pitchFamily="34" charset="-122"/>
                <a:cs typeface="Cambria Math" pitchFamily="34" charset="-120"/>
              </a:rPr>
              <a:t>μ</a:t>
            </a:r>
            <a:r>
              <a:rPr lang="en-US" sz="1050" b="1" baseline="-25000" dirty="0" err="1">
                <a:solidFill>
                  <a:srgbClr val="0D1B3E"/>
                </a:solidFill>
                <a:latin typeface="Cambria Math" pitchFamily="34" charset="0"/>
                <a:ea typeface="Cambria Math" pitchFamily="34" charset="-122"/>
                <a:cs typeface="Cambria Math" pitchFamily="34" charset="-120"/>
              </a:rPr>
              <a:t>b</a:t>
            </a:r>
            <a:endParaRPr lang="en-US" sz="1050" baseline="-25000" dirty="0"/>
          </a:p>
        </p:txBody>
      </p:sp>
      <p:sp>
        <p:nvSpPr>
          <p:cNvPr id="41" name="Shape 39"/>
          <p:cNvSpPr/>
          <p:nvPr/>
        </p:nvSpPr>
        <p:spPr>
          <a:xfrm>
            <a:off x="5422392" y="1650492"/>
            <a:ext cx="1051560" cy="333756"/>
          </a:xfrm>
          <a:prstGeom prst="rect">
            <a:avLst/>
          </a:prstGeom>
          <a:solidFill>
            <a:srgbClr val="E8F5F7"/>
          </a:solidFill>
          <a:ln w="5080">
            <a:solidFill>
              <a:srgbClr val="D0E8EC"/>
            </a:solidFill>
            <a:prstDash val="solid"/>
          </a:ln>
        </p:spPr>
        <p:txBody>
          <a:bodyPr/>
          <a:lstStyle/>
          <a:p>
            <a:endParaRPr lang="en-GB"/>
          </a:p>
        </p:txBody>
      </p:sp>
      <p:sp>
        <p:nvSpPr>
          <p:cNvPr id="42" name="Text 40"/>
          <p:cNvSpPr/>
          <p:nvPr/>
        </p:nvSpPr>
        <p:spPr>
          <a:xfrm>
            <a:off x="5468112" y="1650492"/>
            <a:ext cx="960120" cy="333756"/>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0.004 Pa·s</a:t>
            </a:r>
            <a:endParaRPr lang="en-US" sz="1000" dirty="0"/>
          </a:p>
        </p:txBody>
      </p:sp>
      <p:sp>
        <p:nvSpPr>
          <p:cNvPr id="43" name="Shape 41"/>
          <p:cNvSpPr/>
          <p:nvPr/>
        </p:nvSpPr>
        <p:spPr>
          <a:xfrm>
            <a:off x="6473952" y="1650492"/>
            <a:ext cx="2350008" cy="333756"/>
          </a:xfrm>
          <a:prstGeom prst="rect">
            <a:avLst/>
          </a:prstGeom>
          <a:solidFill>
            <a:srgbClr val="E8F5F7"/>
          </a:solidFill>
          <a:ln w="5080">
            <a:solidFill>
              <a:srgbClr val="D0E8EC"/>
            </a:solidFill>
            <a:prstDash val="solid"/>
          </a:ln>
        </p:spPr>
        <p:txBody>
          <a:bodyPr/>
          <a:lstStyle/>
          <a:p>
            <a:endParaRPr lang="en-GB"/>
          </a:p>
        </p:txBody>
      </p:sp>
      <p:sp>
        <p:nvSpPr>
          <p:cNvPr id="44" name="Text 42"/>
          <p:cNvSpPr/>
          <p:nvPr/>
        </p:nvSpPr>
        <p:spPr>
          <a:xfrm>
            <a:off x="6519672" y="1650492"/>
            <a:ext cx="2258568" cy="333756"/>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Dynamic viscosity</a:t>
            </a:r>
            <a:endParaRPr lang="en-US" sz="1000" dirty="0"/>
          </a:p>
        </p:txBody>
      </p:sp>
      <p:sp>
        <p:nvSpPr>
          <p:cNvPr id="45" name="Shape 43"/>
          <p:cNvSpPr/>
          <p:nvPr/>
        </p:nvSpPr>
        <p:spPr>
          <a:xfrm>
            <a:off x="4462272" y="1984248"/>
            <a:ext cx="960120" cy="333756"/>
          </a:xfrm>
          <a:prstGeom prst="rect">
            <a:avLst/>
          </a:prstGeom>
          <a:solidFill>
            <a:srgbClr val="FFFFFF"/>
          </a:solidFill>
          <a:ln w="5080">
            <a:solidFill>
              <a:srgbClr val="D0E8EC"/>
            </a:solidFill>
            <a:prstDash val="solid"/>
          </a:ln>
        </p:spPr>
        <p:txBody>
          <a:bodyPr/>
          <a:lstStyle/>
          <a:p>
            <a:endParaRPr lang="en-GB"/>
          </a:p>
        </p:txBody>
      </p:sp>
      <p:sp>
        <p:nvSpPr>
          <p:cNvPr id="46" name="Text 44"/>
          <p:cNvSpPr/>
          <p:nvPr/>
        </p:nvSpPr>
        <p:spPr>
          <a:xfrm>
            <a:off x="4507992" y="1984248"/>
            <a:ext cx="868680" cy="333756"/>
          </a:xfrm>
          <a:prstGeom prst="rect">
            <a:avLst/>
          </a:prstGeom>
          <a:noFill/>
          <a:ln/>
        </p:spPr>
        <p:txBody>
          <a:bodyPr wrap="square" lIns="0" tIns="0" rIns="0" bIns="0" rtlCol="0" anchor="ctr"/>
          <a:lstStyle/>
          <a:p>
            <a:pPr marL="0" indent="0">
              <a:buNone/>
            </a:pPr>
            <a:r>
              <a:rPr lang="en-US" sz="1050" b="1" dirty="0">
                <a:solidFill>
                  <a:srgbClr val="0D1B3E"/>
                </a:solidFill>
                <a:latin typeface="Cambria Math" pitchFamily="34" charset="0"/>
                <a:ea typeface="Cambria Math" pitchFamily="34" charset="-122"/>
              </a:rPr>
              <a:t>Sc</a:t>
            </a:r>
            <a:endParaRPr lang="en-US" sz="1050" dirty="0"/>
          </a:p>
        </p:txBody>
      </p:sp>
      <p:sp>
        <p:nvSpPr>
          <p:cNvPr id="47" name="Shape 45"/>
          <p:cNvSpPr/>
          <p:nvPr/>
        </p:nvSpPr>
        <p:spPr>
          <a:xfrm>
            <a:off x="5422392" y="1984248"/>
            <a:ext cx="1051560" cy="333756"/>
          </a:xfrm>
          <a:prstGeom prst="rect">
            <a:avLst/>
          </a:prstGeom>
          <a:solidFill>
            <a:srgbClr val="FFFFFF"/>
          </a:solidFill>
          <a:ln w="5080">
            <a:solidFill>
              <a:srgbClr val="D0E8EC"/>
            </a:solidFill>
            <a:prstDash val="solid"/>
          </a:ln>
        </p:spPr>
        <p:txBody>
          <a:bodyPr/>
          <a:lstStyle/>
          <a:p>
            <a:endParaRPr lang="en-GB"/>
          </a:p>
        </p:txBody>
      </p:sp>
      <p:sp>
        <p:nvSpPr>
          <p:cNvPr id="48" name="Text 46"/>
          <p:cNvSpPr/>
          <p:nvPr/>
        </p:nvSpPr>
        <p:spPr>
          <a:xfrm>
            <a:off x="5468112" y="1984248"/>
            <a:ext cx="960120" cy="333756"/>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cs typeface="Calibri" pitchFamily="34" charset="-120"/>
              </a:rPr>
              <a:t>1.31E5</a:t>
            </a:r>
            <a:endParaRPr lang="en-US" sz="1000" dirty="0"/>
          </a:p>
        </p:txBody>
      </p:sp>
      <p:sp>
        <p:nvSpPr>
          <p:cNvPr id="49" name="Shape 47"/>
          <p:cNvSpPr/>
          <p:nvPr/>
        </p:nvSpPr>
        <p:spPr>
          <a:xfrm>
            <a:off x="6473952" y="1984248"/>
            <a:ext cx="2350008" cy="333756"/>
          </a:xfrm>
          <a:prstGeom prst="rect">
            <a:avLst/>
          </a:prstGeom>
          <a:solidFill>
            <a:srgbClr val="FFFFFF"/>
          </a:solidFill>
          <a:ln w="5080">
            <a:solidFill>
              <a:srgbClr val="D0E8EC"/>
            </a:solidFill>
            <a:prstDash val="solid"/>
          </a:ln>
        </p:spPr>
        <p:txBody>
          <a:bodyPr/>
          <a:lstStyle/>
          <a:p>
            <a:endParaRPr lang="en-GB"/>
          </a:p>
        </p:txBody>
      </p:sp>
      <p:sp>
        <p:nvSpPr>
          <p:cNvPr id="50" name="Text 48"/>
          <p:cNvSpPr/>
          <p:nvPr/>
        </p:nvSpPr>
        <p:spPr>
          <a:xfrm>
            <a:off x="6519672" y="1984248"/>
            <a:ext cx="2258568" cy="333756"/>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Schmidt number</a:t>
            </a:r>
            <a:endParaRPr lang="en-US" sz="1000" dirty="0"/>
          </a:p>
        </p:txBody>
      </p:sp>
      <p:sp>
        <p:nvSpPr>
          <p:cNvPr id="51" name="Shape 49"/>
          <p:cNvSpPr/>
          <p:nvPr/>
        </p:nvSpPr>
        <p:spPr>
          <a:xfrm>
            <a:off x="4462272" y="2318004"/>
            <a:ext cx="960120" cy="333756"/>
          </a:xfrm>
          <a:prstGeom prst="rect">
            <a:avLst/>
          </a:prstGeom>
          <a:solidFill>
            <a:srgbClr val="E8F5F7"/>
          </a:solidFill>
          <a:ln w="5080">
            <a:solidFill>
              <a:srgbClr val="D0E8EC"/>
            </a:solidFill>
            <a:prstDash val="solid"/>
          </a:ln>
        </p:spPr>
        <p:txBody>
          <a:bodyPr/>
          <a:lstStyle/>
          <a:p>
            <a:endParaRPr lang="en-GB"/>
          </a:p>
        </p:txBody>
      </p:sp>
      <p:sp>
        <p:nvSpPr>
          <p:cNvPr id="52" name="Text 50"/>
          <p:cNvSpPr/>
          <p:nvPr/>
        </p:nvSpPr>
        <p:spPr>
          <a:xfrm>
            <a:off x="4507992" y="2318004"/>
            <a:ext cx="868680" cy="333756"/>
          </a:xfrm>
          <a:prstGeom prst="rect">
            <a:avLst/>
          </a:prstGeom>
          <a:noFill/>
          <a:ln/>
        </p:spPr>
        <p:txBody>
          <a:bodyPr wrap="square" lIns="0" tIns="0" rIns="0" bIns="0" rtlCol="0" anchor="ctr"/>
          <a:lstStyle/>
          <a:p>
            <a:pPr marL="0" indent="0">
              <a:buNone/>
            </a:pPr>
            <a:r>
              <a:rPr lang="en-US" sz="1050" b="1" dirty="0">
                <a:solidFill>
                  <a:srgbClr val="0D1B3E"/>
                </a:solidFill>
                <a:latin typeface="Cambria Math" pitchFamily="34" charset="0"/>
                <a:ea typeface="Cambria Math" pitchFamily="34" charset="-122"/>
                <a:cs typeface="Cambria Math" pitchFamily="34" charset="-120"/>
              </a:rPr>
              <a:t>Vw</a:t>
            </a:r>
            <a:endParaRPr lang="en-US" sz="1050" dirty="0"/>
          </a:p>
        </p:txBody>
      </p:sp>
      <p:sp>
        <p:nvSpPr>
          <p:cNvPr id="53" name="Shape 51"/>
          <p:cNvSpPr/>
          <p:nvPr/>
        </p:nvSpPr>
        <p:spPr>
          <a:xfrm>
            <a:off x="5422392" y="2318004"/>
            <a:ext cx="1051560" cy="333756"/>
          </a:xfrm>
          <a:prstGeom prst="rect">
            <a:avLst/>
          </a:prstGeom>
          <a:solidFill>
            <a:srgbClr val="E8F5F7"/>
          </a:solidFill>
          <a:ln w="5080">
            <a:solidFill>
              <a:srgbClr val="D0E8EC"/>
            </a:solidFill>
            <a:prstDash val="solid"/>
          </a:ln>
        </p:spPr>
        <p:txBody>
          <a:bodyPr/>
          <a:lstStyle/>
          <a:p>
            <a:endParaRPr lang="en-GB"/>
          </a:p>
        </p:txBody>
      </p:sp>
      <p:sp>
        <p:nvSpPr>
          <p:cNvPr id="54" name="Text 52"/>
          <p:cNvSpPr/>
          <p:nvPr/>
        </p:nvSpPr>
        <p:spPr>
          <a:xfrm>
            <a:off x="5468112" y="2318004"/>
            <a:ext cx="960120" cy="333756"/>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4E-8 m/s</a:t>
            </a:r>
            <a:endParaRPr lang="en-US" sz="1000" dirty="0"/>
          </a:p>
        </p:txBody>
      </p:sp>
      <p:sp>
        <p:nvSpPr>
          <p:cNvPr id="55" name="Shape 53"/>
          <p:cNvSpPr/>
          <p:nvPr/>
        </p:nvSpPr>
        <p:spPr>
          <a:xfrm>
            <a:off x="6473952" y="2318004"/>
            <a:ext cx="2350008" cy="333756"/>
          </a:xfrm>
          <a:prstGeom prst="rect">
            <a:avLst/>
          </a:prstGeom>
          <a:solidFill>
            <a:srgbClr val="E8F5F7"/>
          </a:solidFill>
          <a:ln w="5080">
            <a:solidFill>
              <a:srgbClr val="D0E8EC"/>
            </a:solidFill>
            <a:prstDash val="solid"/>
          </a:ln>
        </p:spPr>
        <p:txBody>
          <a:bodyPr/>
          <a:lstStyle/>
          <a:p>
            <a:endParaRPr lang="en-GB"/>
          </a:p>
        </p:txBody>
      </p:sp>
      <p:sp>
        <p:nvSpPr>
          <p:cNvPr id="56" name="Text 54"/>
          <p:cNvSpPr/>
          <p:nvPr/>
        </p:nvSpPr>
        <p:spPr>
          <a:xfrm>
            <a:off x="6519672" y="2318004"/>
            <a:ext cx="2258568" cy="333756"/>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Filtration velocity</a:t>
            </a:r>
            <a:endParaRPr lang="en-US" sz="1000" dirty="0"/>
          </a:p>
        </p:txBody>
      </p:sp>
      <p:sp>
        <p:nvSpPr>
          <p:cNvPr id="57" name="Shape 55"/>
          <p:cNvSpPr/>
          <p:nvPr/>
        </p:nvSpPr>
        <p:spPr>
          <a:xfrm>
            <a:off x="4462272" y="2651760"/>
            <a:ext cx="960120" cy="333756"/>
          </a:xfrm>
          <a:prstGeom prst="rect">
            <a:avLst/>
          </a:prstGeom>
          <a:solidFill>
            <a:srgbClr val="FFFFFF"/>
          </a:solidFill>
          <a:ln w="5080">
            <a:solidFill>
              <a:srgbClr val="D0E8EC"/>
            </a:solidFill>
            <a:prstDash val="solid"/>
          </a:ln>
        </p:spPr>
        <p:txBody>
          <a:bodyPr/>
          <a:lstStyle/>
          <a:p>
            <a:endParaRPr lang="en-GB"/>
          </a:p>
        </p:txBody>
      </p:sp>
      <p:sp>
        <p:nvSpPr>
          <p:cNvPr id="58" name="Text 56"/>
          <p:cNvSpPr/>
          <p:nvPr/>
        </p:nvSpPr>
        <p:spPr>
          <a:xfrm>
            <a:off x="4507992" y="2651760"/>
            <a:ext cx="868680" cy="333756"/>
          </a:xfrm>
          <a:prstGeom prst="rect">
            <a:avLst/>
          </a:prstGeom>
          <a:noFill/>
          <a:ln/>
        </p:spPr>
        <p:txBody>
          <a:bodyPr wrap="square" lIns="0" tIns="0" rIns="0" bIns="0" rtlCol="0" anchor="ctr"/>
          <a:lstStyle/>
          <a:p>
            <a:pPr marL="0" indent="0">
              <a:buNone/>
            </a:pPr>
            <a:r>
              <a:rPr lang="en-US" sz="1050" b="1" dirty="0">
                <a:solidFill>
                  <a:srgbClr val="0D1B3E"/>
                </a:solidFill>
                <a:latin typeface="Cambria Math" pitchFamily="34" charset="0"/>
                <a:ea typeface="Cambria Math" pitchFamily="34" charset="-122"/>
              </a:rPr>
              <a:t>T</a:t>
            </a:r>
            <a:endParaRPr lang="en-US" sz="1050" dirty="0"/>
          </a:p>
        </p:txBody>
      </p:sp>
      <p:sp>
        <p:nvSpPr>
          <p:cNvPr id="59" name="Shape 57"/>
          <p:cNvSpPr/>
          <p:nvPr/>
        </p:nvSpPr>
        <p:spPr>
          <a:xfrm>
            <a:off x="5422392" y="2651760"/>
            <a:ext cx="1051560" cy="333756"/>
          </a:xfrm>
          <a:prstGeom prst="rect">
            <a:avLst/>
          </a:prstGeom>
          <a:solidFill>
            <a:srgbClr val="FFFFFF"/>
          </a:solidFill>
          <a:ln w="5080">
            <a:solidFill>
              <a:srgbClr val="D0E8EC"/>
            </a:solidFill>
            <a:prstDash val="solid"/>
          </a:ln>
        </p:spPr>
        <p:txBody>
          <a:bodyPr/>
          <a:lstStyle/>
          <a:p>
            <a:endParaRPr lang="en-GB"/>
          </a:p>
        </p:txBody>
      </p:sp>
      <p:sp>
        <p:nvSpPr>
          <p:cNvPr id="60" name="Text 58"/>
          <p:cNvSpPr/>
          <p:nvPr/>
        </p:nvSpPr>
        <p:spPr>
          <a:xfrm>
            <a:off x="5468112" y="2651760"/>
            <a:ext cx="960120" cy="333756"/>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0.83s</a:t>
            </a:r>
            <a:endParaRPr lang="en-US" sz="1000" dirty="0"/>
          </a:p>
        </p:txBody>
      </p:sp>
      <p:sp>
        <p:nvSpPr>
          <p:cNvPr id="61" name="Shape 59"/>
          <p:cNvSpPr/>
          <p:nvPr/>
        </p:nvSpPr>
        <p:spPr>
          <a:xfrm>
            <a:off x="6473952" y="2651760"/>
            <a:ext cx="2350008" cy="333756"/>
          </a:xfrm>
          <a:prstGeom prst="rect">
            <a:avLst/>
          </a:prstGeom>
          <a:solidFill>
            <a:srgbClr val="FFFFFF"/>
          </a:solidFill>
          <a:ln w="5080">
            <a:solidFill>
              <a:srgbClr val="D0E8EC"/>
            </a:solidFill>
            <a:prstDash val="solid"/>
          </a:ln>
        </p:spPr>
        <p:txBody>
          <a:bodyPr/>
          <a:lstStyle/>
          <a:p>
            <a:endParaRPr lang="en-GB"/>
          </a:p>
        </p:txBody>
      </p:sp>
      <p:sp>
        <p:nvSpPr>
          <p:cNvPr id="62" name="Text 60"/>
          <p:cNvSpPr/>
          <p:nvPr/>
        </p:nvSpPr>
        <p:spPr>
          <a:xfrm>
            <a:off x="6519672" y="2651760"/>
            <a:ext cx="2258568" cy="333756"/>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Cardiac period</a:t>
            </a:r>
            <a:endParaRPr lang="en-US" sz="1000" dirty="0"/>
          </a:p>
        </p:txBody>
      </p:sp>
      <p:sp>
        <p:nvSpPr>
          <p:cNvPr id="63" name="Shape 61"/>
          <p:cNvSpPr/>
          <p:nvPr/>
        </p:nvSpPr>
        <p:spPr>
          <a:xfrm>
            <a:off x="4462272" y="2985516"/>
            <a:ext cx="960120" cy="333756"/>
          </a:xfrm>
          <a:prstGeom prst="rect">
            <a:avLst/>
          </a:prstGeom>
          <a:solidFill>
            <a:srgbClr val="E8F5F7"/>
          </a:solidFill>
          <a:ln w="5080">
            <a:solidFill>
              <a:srgbClr val="D0E8EC"/>
            </a:solidFill>
            <a:prstDash val="solid"/>
          </a:ln>
        </p:spPr>
        <p:txBody>
          <a:bodyPr/>
          <a:lstStyle/>
          <a:p>
            <a:endParaRPr lang="en-GB"/>
          </a:p>
        </p:txBody>
      </p:sp>
      <p:sp>
        <p:nvSpPr>
          <p:cNvPr id="64" name="Text 62"/>
          <p:cNvSpPr/>
          <p:nvPr/>
        </p:nvSpPr>
        <p:spPr>
          <a:xfrm>
            <a:off x="4507992" y="2985516"/>
            <a:ext cx="868680" cy="333756"/>
          </a:xfrm>
          <a:prstGeom prst="rect">
            <a:avLst/>
          </a:prstGeom>
          <a:noFill/>
          <a:ln/>
        </p:spPr>
        <p:txBody>
          <a:bodyPr wrap="square" lIns="0" tIns="0" rIns="0" bIns="0" rtlCol="0" anchor="ctr"/>
          <a:lstStyle/>
          <a:p>
            <a:pPr marL="0" indent="0">
              <a:buNone/>
            </a:pPr>
            <a:r>
              <a:rPr lang="en-US" sz="1050" b="1" dirty="0">
                <a:solidFill>
                  <a:srgbClr val="0D1B3E"/>
                </a:solidFill>
                <a:latin typeface="Cambria Math" pitchFamily="34" charset="0"/>
                <a:ea typeface="Cambria Math" pitchFamily="34" charset="-122"/>
                <a:cs typeface="Cambria Math" pitchFamily="34" charset="-120"/>
              </a:rPr>
              <a:t>c₀</a:t>
            </a:r>
            <a:endParaRPr lang="en-US" sz="1050" dirty="0"/>
          </a:p>
        </p:txBody>
      </p:sp>
      <p:sp>
        <p:nvSpPr>
          <p:cNvPr id="65" name="Shape 63"/>
          <p:cNvSpPr/>
          <p:nvPr/>
        </p:nvSpPr>
        <p:spPr>
          <a:xfrm>
            <a:off x="5422392" y="2985516"/>
            <a:ext cx="1051560" cy="333756"/>
          </a:xfrm>
          <a:prstGeom prst="rect">
            <a:avLst/>
          </a:prstGeom>
          <a:solidFill>
            <a:srgbClr val="E8F5F7"/>
          </a:solidFill>
          <a:ln w="5080">
            <a:solidFill>
              <a:srgbClr val="D0E8EC"/>
            </a:solidFill>
            <a:prstDash val="solid"/>
          </a:ln>
        </p:spPr>
        <p:txBody>
          <a:bodyPr/>
          <a:lstStyle/>
          <a:p>
            <a:endParaRPr lang="en-GB"/>
          </a:p>
        </p:txBody>
      </p:sp>
      <p:sp>
        <p:nvSpPr>
          <p:cNvPr id="66" name="Text 64"/>
          <p:cNvSpPr/>
          <p:nvPr/>
        </p:nvSpPr>
        <p:spPr>
          <a:xfrm>
            <a:off x="5468112" y="2985516"/>
            <a:ext cx="960120" cy="333756"/>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1 mol/m³</a:t>
            </a:r>
            <a:endParaRPr lang="en-US" sz="1000" dirty="0"/>
          </a:p>
        </p:txBody>
      </p:sp>
      <p:sp>
        <p:nvSpPr>
          <p:cNvPr id="67" name="Shape 65"/>
          <p:cNvSpPr/>
          <p:nvPr/>
        </p:nvSpPr>
        <p:spPr>
          <a:xfrm>
            <a:off x="6473952" y="2985516"/>
            <a:ext cx="2350008" cy="333756"/>
          </a:xfrm>
          <a:prstGeom prst="rect">
            <a:avLst/>
          </a:prstGeom>
          <a:solidFill>
            <a:srgbClr val="E8F5F7"/>
          </a:solidFill>
          <a:ln w="5080">
            <a:solidFill>
              <a:srgbClr val="D0E8EC"/>
            </a:solidFill>
            <a:prstDash val="solid"/>
          </a:ln>
        </p:spPr>
        <p:txBody>
          <a:bodyPr/>
          <a:lstStyle/>
          <a:p>
            <a:endParaRPr lang="en-GB"/>
          </a:p>
        </p:txBody>
      </p:sp>
      <p:sp>
        <p:nvSpPr>
          <p:cNvPr id="68" name="Text 66"/>
          <p:cNvSpPr/>
          <p:nvPr/>
        </p:nvSpPr>
        <p:spPr>
          <a:xfrm>
            <a:off x="6519672" y="2985516"/>
            <a:ext cx="2258568" cy="333756"/>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Inlet concentration</a:t>
            </a:r>
            <a:endParaRPr lang="en-US" sz="1000" dirty="0"/>
          </a:p>
        </p:txBody>
      </p:sp>
      <p:sp>
        <p:nvSpPr>
          <p:cNvPr id="81" name="AutoShape 2">
            <a:extLst>
              <a:ext uri="{FF2B5EF4-FFF2-40B4-BE49-F238E27FC236}">
                <a16:creationId xmlns:a16="http://schemas.microsoft.com/office/drawing/2014/main" id="{501609AA-6F31-40C6-99E6-7AE97FECC78E}"/>
              </a:ext>
            </a:extLst>
          </p:cNvPr>
          <p:cNvSpPr>
            <a:spLocks noChangeAspect="1" noChangeArrowheads="1"/>
          </p:cNvSpPr>
          <p:nvPr/>
        </p:nvSpPr>
        <p:spPr bwMode="auto">
          <a:xfrm>
            <a:off x="4419600" y="17518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2" name="AutoShape 4">
            <a:extLst>
              <a:ext uri="{FF2B5EF4-FFF2-40B4-BE49-F238E27FC236}">
                <a16:creationId xmlns:a16="http://schemas.microsoft.com/office/drawing/2014/main" id="{9E8F3384-CF4F-DD50-0EDE-CD22F12C047D}"/>
              </a:ext>
            </a:extLst>
          </p:cNvPr>
          <p:cNvSpPr>
            <a:spLocks noChangeAspect="1" noChangeArrowheads="1"/>
          </p:cNvSpPr>
          <p:nvPr/>
        </p:nvSpPr>
        <p:spPr bwMode="auto">
          <a:xfrm>
            <a:off x="4572000" y="19042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3E"/>
          </a:solidFill>
          <a:ln w="12700">
            <a:solidFill>
              <a:srgbClr val="0D1B3E"/>
            </a:solidFill>
            <a:prstDash val="solid"/>
          </a:ln>
        </p:spPr>
        <p:txBody>
          <a:bodyPr/>
          <a:lstStyle/>
          <a:p>
            <a:endParaRPr lang="en-GB"/>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000" b="1" dirty="0">
                <a:solidFill>
                  <a:srgbClr val="FFFFFF"/>
                </a:solidFill>
              </a:rPr>
              <a:t>Geometry – AAA (Abdominal Aortic Artery)</a:t>
            </a:r>
            <a:endParaRPr lang="en-US" sz="2000" dirty="0"/>
          </a:p>
        </p:txBody>
      </p:sp>
      <p:sp>
        <p:nvSpPr>
          <p:cNvPr id="4" name="Shape 2"/>
          <p:cNvSpPr/>
          <p:nvPr/>
        </p:nvSpPr>
        <p:spPr>
          <a:xfrm>
            <a:off x="274320" y="749808"/>
            <a:ext cx="1463040" cy="256032"/>
          </a:xfrm>
          <a:prstGeom prst="roundRect">
            <a:avLst>
              <a:gd name="adj" fmla="val 21429"/>
            </a:avLst>
          </a:prstGeom>
          <a:solidFill>
            <a:srgbClr val="0D1B3E"/>
          </a:solidFill>
          <a:ln w="12700">
            <a:solidFill>
              <a:srgbClr val="0D1B3E"/>
            </a:solidFill>
            <a:prstDash val="solid"/>
          </a:ln>
        </p:spPr>
        <p:txBody>
          <a:bodyPr/>
          <a:lstStyle/>
          <a:p>
            <a:endParaRPr lang="en-GB"/>
          </a:p>
        </p:txBody>
      </p:sp>
      <p:sp>
        <p:nvSpPr>
          <p:cNvPr id="5" name="Text 3"/>
          <p:cNvSpPr/>
          <p:nvPr/>
        </p:nvSpPr>
        <p:spPr>
          <a:xfrm>
            <a:off x="274320" y="749808"/>
            <a:ext cx="1463040" cy="256032"/>
          </a:xfrm>
          <a:prstGeom prst="rect">
            <a:avLst/>
          </a:prstGeom>
          <a:noFill/>
          <a:ln/>
        </p:spPr>
        <p:txBody>
          <a:bodyPr wrap="square" lIns="0" tIns="0" rIns="0" bIns="0" rtlCol="0" anchor="ctr"/>
          <a:lstStyle/>
          <a:p>
            <a:pPr marL="0" indent="0" algn="ctr">
              <a:buNone/>
            </a:pPr>
            <a:r>
              <a:rPr lang="en-US" sz="1000" b="1" dirty="0">
                <a:solidFill>
                  <a:srgbClr val="FFFFFF"/>
                </a:solidFill>
              </a:rPr>
              <a:t>Geometry</a:t>
            </a:r>
            <a:endParaRPr lang="en-US" sz="1000" dirty="0"/>
          </a:p>
        </p:txBody>
      </p:sp>
      <p:sp>
        <p:nvSpPr>
          <p:cNvPr id="13" name="Shape 11"/>
          <p:cNvSpPr/>
          <p:nvPr/>
        </p:nvSpPr>
        <p:spPr>
          <a:xfrm>
            <a:off x="5156933" y="749808"/>
            <a:ext cx="1828800" cy="256032"/>
          </a:xfrm>
          <a:prstGeom prst="roundRect">
            <a:avLst>
              <a:gd name="adj" fmla="val 21429"/>
            </a:avLst>
          </a:prstGeom>
          <a:solidFill>
            <a:srgbClr val="0A7C8C"/>
          </a:solidFill>
          <a:ln w="12700">
            <a:solidFill>
              <a:srgbClr val="0A7C8C"/>
            </a:solidFill>
            <a:prstDash val="solid"/>
          </a:ln>
        </p:spPr>
        <p:txBody>
          <a:bodyPr/>
          <a:lstStyle/>
          <a:p>
            <a:endParaRPr lang="en-GB"/>
          </a:p>
        </p:txBody>
      </p:sp>
      <p:sp>
        <p:nvSpPr>
          <p:cNvPr id="14" name="Text 12"/>
          <p:cNvSpPr/>
          <p:nvPr/>
        </p:nvSpPr>
        <p:spPr>
          <a:xfrm>
            <a:off x="5156933" y="749808"/>
            <a:ext cx="1828800" cy="256032"/>
          </a:xfrm>
          <a:prstGeom prst="rect">
            <a:avLst/>
          </a:prstGeom>
          <a:noFill/>
          <a:ln/>
        </p:spPr>
        <p:txBody>
          <a:bodyPr wrap="square" lIns="0" tIns="0" rIns="0" bIns="0" rtlCol="0" anchor="ctr"/>
          <a:lstStyle/>
          <a:p>
            <a:pPr marL="0" indent="0" algn="ctr">
              <a:buNone/>
            </a:pPr>
            <a:r>
              <a:rPr lang="en-US" sz="1000" b="1" dirty="0">
                <a:solidFill>
                  <a:srgbClr val="FFFFFF"/>
                </a:solidFill>
              </a:rPr>
              <a:t>Inlet Flow Rate Profile</a:t>
            </a:r>
            <a:endParaRPr lang="en-US" sz="1000" dirty="0"/>
          </a:p>
        </p:txBody>
      </p:sp>
      <p:pic>
        <p:nvPicPr>
          <p:cNvPr id="7" name="Picture 6">
            <a:extLst>
              <a:ext uri="{FF2B5EF4-FFF2-40B4-BE49-F238E27FC236}">
                <a16:creationId xmlns:a16="http://schemas.microsoft.com/office/drawing/2014/main" id="{823C003F-247F-452F-AB15-D9D8FB7AC37A}"/>
              </a:ext>
            </a:extLst>
          </p:cNvPr>
          <p:cNvPicPr>
            <a:picLocks noChangeAspect="1"/>
          </p:cNvPicPr>
          <p:nvPr/>
        </p:nvPicPr>
        <p:blipFill>
          <a:blip r:embed="rId3"/>
          <a:stretch>
            <a:fillRect/>
          </a:stretch>
        </p:blipFill>
        <p:spPr>
          <a:xfrm>
            <a:off x="274319" y="1107186"/>
            <a:ext cx="3259245" cy="956045"/>
          </a:xfrm>
          <a:prstGeom prst="rect">
            <a:avLst/>
          </a:prstGeom>
        </p:spPr>
      </p:pic>
      <p:sp>
        <p:nvSpPr>
          <p:cNvPr id="8" name="Shape 13">
            <a:extLst>
              <a:ext uri="{FF2B5EF4-FFF2-40B4-BE49-F238E27FC236}">
                <a16:creationId xmlns:a16="http://schemas.microsoft.com/office/drawing/2014/main" id="{DE0A8554-8426-4AAD-9758-4D75CF39A7E0}"/>
              </a:ext>
            </a:extLst>
          </p:cNvPr>
          <p:cNvSpPr/>
          <p:nvPr/>
        </p:nvSpPr>
        <p:spPr>
          <a:xfrm>
            <a:off x="294132" y="2164577"/>
            <a:ext cx="960120" cy="274320"/>
          </a:xfrm>
          <a:prstGeom prst="rect">
            <a:avLst/>
          </a:prstGeom>
          <a:solidFill>
            <a:srgbClr val="0A7C8C"/>
          </a:solidFill>
          <a:ln w="12700">
            <a:solidFill>
              <a:srgbClr val="0A7C8C"/>
            </a:solidFill>
            <a:prstDash val="solid"/>
          </a:ln>
        </p:spPr>
        <p:txBody>
          <a:bodyPr/>
          <a:lstStyle/>
          <a:p>
            <a:endParaRPr lang="en-GB"/>
          </a:p>
        </p:txBody>
      </p:sp>
      <p:sp>
        <p:nvSpPr>
          <p:cNvPr id="9" name="Text 14">
            <a:extLst>
              <a:ext uri="{FF2B5EF4-FFF2-40B4-BE49-F238E27FC236}">
                <a16:creationId xmlns:a16="http://schemas.microsoft.com/office/drawing/2014/main" id="{E456DAC0-4A64-212A-7AF1-7DC1A4DD4BFD}"/>
              </a:ext>
            </a:extLst>
          </p:cNvPr>
          <p:cNvSpPr/>
          <p:nvPr/>
        </p:nvSpPr>
        <p:spPr>
          <a:xfrm>
            <a:off x="294132" y="2164577"/>
            <a:ext cx="960120" cy="274320"/>
          </a:xfrm>
          <a:prstGeom prst="rect">
            <a:avLst/>
          </a:prstGeom>
          <a:noFill/>
          <a:ln/>
        </p:spPr>
        <p:txBody>
          <a:bodyPr wrap="square" lIns="0" tIns="0" rIns="0" bIns="0" rtlCol="0" anchor="ctr"/>
          <a:lstStyle/>
          <a:p>
            <a:pPr marL="0" indent="0" algn="ctr">
              <a:buNone/>
            </a:pPr>
            <a:r>
              <a:rPr lang="en-US" sz="1000" b="1" dirty="0">
                <a:solidFill>
                  <a:srgbClr val="FFFFFF"/>
                </a:solidFill>
              </a:rPr>
              <a:t>Name</a:t>
            </a:r>
            <a:endParaRPr lang="en-US" sz="1000" dirty="0"/>
          </a:p>
        </p:txBody>
      </p:sp>
      <p:sp>
        <p:nvSpPr>
          <p:cNvPr id="10" name="Shape 15">
            <a:extLst>
              <a:ext uri="{FF2B5EF4-FFF2-40B4-BE49-F238E27FC236}">
                <a16:creationId xmlns:a16="http://schemas.microsoft.com/office/drawing/2014/main" id="{18353B5F-9752-7A2E-5694-68583EE090C4}"/>
              </a:ext>
            </a:extLst>
          </p:cNvPr>
          <p:cNvSpPr/>
          <p:nvPr/>
        </p:nvSpPr>
        <p:spPr>
          <a:xfrm>
            <a:off x="1254252" y="2164577"/>
            <a:ext cx="1051560" cy="274320"/>
          </a:xfrm>
          <a:prstGeom prst="rect">
            <a:avLst/>
          </a:prstGeom>
          <a:solidFill>
            <a:srgbClr val="0A7C8C"/>
          </a:solidFill>
          <a:ln w="12700">
            <a:solidFill>
              <a:srgbClr val="0A7C8C"/>
            </a:solidFill>
            <a:prstDash val="solid"/>
          </a:ln>
        </p:spPr>
        <p:txBody>
          <a:bodyPr/>
          <a:lstStyle/>
          <a:p>
            <a:endParaRPr lang="en-GB"/>
          </a:p>
        </p:txBody>
      </p:sp>
      <p:sp>
        <p:nvSpPr>
          <p:cNvPr id="11" name="Text 16">
            <a:extLst>
              <a:ext uri="{FF2B5EF4-FFF2-40B4-BE49-F238E27FC236}">
                <a16:creationId xmlns:a16="http://schemas.microsoft.com/office/drawing/2014/main" id="{8E33A74E-905B-4C3F-3B04-1A7B8357B33A}"/>
              </a:ext>
            </a:extLst>
          </p:cNvPr>
          <p:cNvSpPr/>
          <p:nvPr/>
        </p:nvSpPr>
        <p:spPr>
          <a:xfrm>
            <a:off x="1254252" y="2164577"/>
            <a:ext cx="1051560" cy="274320"/>
          </a:xfrm>
          <a:prstGeom prst="rect">
            <a:avLst/>
          </a:prstGeom>
          <a:noFill/>
          <a:ln/>
        </p:spPr>
        <p:txBody>
          <a:bodyPr wrap="square" lIns="0" tIns="0" rIns="0" bIns="0" rtlCol="0" anchor="ctr"/>
          <a:lstStyle/>
          <a:p>
            <a:pPr marL="0" indent="0" algn="ctr">
              <a:buNone/>
            </a:pPr>
            <a:r>
              <a:rPr lang="en-US" sz="1000" b="1" dirty="0">
                <a:solidFill>
                  <a:srgbClr val="FFFFFF"/>
                </a:solidFill>
              </a:rPr>
              <a:t>Value</a:t>
            </a:r>
            <a:endParaRPr lang="en-US" sz="1000" dirty="0"/>
          </a:p>
        </p:txBody>
      </p:sp>
      <p:sp>
        <p:nvSpPr>
          <p:cNvPr id="12" name="Shape 17">
            <a:extLst>
              <a:ext uri="{FF2B5EF4-FFF2-40B4-BE49-F238E27FC236}">
                <a16:creationId xmlns:a16="http://schemas.microsoft.com/office/drawing/2014/main" id="{450F361C-9722-023A-09C3-7F483B0F16ED}"/>
              </a:ext>
            </a:extLst>
          </p:cNvPr>
          <p:cNvSpPr/>
          <p:nvPr/>
        </p:nvSpPr>
        <p:spPr>
          <a:xfrm>
            <a:off x="2305812" y="2164577"/>
            <a:ext cx="2350008" cy="274320"/>
          </a:xfrm>
          <a:prstGeom prst="rect">
            <a:avLst/>
          </a:prstGeom>
          <a:solidFill>
            <a:srgbClr val="0A7C8C"/>
          </a:solidFill>
          <a:ln w="12700">
            <a:solidFill>
              <a:srgbClr val="0A7C8C"/>
            </a:solidFill>
            <a:prstDash val="solid"/>
          </a:ln>
        </p:spPr>
        <p:txBody>
          <a:bodyPr/>
          <a:lstStyle/>
          <a:p>
            <a:endParaRPr lang="en-GB"/>
          </a:p>
        </p:txBody>
      </p:sp>
      <p:sp>
        <p:nvSpPr>
          <p:cNvPr id="15" name="Text 18">
            <a:extLst>
              <a:ext uri="{FF2B5EF4-FFF2-40B4-BE49-F238E27FC236}">
                <a16:creationId xmlns:a16="http://schemas.microsoft.com/office/drawing/2014/main" id="{D3DB73C8-3D13-D6AD-A905-45EE24B68ED6}"/>
              </a:ext>
            </a:extLst>
          </p:cNvPr>
          <p:cNvSpPr/>
          <p:nvPr/>
        </p:nvSpPr>
        <p:spPr>
          <a:xfrm>
            <a:off x="2305812" y="2164577"/>
            <a:ext cx="2350008" cy="274320"/>
          </a:xfrm>
          <a:prstGeom prst="rect">
            <a:avLst/>
          </a:prstGeom>
          <a:noFill/>
          <a:ln/>
        </p:spPr>
        <p:txBody>
          <a:bodyPr wrap="square" lIns="0" tIns="0" rIns="0" bIns="0" rtlCol="0" anchor="ctr"/>
          <a:lstStyle/>
          <a:p>
            <a:pPr marL="0" indent="0" algn="ctr">
              <a:buNone/>
            </a:pPr>
            <a:r>
              <a:rPr lang="en-US" sz="1000" b="1" dirty="0">
                <a:solidFill>
                  <a:srgbClr val="FFFFFF"/>
                </a:solidFill>
              </a:rPr>
              <a:t>Description</a:t>
            </a:r>
            <a:endParaRPr lang="en-US" sz="1000" dirty="0"/>
          </a:p>
        </p:txBody>
      </p:sp>
      <p:sp>
        <p:nvSpPr>
          <p:cNvPr id="16" name="Shape 19">
            <a:extLst>
              <a:ext uri="{FF2B5EF4-FFF2-40B4-BE49-F238E27FC236}">
                <a16:creationId xmlns:a16="http://schemas.microsoft.com/office/drawing/2014/main" id="{906E954A-8FE4-8C93-7A31-1FBBC34CEE66}"/>
              </a:ext>
            </a:extLst>
          </p:cNvPr>
          <p:cNvSpPr/>
          <p:nvPr/>
        </p:nvSpPr>
        <p:spPr>
          <a:xfrm>
            <a:off x="294132" y="2438897"/>
            <a:ext cx="960120" cy="333756"/>
          </a:xfrm>
          <a:prstGeom prst="rect">
            <a:avLst/>
          </a:prstGeom>
          <a:solidFill>
            <a:srgbClr val="FFFFFF"/>
          </a:solidFill>
          <a:ln w="5080">
            <a:solidFill>
              <a:srgbClr val="D0E8EC"/>
            </a:solidFill>
            <a:prstDash val="solid"/>
          </a:ln>
        </p:spPr>
        <p:txBody>
          <a:bodyPr/>
          <a:lstStyle/>
          <a:p>
            <a:endParaRPr lang="en-GB"/>
          </a:p>
        </p:txBody>
      </p:sp>
      <p:sp>
        <p:nvSpPr>
          <p:cNvPr id="17" name="Text 20">
            <a:extLst>
              <a:ext uri="{FF2B5EF4-FFF2-40B4-BE49-F238E27FC236}">
                <a16:creationId xmlns:a16="http://schemas.microsoft.com/office/drawing/2014/main" id="{1962A043-0480-38F0-7F34-14D6E1388C49}"/>
              </a:ext>
            </a:extLst>
          </p:cNvPr>
          <p:cNvSpPr/>
          <p:nvPr/>
        </p:nvSpPr>
        <p:spPr>
          <a:xfrm>
            <a:off x="339852" y="2438897"/>
            <a:ext cx="868680" cy="333756"/>
          </a:xfrm>
          <a:prstGeom prst="rect">
            <a:avLst/>
          </a:prstGeom>
          <a:noFill/>
          <a:ln/>
        </p:spPr>
        <p:txBody>
          <a:bodyPr wrap="square" lIns="0" tIns="0" rIns="0" bIns="0" rtlCol="0" anchor="ctr"/>
          <a:lstStyle/>
          <a:p>
            <a:pPr marL="0" indent="0">
              <a:buNone/>
            </a:pPr>
            <a:endParaRPr lang="en-US" sz="1050" baseline="-25000" dirty="0"/>
          </a:p>
        </p:txBody>
      </p:sp>
      <p:sp>
        <p:nvSpPr>
          <p:cNvPr id="18" name="Shape 21">
            <a:extLst>
              <a:ext uri="{FF2B5EF4-FFF2-40B4-BE49-F238E27FC236}">
                <a16:creationId xmlns:a16="http://schemas.microsoft.com/office/drawing/2014/main" id="{61830488-E022-9B45-F4E6-E31A7BF6FBAF}"/>
              </a:ext>
            </a:extLst>
          </p:cNvPr>
          <p:cNvSpPr/>
          <p:nvPr/>
        </p:nvSpPr>
        <p:spPr>
          <a:xfrm>
            <a:off x="1254252" y="2438897"/>
            <a:ext cx="1051560" cy="333756"/>
          </a:xfrm>
          <a:prstGeom prst="rect">
            <a:avLst/>
          </a:prstGeom>
          <a:solidFill>
            <a:srgbClr val="FFFFFF"/>
          </a:solidFill>
          <a:ln w="5080">
            <a:solidFill>
              <a:srgbClr val="D0E8EC"/>
            </a:solidFill>
            <a:prstDash val="solid"/>
          </a:ln>
        </p:spPr>
        <p:txBody>
          <a:bodyPr/>
          <a:lstStyle/>
          <a:p>
            <a:endParaRPr lang="en-GB"/>
          </a:p>
        </p:txBody>
      </p:sp>
      <p:sp>
        <p:nvSpPr>
          <p:cNvPr id="19" name="Text 22">
            <a:extLst>
              <a:ext uri="{FF2B5EF4-FFF2-40B4-BE49-F238E27FC236}">
                <a16:creationId xmlns:a16="http://schemas.microsoft.com/office/drawing/2014/main" id="{4BB5630F-16D4-BC19-C565-FB31C923484B}"/>
              </a:ext>
            </a:extLst>
          </p:cNvPr>
          <p:cNvSpPr/>
          <p:nvPr/>
        </p:nvSpPr>
        <p:spPr>
          <a:xfrm>
            <a:off x="1299972" y="2438897"/>
            <a:ext cx="960120" cy="333756"/>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cs typeface="Calibri" pitchFamily="34" charset="-120"/>
              </a:rPr>
              <a:t>1.7 cm</a:t>
            </a:r>
            <a:endParaRPr lang="en-US" sz="1000" dirty="0"/>
          </a:p>
        </p:txBody>
      </p:sp>
      <p:sp>
        <p:nvSpPr>
          <p:cNvPr id="20" name="Shape 23">
            <a:extLst>
              <a:ext uri="{FF2B5EF4-FFF2-40B4-BE49-F238E27FC236}">
                <a16:creationId xmlns:a16="http://schemas.microsoft.com/office/drawing/2014/main" id="{1FDDA5BA-2E9F-58BF-F9F8-82B78DB6D173}"/>
              </a:ext>
            </a:extLst>
          </p:cNvPr>
          <p:cNvSpPr/>
          <p:nvPr/>
        </p:nvSpPr>
        <p:spPr>
          <a:xfrm>
            <a:off x="2305812" y="2438897"/>
            <a:ext cx="2350008" cy="333756"/>
          </a:xfrm>
          <a:prstGeom prst="rect">
            <a:avLst/>
          </a:prstGeom>
          <a:solidFill>
            <a:srgbClr val="FFFFFF"/>
          </a:solidFill>
          <a:ln w="5080">
            <a:solidFill>
              <a:srgbClr val="D0E8EC"/>
            </a:solidFill>
            <a:prstDash val="solid"/>
          </a:ln>
        </p:spPr>
        <p:txBody>
          <a:bodyPr/>
          <a:lstStyle/>
          <a:p>
            <a:endParaRPr lang="en-GB"/>
          </a:p>
        </p:txBody>
      </p:sp>
      <p:sp>
        <p:nvSpPr>
          <p:cNvPr id="21" name="Text 24">
            <a:extLst>
              <a:ext uri="{FF2B5EF4-FFF2-40B4-BE49-F238E27FC236}">
                <a16:creationId xmlns:a16="http://schemas.microsoft.com/office/drawing/2014/main" id="{6C0AE973-E1E3-9DC4-7384-1EFCACC89E9F}"/>
              </a:ext>
            </a:extLst>
          </p:cNvPr>
          <p:cNvSpPr/>
          <p:nvPr/>
        </p:nvSpPr>
        <p:spPr>
          <a:xfrm>
            <a:off x="2351532" y="2438897"/>
            <a:ext cx="2258568" cy="333756"/>
          </a:xfrm>
          <a:prstGeom prst="rect">
            <a:avLst/>
          </a:prstGeom>
          <a:noFill/>
          <a:ln/>
        </p:spPr>
        <p:txBody>
          <a:bodyPr wrap="square" lIns="0" tIns="0" rIns="0" bIns="0" rtlCol="0" anchor="ctr"/>
          <a:lstStyle/>
          <a:p>
            <a:pPr marL="0" indent="0">
              <a:buNone/>
            </a:pPr>
            <a:r>
              <a:rPr lang="en-US" sz="1000" dirty="0" err="1">
                <a:solidFill>
                  <a:srgbClr val="1A2B3C"/>
                </a:solidFill>
                <a:latin typeface="Calibri" pitchFamily="34" charset="0"/>
                <a:ea typeface="Calibri" pitchFamily="34" charset="-122"/>
                <a:cs typeface="Calibri" pitchFamily="34" charset="-120"/>
              </a:rPr>
              <a:t>Undilated</a:t>
            </a:r>
            <a:r>
              <a:rPr lang="en-US" sz="1000" dirty="0">
                <a:solidFill>
                  <a:srgbClr val="1A2B3C"/>
                </a:solidFill>
                <a:latin typeface="Calibri" pitchFamily="34" charset="0"/>
                <a:ea typeface="Calibri" pitchFamily="34" charset="-122"/>
                <a:cs typeface="Calibri" pitchFamily="34" charset="-120"/>
              </a:rPr>
              <a:t> artery diameter</a:t>
            </a:r>
            <a:endParaRPr lang="en-US" sz="1000" dirty="0"/>
          </a:p>
        </p:txBody>
      </p:sp>
      <p:sp>
        <p:nvSpPr>
          <p:cNvPr id="22" name="Shape 25">
            <a:extLst>
              <a:ext uri="{FF2B5EF4-FFF2-40B4-BE49-F238E27FC236}">
                <a16:creationId xmlns:a16="http://schemas.microsoft.com/office/drawing/2014/main" id="{0460D3C3-CA8C-18CF-917C-8E0A0B2E58CD}"/>
              </a:ext>
            </a:extLst>
          </p:cNvPr>
          <p:cNvSpPr/>
          <p:nvPr/>
        </p:nvSpPr>
        <p:spPr>
          <a:xfrm>
            <a:off x="294132" y="2772653"/>
            <a:ext cx="960120" cy="333756"/>
          </a:xfrm>
          <a:prstGeom prst="rect">
            <a:avLst/>
          </a:prstGeom>
          <a:solidFill>
            <a:srgbClr val="E8F5F7"/>
          </a:solidFill>
          <a:ln w="5080">
            <a:solidFill>
              <a:srgbClr val="D0E8EC"/>
            </a:solidFill>
            <a:prstDash val="solid"/>
          </a:ln>
        </p:spPr>
        <p:txBody>
          <a:bodyPr/>
          <a:lstStyle/>
          <a:p>
            <a:endParaRPr lang="en-GB"/>
          </a:p>
        </p:txBody>
      </p:sp>
      <p:sp>
        <p:nvSpPr>
          <p:cNvPr id="23" name="Text 26">
            <a:extLst>
              <a:ext uri="{FF2B5EF4-FFF2-40B4-BE49-F238E27FC236}">
                <a16:creationId xmlns:a16="http://schemas.microsoft.com/office/drawing/2014/main" id="{036610FE-8B03-5107-803C-40E9B6026EA0}"/>
              </a:ext>
            </a:extLst>
          </p:cNvPr>
          <p:cNvSpPr/>
          <p:nvPr/>
        </p:nvSpPr>
        <p:spPr>
          <a:xfrm>
            <a:off x="339852" y="2772653"/>
            <a:ext cx="868680" cy="333756"/>
          </a:xfrm>
          <a:prstGeom prst="rect">
            <a:avLst/>
          </a:prstGeom>
          <a:noFill/>
          <a:ln/>
        </p:spPr>
        <p:txBody>
          <a:bodyPr wrap="square" lIns="0" tIns="0" rIns="0" bIns="0" rtlCol="0" anchor="ctr"/>
          <a:lstStyle/>
          <a:p>
            <a:pPr marL="0" indent="0">
              <a:buNone/>
            </a:pPr>
            <a:r>
              <a:rPr lang="en-US" sz="1050" b="1" dirty="0" err="1">
                <a:solidFill>
                  <a:srgbClr val="0D1B3E"/>
                </a:solidFill>
                <a:latin typeface="Cambria Math" pitchFamily="34" charset="0"/>
                <a:ea typeface="Cambria Math" pitchFamily="34" charset="-122"/>
              </a:rPr>
              <a:t>Wa</a:t>
            </a:r>
            <a:endParaRPr lang="en-US" sz="1050" dirty="0"/>
          </a:p>
        </p:txBody>
      </p:sp>
      <p:sp>
        <p:nvSpPr>
          <p:cNvPr id="24" name="Shape 27">
            <a:extLst>
              <a:ext uri="{FF2B5EF4-FFF2-40B4-BE49-F238E27FC236}">
                <a16:creationId xmlns:a16="http://schemas.microsoft.com/office/drawing/2014/main" id="{CF4A6AF7-C809-24AF-E6C6-2BDC35A45E70}"/>
              </a:ext>
            </a:extLst>
          </p:cNvPr>
          <p:cNvSpPr/>
          <p:nvPr/>
        </p:nvSpPr>
        <p:spPr>
          <a:xfrm>
            <a:off x="1254252" y="2772653"/>
            <a:ext cx="1051560" cy="333756"/>
          </a:xfrm>
          <a:prstGeom prst="rect">
            <a:avLst/>
          </a:prstGeom>
          <a:solidFill>
            <a:srgbClr val="E8F5F7"/>
          </a:solidFill>
          <a:ln w="5080">
            <a:solidFill>
              <a:srgbClr val="D0E8EC"/>
            </a:solidFill>
            <a:prstDash val="solid"/>
          </a:ln>
        </p:spPr>
        <p:txBody>
          <a:bodyPr/>
          <a:lstStyle/>
          <a:p>
            <a:endParaRPr lang="en-GB"/>
          </a:p>
        </p:txBody>
      </p:sp>
      <p:sp>
        <p:nvSpPr>
          <p:cNvPr id="25" name="Text 28">
            <a:extLst>
              <a:ext uri="{FF2B5EF4-FFF2-40B4-BE49-F238E27FC236}">
                <a16:creationId xmlns:a16="http://schemas.microsoft.com/office/drawing/2014/main" id="{4CA8A3F5-685A-69FD-6CDD-47BB9502DB09}"/>
              </a:ext>
            </a:extLst>
          </p:cNvPr>
          <p:cNvSpPr/>
          <p:nvPr/>
        </p:nvSpPr>
        <p:spPr>
          <a:xfrm>
            <a:off x="1299972" y="2772653"/>
            <a:ext cx="960120" cy="333756"/>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0.5 * Da</a:t>
            </a:r>
            <a:endParaRPr lang="en-US" sz="1000" dirty="0"/>
          </a:p>
        </p:txBody>
      </p:sp>
      <p:sp>
        <p:nvSpPr>
          <p:cNvPr id="26" name="Shape 29">
            <a:extLst>
              <a:ext uri="{FF2B5EF4-FFF2-40B4-BE49-F238E27FC236}">
                <a16:creationId xmlns:a16="http://schemas.microsoft.com/office/drawing/2014/main" id="{9F83F84A-3FF7-53B7-09F5-69428B8C5DDD}"/>
              </a:ext>
            </a:extLst>
          </p:cNvPr>
          <p:cNvSpPr/>
          <p:nvPr/>
        </p:nvSpPr>
        <p:spPr>
          <a:xfrm>
            <a:off x="2305812" y="2772653"/>
            <a:ext cx="2350008" cy="333756"/>
          </a:xfrm>
          <a:prstGeom prst="rect">
            <a:avLst/>
          </a:prstGeom>
          <a:solidFill>
            <a:srgbClr val="E8F5F7"/>
          </a:solidFill>
          <a:ln w="5080">
            <a:solidFill>
              <a:srgbClr val="D0E8EC"/>
            </a:solidFill>
            <a:prstDash val="solid"/>
          </a:ln>
        </p:spPr>
        <p:txBody>
          <a:bodyPr/>
          <a:lstStyle/>
          <a:p>
            <a:endParaRPr lang="en-GB"/>
          </a:p>
        </p:txBody>
      </p:sp>
      <p:sp>
        <p:nvSpPr>
          <p:cNvPr id="27" name="Text 30">
            <a:extLst>
              <a:ext uri="{FF2B5EF4-FFF2-40B4-BE49-F238E27FC236}">
                <a16:creationId xmlns:a16="http://schemas.microsoft.com/office/drawing/2014/main" id="{C863BC21-7B4D-3F47-E8D5-2F5358E3CD0E}"/>
              </a:ext>
            </a:extLst>
          </p:cNvPr>
          <p:cNvSpPr/>
          <p:nvPr/>
        </p:nvSpPr>
        <p:spPr>
          <a:xfrm>
            <a:off x="2351532" y="2772653"/>
            <a:ext cx="2258568" cy="333756"/>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cs typeface="Calibri" pitchFamily="34" charset="-120"/>
              </a:rPr>
              <a:t>Width of pathological portion of AAA</a:t>
            </a:r>
            <a:endParaRPr lang="en-US" sz="1000" dirty="0"/>
          </a:p>
        </p:txBody>
      </p:sp>
      <p:sp>
        <p:nvSpPr>
          <p:cNvPr id="28" name="Shape 31">
            <a:extLst>
              <a:ext uri="{FF2B5EF4-FFF2-40B4-BE49-F238E27FC236}">
                <a16:creationId xmlns:a16="http://schemas.microsoft.com/office/drawing/2014/main" id="{0644603B-B349-D7B6-2C76-6E818175FDF5}"/>
              </a:ext>
            </a:extLst>
          </p:cNvPr>
          <p:cNvSpPr/>
          <p:nvPr/>
        </p:nvSpPr>
        <p:spPr>
          <a:xfrm>
            <a:off x="294132" y="3106409"/>
            <a:ext cx="960120" cy="333756"/>
          </a:xfrm>
          <a:prstGeom prst="rect">
            <a:avLst/>
          </a:prstGeom>
          <a:solidFill>
            <a:srgbClr val="FFFFFF"/>
          </a:solidFill>
          <a:ln w="5080">
            <a:solidFill>
              <a:srgbClr val="D0E8EC"/>
            </a:solidFill>
            <a:prstDash val="solid"/>
          </a:ln>
        </p:spPr>
        <p:txBody>
          <a:bodyPr/>
          <a:lstStyle/>
          <a:p>
            <a:endParaRPr lang="en-GB" dirty="0"/>
          </a:p>
        </p:txBody>
      </p:sp>
      <p:sp>
        <p:nvSpPr>
          <p:cNvPr id="29" name="Text 32">
            <a:extLst>
              <a:ext uri="{FF2B5EF4-FFF2-40B4-BE49-F238E27FC236}">
                <a16:creationId xmlns:a16="http://schemas.microsoft.com/office/drawing/2014/main" id="{3EBFFB37-F3B6-F5C3-4B12-8107286DBB4C}"/>
              </a:ext>
            </a:extLst>
          </p:cNvPr>
          <p:cNvSpPr/>
          <p:nvPr/>
        </p:nvSpPr>
        <p:spPr>
          <a:xfrm>
            <a:off x="339852" y="3106409"/>
            <a:ext cx="868680" cy="333756"/>
          </a:xfrm>
          <a:prstGeom prst="rect">
            <a:avLst/>
          </a:prstGeom>
          <a:noFill/>
          <a:ln/>
        </p:spPr>
        <p:txBody>
          <a:bodyPr wrap="square" lIns="0" tIns="0" rIns="0" bIns="0" rtlCol="0" anchor="ctr"/>
          <a:lstStyle/>
          <a:p>
            <a:pPr marL="0" indent="0">
              <a:buNone/>
            </a:pPr>
            <a:endParaRPr lang="en-US" sz="1050" baseline="-25000" dirty="0"/>
          </a:p>
        </p:txBody>
      </p:sp>
      <p:sp>
        <p:nvSpPr>
          <p:cNvPr id="30" name="Shape 33">
            <a:extLst>
              <a:ext uri="{FF2B5EF4-FFF2-40B4-BE49-F238E27FC236}">
                <a16:creationId xmlns:a16="http://schemas.microsoft.com/office/drawing/2014/main" id="{41281791-875B-4CC1-7E56-EDDE1CAE5485}"/>
              </a:ext>
            </a:extLst>
          </p:cNvPr>
          <p:cNvSpPr/>
          <p:nvPr/>
        </p:nvSpPr>
        <p:spPr>
          <a:xfrm>
            <a:off x="1254252" y="3106409"/>
            <a:ext cx="1051560" cy="333756"/>
          </a:xfrm>
          <a:prstGeom prst="rect">
            <a:avLst/>
          </a:prstGeom>
          <a:solidFill>
            <a:srgbClr val="FFFFFF"/>
          </a:solidFill>
          <a:ln w="5080">
            <a:solidFill>
              <a:srgbClr val="D0E8EC"/>
            </a:solidFill>
            <a:prstDash val="solid"/>
          </a:ln>
        </p:spPr>
        <p:txBody>
          <a:bodyPr/>
          <a:lstStyle/>
          <a:p>
            <a:endParaRPr lang="en-GB"/>
          </a:p>
        </p:txBody>
      </p:sp>
      <p:sp>
        <p:nvSpPr>
          <p:cNvPr id="31" name="Text 34">
            <a:extLst>
              <a:ext uri="{FF2B5EF4-FFF2-40B4-BE49-F238E27FC236}">
                <a16:creationId xmlns:a16="http://schemas.microsoft.com/office/drawing/2014/main" id="{6061F82E-3D94-19FC-E6CC-BD930B76B764}"/>
              </a:ext>
            </a:extLst>
          </p:cNvPr>
          <p:cNvSpPr/>
          <p:nvPr/>
        </p:nvSpPr>
        <p:spPr>
          <a:xfrm>
            <a:off x="1299972" y="3106409"/>
            <a:ext cx="960120" cy="333756"/>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cs typeface="Calibri" pitchFamily="34" charset="-120"/>
              </a:rPr>
              <a:t>0.5 * Da</a:t>
            </a:r>
            <a:endParaRPr lang="en-US" sz="1000" dirty="0"/>
          </a:p>
        </p:txBody>
      </p:sp>
      <p:sp>
        <p:nvSpPr>
          <p:cNvPr id="32" name="Shape 35">
            <a:extLst>
              <a:ext uri="{FF2B5EF4-FFF2-40B4-BE49-F238E27FC236}">
                <a16:creationId xmlns:a16="http://schemas.microsoft.com/office/drawing/2014/main" id="{4A884649-27FB-8120-5BE7-D8A1EDB74379}"/>
              </a:ext>
            </a:extLst>
          </p:cNvPr>
          <p:cNvSpPr/>
          <p:nvPr/>
        </p:nvSpPr>
        <p:spPr>
          <a:xfrm>
            <a:off x="2305812" y="3106409"/>
            <a:ext cx="2350008" cy="333756"/>
          </a:xfrm>
          <a:prstGeom prst="rect">
            <a:avLst/>
          </a:prstGeom>
          <a:solidFill>
            <a:srgbClr val="FFFFFF"/>
          </a:solidFill>
          <a:ln w="5080">
            <a:solidFill>
              <a:srgbClr val="D0E8EC"/>
            </a:solidFill>
            <a:prstDash val="solid"/>
          </a:ln>
        </p:spPr>
        <p:txBody>
          <a:bodyPr/>
          <a:lstStyle/>
          <a:p>
            <a:endParaRPr lang="en-GB"/>
          </a:p>
        </p:txBody>
      </p:sp>
      <p:sp>
        <p:nvSpPr>
          <p:cNvPr id="33" name="Text 36">
            <a:extLst>
              <a:ext uri="{FF2B5EF4-FFF2-40B4-BE49-F238E27FC236}">
                <a16:creationId xmlns:a16="http://schemas.microsoft.com/office/drawing/2014/main" id="{34EB7032-1221-BBD4-4E05-28F7BD5F2083}"/>
              </a:ext>
            </a:extLst>
          </p:cNvPr>
          <p:cNvSpPr/>
          <p:nvPr/>
        </p:nvSpPr>
        <p:spPr>
          <a:xfrm>
            <a:off x="2351532" y="3106409"/>
            <a:ext cx="2258568" cy="333756"/>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Dilation of </a:t>
            </a:r>
            <a:r>
              <a:rPr lang="en-US" sz="1000" dirty="0" err="1">
                <a:solidFill>
                  <a:srgbClr val="1A2B3C"/>
                </a:solidFill>
                <a:latin typeface="Calibri" pitchFamily="34" charset="0"/>
                <a:ea typeface="Calibri" pitchFamily="34" charset="-122"/>
                <a:cs typeface="Calibri" pitchFamily="34" charset="-120"/>
              </a:rPr>
              <a:t>aneursym</a:t>
            </a:r>
            <a:endParaRPr lang="en-US" sz="1000" dirty="0"/>
          </a:p>
        </p:txBody>
      </p:sp>
      <p:sp>
        <p:nvSpPr>
          <p:cNvPr id="34" name="Shape 37">
            <a:extLst>
              <a:ext uri="{FF2B5EF4-FFF2-40B4-BE49-F238E27FC236}">
                <a16:creationId xmlns:a16="http://schemas.microsoft.com/office/drawing/2014/main" id="{82D32C41-B136-23FE-ACC0-2C640701515B}"/>
              </a:ext>
            </a:extLst>
          </p:cNvPr>
          <p:cNvSpPr/>
          <p:nvPr/>
        </p:nvSpPr>
        <p:spPr>
          <a:xfrm>
            <a:off x="294132" y="3440165"/>
            <a:ext cx="960120" cy="333756"/>
          </a:xfrm>
          <a:prstGeom prst="rect">
            <a:avLst/>
          </a:prstGeom>
          <a:solidFill>
            <a:srgbClr val="E8F5F7"/>
          </a:solidFill>
          <a:ln w="5080">
            <a:solidFill>
              <a:srgbClr val="D0E8EC"/>
            </a:solidFill>
            <a:prstDash val="solid"/>
          </a:ln>
        </p:spPr>
        <p:txBody>
          <a:bodyPr/>
          <a:lstStyle/>
          <a:p>
            <a:endParaRPr lang="en-GB" dirty="0"/>
          </a:p>
        </p:txBody>
      </p:sp>
      <p:sp>
        <p:nvSpPr>
          <p:cNvPr id="35" name="Text 38">
            <a:extLst>
              <a:ext uri="{FF2B5EF4-FFF2-40B4-BE49-F238E27FC236}">
                <a16:creationId xmlns:a16="http://schemas.microsoft.com/office/drawing/2014/main" id="{0A58CE8D-3000-85B2-A7F4-FA481764EF8F}"/>
              </a:ext>
            </a:extLst>
          </p:cNvPr>
          <p:cNvSpPr/>
          <p:nvPr/>
        </p:nvSpPr>
        <p:spPr>
          <a:xfrm>
            <a:off x="339852" y="3440165"/>
            <a:ext cx="868680" cy="333756"/>
          </a:xfrm>
          <a:prstGeom prst="rect">
            <a:avLst/>
          </a:prstGeom>
          <a:noFill/>
          <a:ln/>
        </p:spPr>
        <p:txBody>
          <a:bodyPr wrap="square" lIns="0" tIns="0" rIns="0" bIns="0" rtlCol="0" anchor="ctr"/>
          <a:lstStyle/>
          <a:p>
            <a:pPr marL="0" indent="0">
              <a:buNone/>
            </a:pPr>
            <a:endParaRPr lang="en-US" sz="1050" baseline="-25000" dirty="0"/>
          </a:p>
        </p:txBody>
      </p:sp>
      <p:sp>
        <p:nvSpPr>
          <p:cNvPr id="36" name="Shape 39">
            <a:extLst>
              <a:ext uri="{FF2B5EF4-FFF2-40B4-BE49-F238E27FC236}">
                <a16:creationId xmlns:a16="http://schemas.microsoft.com/office/drawing/2014/main" id="{59593B20-6AF9-DB98-AC44-99691D51808E}"/>
              </a:ext>
            </a:extLst>
          </p:cNvPr>
          <p:cNvSpPr/>
          <p:nvPr/>
        </p:nvSpPr>
        <p:spPr>
          <a:xfrm>
            <a:off x="1254252" y="3440165"/>
            <a:ext cx="1051560" cy="333756"/>
          </a:xfrm>
          <a:prstGeom prst="rect">
            <a:avLst/>
          </a:prstGeom>
          <a:solidFill>
            <a:srgbClr val="E8F5F7"/>
          </a:solidFill>
          <a:ln w="5080">
            <a:solidFill>
              <a:srgbClr val="D0E8EC"/>
            </a:solidFill>
            <a:prstDash val="solid"/>
          </a:ln>
        </p:spPr>
        <p:txBody>
          <a:bodyPr/>
          <a:lstStyle/>
          <a:p>
            <a:endParaRPr lang="en-GB"/>
          </a:p>
        </p:txBody>
      </p:sp>
      <p:sp>
        <p:nvSpPr>
          <p:cNvPr id="37" name="Text 40">
            <a:extLst>
              <a:ext uri="{FF2B5EF4-FFF2-40B4-BE49-F238E27FC236}">
                <a16:creationId xmlns:a16="http://schemas.microsoft.com/office/drawing/2014/main" id="{C8352154-FA3D-4B0B-0183-F5DA4C0C1C8E}"/>
              </a:ext>
            </a:extLst>
          </p:cNvPr>
          <p:cNvSpPr/>
          <p:nvPr/>
        </p:nvSpPr>
        <p:spPr>
          <a:xfrm>
            <a:off x="1299972" y="3440165"/>
            <a:ext cx="960120" cy="333756"/>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cs typeface="Calibri" pitchFamily="34" charset="-120"/>
              </a:rPr>
              <a:t>264</a:t>
            </a:r>
            <a:endParaRPr lang="en-US" sz="1000" dirty="0"/>
          </a:p>
        </p:txBody>
      </p:sp>
      <p:sp>
        <p:nvSpPr>
          <p:cNvPr id="38" name="Shape 41">
            <a:extLst>
              <a:ext uri="{FF2B5EF4-FFF2-40B4-BE49-F238E27FC236}">
                <a16:creationId xmlns:a16="http://schemas.microsoft.com/office/drawing/2014/main" id="{4292725A-0EF0-0525-F4A5-845E79315144}"/>
              </a:ext>
            </a:extLst>
          </p:cNvPr>
          <p:cNvSpPr/>
          <p:nvPr/>
        </p:nvSpPr>
        <p:spPr>
          <a:xfrm>
            <a:off x="2305812" y="3440165"/>
            <a:ext cx="2350008" cy="333756"/>
          </a:xfrm>
          <a:prstGeom prst="rect">
            <a:avLst/>
          </a:prstGeom>
          <a:solidFill>
            <a:srgbClr val="E8F5F7"/>
          </a:solidFill>
          <a:ln w="5080">
            <a:solidFill>
              <a:srgbClr val="D0E8EC"/>
            </a:solidFill>
            <a:prstDash val="solid"/>
          </a:ln>
        </p:spPr>
        <p:txBody>
          <a:bodyPr/>
          <a:lstStyle/>
          <a:p>
            <a:endParaRPr lang="en-GB"/>
          </a:p>
        </p:txBody>
      </p:sp>
      <p:sp>
        <p:nvSpPr>
          <p:cNvPr id="40" name="Shape 43">
            <a:extLst>
              <a:ext uri="{FF2B5EF4-FFF2-40B4-BE49-F238E27FC236}">
                <a16:creationId xmlns:a16="http://schemas.microsoft.com/office/drawing/2014/main" id="{95880DC2-DF66-39AC-E14F-C3B1822842C1}"/>
              </a:ext>
            </a:extLst>
          </p:cNvPr>
          <p:cNvSpPr/>
          <p:nvPr/>
        </p:nvSpPr>
        <p:spPr>
          <a:xfrm>
            <a:off x="294132" y="3773921"/>
            <a:ext cx="960120" cy="333756"/>
          </a:xfrm>
          <a:prstGeom prst="rect">
            <a:avLst/>
          </a:prstGeom>
          <a:solidFill>
            <a:srgbClr val="FFFFFF"/>
          </a:solidFill>
          <a:ln w="5080">
            <a:solidFill>
              <a:srgbClr val="D0E8EC"/>
            </a:solidFill>
            <a:prstDash val="solid"/>
          </a:ln>
        </p:spPr>
        <p:txBody>
          <a:bodyPr/>
          <a:lstStyle/>
          <a:p>
            <a:endParaRPr lang="en-GB"/>
          </a:p>
        </p:txBody>
      </p:sp>
      <p:sp>
        <p:nvSpPr>
          <p:cNvPr id="41" name="Text 44">
            <a:extLst>
              <a:ext uri="{FF2B5EF4-FFF2-40B4-BE49-F238E27FC236}">
                <a16:creationId xmlns:a16="http://schemas.microsoft.com/office/drawing/2014/main" id="{13747077-9C0B-CBCD-2EBA-ABEF8747F337}"/>
              </a:ext>
            </a:extLst>
          </p:cNvPr>
          <p:cNvSpPr/>
          <p:nvPr/>
        </p:nvSpPr>
        <p:spPr>
          <a:xfrm>
            <a:off x="339852" y="3773921"/>
            <a:ext cx="868680" cy="333756"/>
          </a:xfrm>
          <a:prstGeom prst="rect">
            <a:avLst/>
          </a:prstGeom>
          <a:noFill/>
          <a:ln/>
        </p:spPr>
        <p:txBody>
          <a:bodyPr wrap="square" lIns="0" tIns="0" rIns="0" bIns="0" rtlCol="0" anchor="ctr"/>
          <a:lstStyle/>
          <a:p>
            <a:pPr marL="0" indent="0">
              <a:buNone/>
            </a:pPr>
            <a:r>
              <a:rPr lang="en-US" sz="1050" b="1" dirty="0" err="1">
                <a:solidFill>
                  <a:srgbClr val="0D1B3E"/>
                </a:solidFill>
                <a:latin typeface="Cambria Math" pitchFamily="34" charset="0"/>
                <a:ea typeface="Cambria Math" pitchFamily="34" charset="-122"/>
              </a:rPr>
              <a:t>X_min</a:t>
            </a:r>
            <a:endParaRPr lang="en-US" sz="1050" dirty="0"/>
          </a:p>
        </p:txBody>
      </p:sp>
      <p:sp>
        <p:nvSpPr>
          <p:cNvPr id="42" name="Shape 45">
            <a:extLst>
              <a:ext uri="{FF2B5EF4-FFF2-40B4-BE49-F238E27FC236}">
                <a16:creationId xmlns:a16="http://schemas.microsoft.com/office/drawing/2014/main" id="{D35652E1-FE13-895D-A8E1-1ABABFBE0C33}"/>
              </a:ext>
            </a:extLst>
          </p:cNvPr>
          <p:cNvSpPr/>
          <p:nvPr/>
        </p:nvSpPr>
        <p:spPr>
          <a:xfrm>
            <a:off x="1254252" y="3773921"/>
            <a:ext cx="1051560" cy="333756"/>
          </a:xfrm>
          <a:prstGeom prst="rect">
            <a:avLst/>
          </a:prstGeom>
          <a:solidFill>
            <a:srgbClr val="FFFFFF"/>
          </a:solidFill>
          <a:ln w="5080">
            <a:solidFill>
              <a:srgbClr val="D0E8EC"/>
            </a:solidFill>
            <a:prstDash val="solid"/>
          </a:ln>
        </p:spPr>
        <p:txBody>
          <a:bodyPr/>
          <a:lstStyle/>
          <a:p>
            <a:endParaRPr lang="en-GB"/>
          </a:p>
        </p:txBody>
      </p:sp>
      <p:sp>
        <p:nvSpPr>
          <p:cNvPr id="43" name="Text 46">
            <a:extLst>
              <a:ext uri="{FF2B5EF4-FFF2-40B4-BE49-F238E27FC236}">
                <a16:creationId xmlns:a16="http://schemas.microsoft.com/office/drawing/2014/main" id="{08D525B6-CC06-ED90-961F-903CCAB4495C}"/>
              </a:ext>
            </a:extLst>
          </p:cNvPr>
          <p:cNvSpPr/>
          <p:nvPr/>
        </p:nvSpPr>
        <p:spPr>
          <a:xfrm>
            <a:off x="1299972" y="3773921"/>
            <a:ext cx="960120" cy="333756"/>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cs typeface="Calibri" pitchFamily="34" charset="-120"/>
              </a:rPr>
              <a:t>-10 * Da</a:t>
            </a:r>
            <a:endParaRPr lang="en-US" sz="1000" dirty="0"/>
          </a:p>
        </p:txBody>
      </p:sp>
      <p:sp>
        <p:nvSpPr>
          <p:cNvPr id="44" name="Shape 47">
            <a:extLst>
              <a:ext uri="{FF2B5EF4-FFF2-40B4-BE49-F238E27FC236}">
                <a16:creationId xmlns:a16="http://schemas.microsoft.com/office/drawing/2014/main" id="{3B35D4D7-A075-47C0-CDF6-CB5D783D564F}"/>
              </a:ext>
            </a:extLst>
          </p:cNvPr>
          <p:cNvSpPr/>
          <p:nvPr/>
        </p:nvSpPr>
        <p:spPr>
          <a:xfrm>
            <a:off x="2305812" y="3773921"/>
            <a:ext cx="2350008" cy="333756"/>
          </a:xfrm>
          <a:prstGeom prst="rect">
            <a:avLst/>
          </a:prstGeom>
          <a:solidFill>
            <a:srgbClr val="FFFFFF"/>
          </a:solidFill>
          <a:ln w="5080">
            <a:solidFill>
              <a:srgbClr val="D0E8EC"/>
            </a:solidFill>
            <a:prstDash val="solid"/>
          </a:ln>
        </p:spPr>
        <p:txBody>
          <a:bodyPr/>
          <a:lstStyle/>
          <a:p>
            <a:endParaRPr lang="en-GB"/>
          </a:p>
        </p:txBody>
      </p:sp>
      <p:sp>
        <p:nvSpPr>
          <p:cNvPr id="46" name="Shape 49">
            <a:extLst>
              <a:ext uri="{FF2B5EF4-FFF2-40B4-BE49-F238E27FC236}">
                <a16:creationId xmlns:a16="http://schemas.microsoft.com/office/drawing/2014/main" id="{A6674D88-0E19-F07A-EFDE-62E84E424FA4}"/>
              </a:ext>
            </a:extLst>
          </p:cNvPr>
          <p:cNvSpPr/>
          <p:nvPr/>
        </p:nvSpPr>
        <p:spPr>
          <a:xfrm>
            <a:off x="294132" y="4107677"/>
            <a:ext cx="960120" cy="333756"/>
          </a:xfrm>
          <a:prstGeom prst="rect">
            <a:avLst/>
          </a:prstGeom>
          <a:solidFill>
            <a:srgbClr val="E8F5F7"/>
          </a:solidFill>
          <a:ln w="5080">
            <a:solidFill>
              <a:srgbClr val="D0E8EC"/>
            </a:solidFill>
            <a:prstDash val="solid"/>
          </a:ln>
        </p:spPr>
        <p:txBody>
          <a:bodyPr/>
          <a:lstStyle/>
          <a:p>
            <a:endParaRPr lang="en-GB"/>
          </a:p>
        </p:txBody>
      </p:sp>
      <p:sp>
        <p:nvSpPr>
          <p:cNvPr id="47" name="Text 50">
            <a:extLst>
              <a:ext uri="{FF2B5EF4-FFF2-40B4-BE49-F238E27FC236}">
                <a16:creationId xmlns:a16="http://schemas.microsoft.com/office/drawing/2014/main" id="{5DE410F6-B4AE-CBBC-BB63-EC56506342BB}"/>
              </a:ext>
            </a:extLst>
          </p:cNvPr>
          <p:cNvSpPr/>
          <p:nvPr/>
        </p:nvSpPr>
        <p:spPr>
          <a:xfrm>
            <a:off x="339852" y="4107677"/>
            <a:ext cx="868680" cy="333756"/>
          </a:xfrm>
          <a:prstGeom prst="rect">
            <a:avLst/>
          </a:prstGeom>
          <a:noFill/>
          <a:ln/>
        </p:spPr>
        <p:txBody>
          <a:bodyPr wrap="square" lIns="0" tIns="0" rIns="0" bIns="0" rtlCol="0" anchor="ctr"/>
          <a:lstStyle/>
          <a:p>
            <a:pPr marL="0" indent="0">
              <a:buNone/>
            </a:pPr>
            <a:r>
              <a:rPr lang="en-US" sz="1050" b="1" dirty="0" err="1">
                <a:solidFill>
                  <a:srgbClr val="0D1B3E"/>
                </a:solidFill>
                <a:latin typeface="Cambria Math" pitchFamily="34" charset="0"/>
                <a:ea typeface="Cambria Math" pitchFamily="34" charset="-122"/>
              </a:rPr>
              <a:t>X_max</a:t>
            </a:r>
            <a:endParaRPr lang="en-US" sz="1050" dirty="0"/>
          </a:p>
        </p:txBody>
      </p:sp>
      <p:sp>
        <p:nvSpPr>
          <p:cNvPr id="48" name="Shape 51">
            <a:extLst>
              <a:ext uri="{FF2B5EF4-FFF2-40B4-BE49-F238E27FC236}">
                <a16:creationId xmlns:a16="http://schemas.microsoft.com/office/drawing/2014/main" id="{77A895A6-2E8B-7A0C-E9B8-DE78E00600BA}"/>
              </a:ext>
            </a:extLst>
          </p:cNvPr>
          <p:cNvSpPr/>
          <p:nvPr/>
        </p:nvSpPr>
        <p:spPr>
          <a:xfrm>
            <a:off x="1254252" y="4107677"/>
            <a:ext cx="1051560" cy="333756"/>
          </a:xfrm>
          <a:prstGeom prst="rect">
            <a:avLst/>
          </a:prstGeom>
          <a:solidFill>
            <a:srgbClr val="E8F5F7"/>
          </a:solidFill>
          <a:ln w="5080">
            <a:solidFill>
              <a:srgbClr val="D0E8EC"/>
            </a:solidFill>
            <a:prstDash val="solid"/>
          </a:ln>
        </p:spPr>
        <p:txBody>
          <a:bodyPr/>
          <a:lstStyle/>
          <a:p>
            <a:endParaRPr lang="en-GB"/>
          </a:p>
        </p:txBody>
      </p:sp>
      <p:sp>
        <p:nvSpPr>
          <p:cNvPr id="49" name="Text 52">
            <a:extLst>
              <a:ext uri="{FF2B5EF4-FFF2-40B4-BE49-F238E27FC236}">
                <a16:creationId xmlns:a16="http://schemas.microsoft.com/office/drawing/2014/main" id="{0E44EE6F-27EB-7CF6-A064-7AC561F893FE}"/>
              </a:ext>
            </a:extLst>
          </p:cNvPr>
          <p:cNvSpPr/>
          <p:nvPr/>
        </p:nvSpPr>
        <p:spPr>
          <a:xfrm>
            <a:off x="1299972" y="4107677"/>
            <a:ext cx="960120" cy="333756"/>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cs typeface="Calibri" pitchFamily="34" charset="-120"/>
              </a:rPr>
              <a:t>20 * Da</a:t>
            </a:r>
            <a:endParaRPr lang="en-US" sz="1000" dirty="0"/>
          </a:p>
        </p:txBody>
      </p:sp>
      <p:sp>
        <p:nvSpPr>
          <p:cNvPr id="50" name="Shape 53">
            <a:extLst>
              <a:ext uri="{FF2B5EF4-FFF2-40B4-BE49-F238E27FC236}">
                <a16:creationId xmlns:a16="http://schemas.microsoft.com/office/drawing/2014/main" id="{003BEFCB-DA16-1EF4-A0BE-9A095CA293E5}"/>
              </a:ext>
            </a:extLst>
          </p:cNvPr>
          <p:cNvSpPr/>
          <p:nvPr/>
        </p:nvSpPr>
        <p:spPr>
          <a:xfrm>
            <a:off x="2305812" y="4107677"/>
            <a:ext cx="2350008" cy="333756"/>
          </a:xfrm>
          <a:prstGeom prst="rect">
            <a:avLst/>
          </a:prstGeom>
          <a:solidFill>
            <a:srgbClr val="E8F5F7"/>
          </a:solidFill>
          <a:ln w="5080">
            <a:solidFill>
              <a:srgbClr val="D0E8EC"/>
            </a:solidFill>
            <a:prstDash val="solid"/>
          </a:ln>
        </p:spPr>
        <p:txBody>
          <a:bodyPr/>
          <a:lstStyle/>
          <a:p>
            <a:endParaRPr lang="en-GB"/>
          </a:p>
        </p:txBody>
      </p:sp>
      <mc:AlternateContent xmlns:mc="http://schemas.openxmlformats.org/markup-compatibility/2006" xmlns:a14="http://schemas.microsoft.com/office/drawing/2010/main">
        <mc:Choice Requires="a14">
          <p:sp>
            <p:nvSpPr>
              <p:cNvPr id="56" name="Shape 59">
                <a:extLst>
                  <a:ext uri="{FF2B5EF4-FFF2-40B4-BE49-F238E27FC236}">
                    <a16:creationId xmlns:a16="http://schemas.microsoft.com/office/drawing/2014/main" id="{E603A952-1DF6-83C3-88A0-72E63100C5E1}"/>
                  </a:ext>
                </a:extLst>
              </p:cNvPr>
              <p:cNvSpPr/>
              <p:nvPr/>
            </p:nvSpPr>
            <p:spPr>
              <a:xfrm>
                <a:off x="294132" y="4441432"/>
                <a:ext cx="4361688" cy="533135"/>
              </a:xfrm>
              <a:prstGeom prst="rect">
                <a:avLst/>
              </a:prstGeom>
              <a:solidFill>
                <a:srgbClr val="FFFFFF"/>
              </a:solidFill>
              <a:ln w="5080">
                <a:solidFill>
                  <a:srgbClr val="D0E8EC"/>
                </a:solidFill>
                <a:prstDash val="solid"/>
              </a:ln>
            </p:spPr>
            <p:txBody>
              <a:bodyPr/>
              <a:lstStyle/>
              <a:p>
                <a:pPr/>
                <a14:m>
                  <m:oMathPara xmlns:m="http://schemas.openxmlformats.org/officeDocument/2006/math">
                    <m:oMathParaPr>
                      <m:jc m:val="centerGroup"/>
                    </m:oMathParaPr>
                    <m:oMath xmlns:m="http://schemas.openxmlformats.org/officeDocument/2006/math">
                      <m:r>
                        <a:rPr lang="en-IN" sz="1200" b="0" i="1" smtClean="0">
                          <a:latin typeface="Cambria Math" panose="02040503050406030204" pitchFamily="18" charset="0"/>
                        </a:rPr>
                        <m:t>𝑟</m:t>
                      </m:r>
                      <m:d>
                        <m:dPr>
                          <m:ctrlPr>
                            <a:rPr lang="en-IN" sz="1200" b="0" i="1" smtClean="0">
                              <a:latin typeface="Cambria Math" panose="02040503050406030204" pitchFamily="18" charset="0"/>
                            </a:rPr>
                          </m:ctrlPr>
                        </m:dPr>
                        <m:e>
                          <m:r>
                            <a:rPr lang="en-IN" sz="1200" b="0" i="1" smtClean="0">
                              <a:latin typeface="Cambria Math" panose="02040503050406030204" pitchFamily="18" charset="0"/>
                            </a:rPr>
                            <m:t>𝑥</m:t>
                          </m:r>
                        </m:e>
                      </m:d>
                      <m:r>
                        <a:rPr lang="en-IN" sz="1200" b="0" i="1" smtClean="0">
                          <a:latin typeface="Cambria Math" panose="02040503050406030204" pitchFamily="18" charset="0"/>
                        </a:rPr>
                        <m:t>= </m:t>
                      </m:r>
                      <m:f>
                        <m:fPr>
                          <m:ctrlPr>
                            <a:rPr lang="en-IN" sz="1200" b="0" i="1" smtClean="0">
                              <a:latin typeface="Cambria Math" panose="02040503050406030204" pitchFamily="18" charset="0"/>
                            </a:rPr>
                          </m:ctrlPr>
                        </m:fPr>
                        <m:num>
                          <m:sSub>
                            <m:sSubPr>
                              <m:ctrlPr>
                                <a:rPr lang="en-IN" sz="1200" b="0" i="1" smtClean="0">
                                  <a:latin typeface="Cambria Math" panose="02040503050406030204" pitchFamily="18" charset="0"/>
                                </a:rPr>
                              </m:ctrlPr>
                            </m:sSubPr>
                            <m:e>
                              <m:r>
                                <a:rPr lang="en-IN" sz="1200" b="0" i="1" smtClean="0">
                                  <a:latin typeface="Cambria Math" panose="02040503050406030204" pitchFamily="18" charset="0"/>
                                </a:rPr>
                                <m:t>𝐷</m:t>
                              </m:r>
                            </m:e>
                            <m:sub>
                              <m:r>
                                <a:rPr lang="en-IN" sz="1200" b="0" i="1" smtClean="0">
                                  <a:latin typeface="Cambria Math" panose="02040503050406030204" pitchFamily="18" charset="0"/>
                                </a:rPr>
                                <m:t>𝑎</m:t>
                              </m:r>
                            </m:sub>
                          </m:sSub>
                        </m:num>
                        <m:den>
                          <m:r>
                            <a:rPr lang="en-IN" sz="1200" b="0" i="1" smtClean="0">
                              <a:latin typeface="Cambria Math" panose="02040503050406030204" pitchFamily="18" charset="0"/>
                            </a:rPr>
                            <m:t>2</m:t>
                          </m:r>
                        </m:den>
                      </m:f>
                      <m:r>
                        <a:rPr lang="en-IN" sz="1200" b="0" i="1" smtClean="0">
                          <a:latin typeface="Cambria Math" panose="02040503050406030204" pitchFamily="18" charset="0"/>
                        </a:rPr>
                        <m:t>+ </m:t>
                      </m:r>
                      <m:sSub>
                        <m:sSubPr>
                          <m:ctrlPr>
                            <a:rPr lang="en-IN" sz="1200" b="0" i="1" smtClean="0">
                              <a:latin typeface="Cambria Math" panose="02040503050406030204" pitchFamily="18" charset="0"/>
                            </a:rPr>
                          </m:ctrlPr>
                        </m:sSubPr>
                        <m:e>
                          <m:r>
                            <a:rPr lang="en-IN" sz="1200" b="0" i="1" smtClean="0">
                              <a:latin typeface="Cambria Math" panose="02040503050406030204" pitchFamily="18" charset="0"/>
                            </a:rPr>
                            <m:t>𝐻</m:t>
                          </m:r>
                        </m:e>
                        <m:sub>
                          <m:r>
                            <a:rPr lang="en-IN" sz="1200" b="0" i="1" smtClean="0">
                              <a:latin typeface="Cambria Math" panose="02040503050406030204" pitchFamily="18" charset="0"/>
                            </a:rPr>
                            <m:t>𝑎</m:t>
                          </m:r>
                        </m:sub>
                      </m:sSub>
                      <m:func>
                        <m:funcPr>
                          <m:ctrlPr>
                            <a:rPr lang="en-IN" sz="1200" b="0" i="1" smtClean="0">
                              <a:latin typeface="Cambria Math" panose="02040503050406030204" pitchFamily="18" charset="0"/>
                            </a:rPr>
                          </m:ctrlPr>
                        </m:funcPr>
                        <m:fName>
                          <m:r>
                            <m:rPr>
                              <m:sty m:val="p"/>
                            </m:rPr>
                            <a:rPr lang="en-IN" sz="1200" b="0" i="0" smtClean="0">
                              <a:latin typeface="Cambria Math" panose="02040503050406030204" pitchFamily="18" charset="0"/>
                            </a:rPr>
                            <m:t>exp</m:t>
                          </m:r>
                        </m:fName>
                        <m:e>
                          <m:r>
                            <a:rPr lang="en-IN" sz="1200" b="0" i="1" smtClean="0">
                              <a:latin typeface="Cambria Math" panose="02040503050406030204" pitchFamily="18" charset="0"/>
                            </a:rPr>
                            <m:t>(</m:t>
                          </m:r>
                          <m:f>
                            <m:fPr>
                              <m:ctrlPr>
                                <a:rPr lang="en-IN" sz="1200" i="1">
                                  <a:latin typeface="Cambria Math" panose="02040503050406030204" pitchFamily="18" charset="0"/>
                                </a:rPr>
                              </m:ctrlPr>
                            </m:fPr>
                            <m:num>
                              <m:r>
                                <a:rPr lang="en-IN" sz="1200" i="1">
                                  <a:latin typeface="Cambria Math" panose="02040503050406030204" pitchFamily="18" charset="0"/>
                                </a:rPr>
                                <m:t>−</m:t>
                              </m:r>
                              <m:sSup>
                                <m:sSupPr>
                                  <m:ctrlPr>
                                    <a:rPr lang="en-IN" sz="1200" i="1">
                                      <a:latin typeface="Cambria Math" panose="02040503050406030204" pitchFamily="18" charset="0"/>
                                    </a:rPr>
                                  </m:ctrlPr>
                                </m:sSupPr>
                                <m:e>
                                  <m:r>
                                    <a:rPr lang="en-IN" sz="1200" i="1">
                                      <a:latin typeface="Cambria Math" panose="02040503050406030204" pitchFamily="18" charset="0"/>
                                    </a:rPr>
                                    <m:t>𝑥</m:t>
                                  </m:r>
                                </m:e>
                                <m:sup>
                                  <m:r>
                                    <a:rPr lang="en-IN" sz="1200" i="1">
                                      <a:latin typeface="Cambria Math" panose="02040503050406030204" pitchFamily="18" charset="0"/>
                                    </a:rPr>
                                    <m:t>2</m:t>
                                  </m:r>
                                </m:sup>
                              </m:sSup>
                            </m:num>
                            <m:den>
                              <m:r>
                                <a:rPr lang="en-IN" sz="1200" i="1">
                                  <a:latin typeface="Cambria Math" panose="02040503050406030204" pitchFamily="18" charset="0"/>
                                </a:rPr>
                                <m:t>2</m:t>
                              </m:r>
                              <m:sSup>
                                <m:sSupPr>
                                  <m:ctrlPr>
                                    <a:rPr lang="en-IN" sz="1200" i="1">
                                      <a:latin typeface="Cambria Math" panose="02040503050406030204" pitchFamily="18" charset="0"/>
                                    </a:rPr>
                                  </m:ctrlPr>
                                </m:sSupPr>
                                <m:e>
                                  <m:r>
                                    <a:rPr lang="en-IN" sz="1200" i="1">
                                      <a:latin typeface="Cambria Math" panose="02040503050406030204" pitchFamily="18" charset="0"/>
                                    </a:rPr>
                                    <m:t>𝑊</m:t>
                                  </m:r>
                                  <m:r>
                                    <a:rPr lang="en-IN" sz="1200" i="1" baseline="-25000">
                                      <a:latin typeface="Cambria Math" panose="02040503050406030204" pitchFamily="18" charset="0"/>
                                    </a:rPr>
                                    <m:t>𝑎</m:t>
                                  </m:r>
                                </m:e>
                                <m:sup>
                                  <m:r>
                                    <a:rPr lang="en-IN" sz="1200" i="1">
                                      <a:latin typeface="Cambria Math" panose="02040503050406030204" pitchFamily="18" charset="0"/>
                                    </a:rPr>
                                    <m:t>2</m:t>
                                  </m:r>
                                </m:sup>
                              </m:sSup>
                            </m:den>
                          </m:f>
                          <m:r>
                            <a:rPr lang="en-IN" sz="1200" b="0" i="1" smtClean="0">
                              <a:latin typeface="Cambria Math" panose="02040503050406030204" pitchFamily="18" charset="0"/>
                            </a:rPr>
                            <m:t>)</m:t>
                          </m:r>
                        </m:e>
                      </m:func>
                    </m:oMath>
                  </m:oMathPara>
                </a14:m>
                <a:endParaRPr lang="en-GB" dirty="0"/>
              </a:p>
            </p:txBody>
          </p:sp>
        </mc:Choice>
        <mc:Fallback xmlns="">
          <p:sp>
            <p:nvSpPr>
              <p:cNvPr id="56" name="Shape 59">
                <a:extLst>
                  <a:ext uri="{FF2B5EF4-FFF2-40B4-BE49-F238E27FC236}">
                    <a16:creationId xmlns:a16="http://schemas.microsoft.com/office/drawing/2014/main" id="{E603A952-1DF6-83C3-88A0-72E63100C5E1}"/>
                  </a:ext>
                </a:extLst>
              </p:cNvPr>
              <p:cNvSpPr>
                <a:spLocks noRot="1" noChangeAspect="1" noMove="1" noResize="1" noEditPoints="1" noAdjustHandles="1" noChangeArrowheads="1" noChangeShapeType="1" noTextEdit="1"/>
              </p:cNvSpPr>
              <p:nvPr/>
            </p:nvSpPr>
            <p:spPr>
              <a:xfrm>
                <a:off x="294132" y="4441432"/>
                <a:ext cx="4361688" cy="533135"/>
              </a:xfrm>
              <a:prstGeom prst="rect">
                <a:avLst/>
              </a:prstGeom>
              <a:blipFill>
                <a:blip r:embed="rId4"/>
                <a:stretch>
                  <a:fillRect/>
                </a:stretch>
              </a:blipFill>
              <a:ln w="5080">
                <a:solidFill>
                  <a:srgbClr val="D0E8EC"/>
                </a:solidFill>
                <a:prstDash val="solid"/>
              </a:ln>
            </p:spPr>
            <p:txBody>
              <a:bodyPr/>
              <a:lstStyle/>
              <a:p>
                <a:r>
                  <a:rPr lang="en-IN">
                    <a:noFill/>
                  </a:rPr>
                  <a:t> </a:t>
                </a:r>
              </a:p>
            </p:txBody>
          </p:sp>
        </mc:Fallback>
      </mc:AlternateContent>
      <p:sp>
        <p:nvSpPr>
          <p:cNvPr id="64" name="AutoShape 2">
            <a:extLst>
              <a:ext uri="{FF2B5EF4-FFF2-40B4-BE49-F238E27FC236}">
                <a16:creationId xmlns:a16="http://schemas.microsoft.com/office/drawing/2014/main" id="{5F2A6E3E-A5C8-94C1-2852-6EAB0C9BB3BA}"/>
              </a:ext>
            </a:extLst>
          </p:cNvPr>
          <p:cNvSpPr>
            <a:spLocks noChangeAspect="1" noChangeArrowheads="1"/>
          </p:cNvSpPr>
          <p:nvPr/>
        </p:nvSpPr>
        <p:spPr bwMode="auto">
          <a:xfrm>
            <a:off x="251460" y="3541511"/>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5" name="AutoShape 4">
            <a:extLst>
              <a:ext uri="{FF2B5EF4-FFF2-40B4-BE49-F238E27FC236}">
                <a16:creationId xmlns:a16="http://schemas.microsoft.com/office/drawing/2014/main" id="{67F10939-041A-FCB4-E58A-593726B7E846}"/>
              </a:ext>
            </a:extLst>
          </p:cNvPr>
          <p:cNvSpPr>
            <a:spLocks noChangeAspect="1" noChangeArrowheads="1"/>
          </p:cNvSpPr>
          <p:nvPr/>
        </p:nvSpPr>
        <p:spPr bwMode="auto">
          <a:xfrm>
            <a:off x="403860" y="3693911"/>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6" name="Text 26">
            <a:extLst>
              <a:ext uri="{FF2B5EF4-FFF2-40B4-BE49-F238E27FC236}">
                <a16:creationId xmlns:a16="http://schemas.microsoft.com/office/drawing/2014/main" id="{06E4AAA8-C232-BA62-8DF3-F3AC15037302}"/>
              </a:ext>
            </a:extLst>
          </p:cNvPr>
          <p:cNvSpPr/>
          <p:nvPr/>
        </p:nvSpPr>
        <p:spPr>
          <a:xfrm>
            <a:off x="339852" y="3106409"/>
            <a:ext cx="868680" cy="333756"/>
          </a:xfrm>
          <a:prstGeom prst="rect">
            <a:avLst/>
          </a:prstGeom>
          <a:noFill/>
          <a:ln/>
        </p:spPr>
        <p:txBody>
          <a:bodyPr wrap="square" lIns="0" tIns="0" rIns="0" bIns="0" rtlCol="0" anchor="ctr"/>
          <a:lstStyle/>
          <a:p>
            <a:pPr marL="0" indent="0">
              <a:buNone/>
            </a:pPr>
            <a:r>
              <a:rPr lang="en-US" sz="1050" b="1" dirty="0">
                <a:solidFill>
                  <a:srgbClr val="0D1B3E"/>
                </a:solidFill>
                <a:latin typeface="Cambria Math" pitchFamily="34" charset="0"/>
                <a:ea typeface="Cambria Math" pitchFamily="34" charset="-122"/>
              </a:rPr>
              <a:t>Ha</a:t>
            </a:r>
            <a:endParaRPr lang="en-US" sz="1050" dirty="0"/>
          </a:p>
        </p:txBody>
      </p:sp>
      <p:sp>
        <p:nvSpPr>
          <p:cNvPr id="67" name="Text 26">
            <a:extLst>
              <a:ext uri="{FF2B5EF4-FFF2-40B4-BE49-F238E27FC236}">
                <a16:creationId xmlns:a16="http://schemas.microsoft.com/office/drawing/2014/main" id="{03E39ED9-87C7-243D-8287-5DF25AA7050A}"/>
              </a:ext>
            </a:extLst>
          </p:cNvPr>
          <p:cNvSpPr/>
          <p:nvPr/>
        </p:nvSpPr>
        <p:spPr>
          <a:xfrm>
            <a:off x="339852" y="3455786"/>
            <a:ext cx="868680" cy="333756"/>
          </a:xfrm>
          <a:prstGeom prst="rect">
            <a:avLst/>
          </a:prstGeom>
          <a:noFill/>
          <a:ln/>
        </p:spPr>
        <p:txBody>
          <a:bodyPr wrap="square" lIns="0" tIns="0" rIns="0" bIns="0" rtlCol="0" anchor="ctr"/>
          <a:lstStyle/>
          <a:p>
            <a:pPr marL="0" indent="0">
              <a:buNone/>
            </a:pPr>
            <a:r>
              <a:rPr lang="en-US" sz="1050" b="1" dirty="0">
                <a:solidFill>
                  <a:srgbClr val="0D1B3E"/>
                </a:solidFill>
                <a:latin typeface="Cambria Math" pitchFamily="34" charset="0"/>
                <a:ea typeface="Cambria Math" pitchFamily="34" charset="-122"/>
              </a:rPr>
              <a:t>Re</a:t>
            </a:r>
            <a:endParaRPr lang="en-US" sz="1050" dirty="0"/>
          </a:p>
        </p:txBody>
      </p:sp>
      <p:pic>
        <p:nvPicPr>
          <p:cNvPr id="70" name="Picture 69">
            <a:extLst>
              <a:ext uri="{FF2B5EF4-FFF2-40B4-BE49-F238E27FC236}">
                <a16:creationId xmlns:a16="http://schemas.microsoft.com/office/drawing/2014/main" id="{E327EBEF-C3C6-EE1C-122B-3AB671DDB482}"/>
              </a:ext>
            </a:extLst>
          </p:cNvPr>
          <p:cNvPicPr>
            <a:picLocks noChangeAspect="1"/>
          </p:cNvPicPr>
          <p:nvPr/>
        </p:nvPicPr>
        <p:blipFill>
          <a:blip r:embed="rId5"/>
          <a:stretch>
            <a:fillRect/>
          </a:stretch>
        </p:blipFill>
        <p:spPr>
          <a:xfrm>
            <a:off x="5156933" y="1226211"/>
            <a:ext cx="3454121" cy="2759127"/>
          </a:xfrm>
          <a:prstGeom prst="rect">
            <a:avLst/>
          </a:prstGeom>
        </p:spPr>
      </p:pic>
      <p:sp>
        <p:nvSpPr>
          <p:cNvPr id="71" name="Text 26">
            <a:extLst>
              <a:ext uri="{FF2B5EF4-FFF2-40B4-BE49-F238E27FC236}">
                <a16:creationId xmlns:a16="http://schemas.microsoft.com/office/drawing/2014/main" id="{FDD94BCD-BF2B-85E6-AD7A-A6F7B0B3E92C}"/>
              </a:ext>
            </a:extLst>
          </p:cNvPr>
          <p:cNvSpPr/>
          <p:nvPr/>
        </p:nvSpPr>
        <p:spPr>
          <a:xfrm>
            <a:off x="339852" y="2450628"/>
            <a:ext cx="868680" cy="333756"/>
          </a:xfrm>
          <a:prstGeom prst="rect">
            <a:avLst/>
          </a:prstGeom>
          <a:noFill/>
          <a:ln/>
        </p:spPr>
        <p:txBody>
          <a:bodyPr wrap="square" lIns="0" tIns="0" rIns="0" bIns="0" rtlCol="0" anchor="ctr"/>
          <a:lstStyle/>
          <a:p>
            <a:pPr marL="0" indent="0">
              <a:buNone/>
            </a:pPr>
            <a:r>
              <a:rPr lang="en-US" sz="1050" b="1" dirty="0">
                <a:solidFill>
                  <a:srgbClr val="0D1B3E"/>
                </a:solidFill>
                <a:latin typeface="Cambria Math" pitchFamily="34" charset="0"/>
                <a:ea typeface="Cambria Math" pitchFamily="34" charset="-122"/>
              </a:rPr>
              <a:t>Da</a:t>
            </a:r>
            <a:endParaRPr lang="en-US" sz="1050" dirty="0"/>
          </a:p>
        </p:txBody>
      </p:sp>
    </p:spTree>
    <p:extLst>
      <p:ext uri="{BB962C8B-B14F-4D97-AF65-F5344CB8AC3E}">
        <p14:creationId xmlns:p14="http://schemas.microsoft.com/office/powerpoint/2010/main" val="2728250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3E"/>
          </a:solidFill>
          <a:ln w="12700">
            <a:solidFill>
              <a:srgbClr val="0D1B3E"/>
            </a:solidFill>
            <a:prstDash val="solid"/>
          </a:ln>
        </p:spPr>
        <p:txBody>
          <a:bodyPr/>
          <a:lstStyle/>
          <a:p>
            <a:endParaRPr lang="en-GB"/>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000" b="1" dirty="0">
                <a:solidFill>
                  <a:srgbClr val="FFFFFF"/>
                </a:solidFill>
              </a:rPr>
              <a:t>Geometry – Stenosed Artery</a:t>
            </a:r>
            <a:endParaRPr lang="en-US" sz="2000" dirty="0"/>
          </a:p>
        </p:txBody>
      </p:sp>
      <p:sp>
        <p:nvSpPr>
          <p:cNvPr id="4" name="Shape 2"/>
          <p:cNvSpPr/>
          <p:nvPr/>
        </p:nvSpPr>
        <p:spPr>
          <a:xfrm>
            <a:off x="274320" y="749808"/>
            <a:ext cx="1463040" cy="256032"/>
          </a:xfrm>
          <a:prstGeom prst="roundRect">
            <a:avLst>
              <a:gd name="adj" fmla="val 21429"/>
            </a:avLst>
          </a:prstGeom>
          <a:solidFill>
            <a:srgbClr val="0D1B3E"/>
          </a:solidFill>
          <a:ln w="12700">
            <a:solidFill>
              <a:srgbClr val="0D1B3E"/>
            </a:solidFill>
            <a:prstDash val="solid"/>
          </a:ln>
        </p:spPr>
        <p:txBody>
          <a:bodyPr/>
          <a:lstStyle/>
          <a:p>
            <a:endParaRPr lang="en-GB"/>
          </a:p>
        </p:txBody>
      </p:sp>
      <p:sp>
        <p:nvSpPr>
          <p:cNvPr id="5" name="Text 3"/>
          <p:cNvSpPr/>
          <p:nvPr/>
        </p:nvSpPr>
        <p:spPr>
          <a:xfrm>
            <a:off x="274320" y="749808"/>
            <a:ext cx="1463040" cy="256032"/>
          </a:xfrm>
          <a:prstGeom prst="rect">
            <a:avLst/>
          </a:prstGeom>
          <a:noFill/>
          <a:ln/>
        </p:spPr>
        <p:txBody>
          <a:bodyPr wrap="square" lIns="0" tIns="0" rIns="0" bIns="0" rtlCol="0" anchor="ctr"/>
          <a:lstStyle/>
          <a:p>
            <a:pPr marL="0" indent="0" algn="ctr">
              <a:buNone/>
            </a:pPr>
            <a:r>
              <a:rPr lang="en-US" sz="1000" b="1" dirty="0">
                <a:solidFill>
                  <a:srgbClr val="FFFFFF"/>
                </a:solidFill>
              </a:rPr>
              <a:t>Geometry</a:t>
            </a:r>
            <a:endParaRPr lang="en-US" sz="1000" dirty="0"/>
          </a:p>
        </p:txBody>
      </p:sp>
      <p:sp>
        <p:nvSpPr>
          <p:cNvPr id="13" name="Shape 11"/>
          <p:cNvSpPr/>
          <p:nvPr/>
        </p:nvSpPr>
        <p:spPr>
          <a:xfrm>
            <a:off x="5156933" y="749808"/>
            <a:ext cx="1828800" cy="256032"/>
          </a:xfrm>
          <a:prstGeom prst="roundRect">
            <a:avLst>
              <a:gd name="adj" fmla="val 21429"/>
            </a:avLst>
          </a:prstGeom>
          <a:solidFill>
            <a:srgbClr val="0A7C8C"/>
          </a:solidFill>
          <a:ln w="12700">
            <a:solidFill>
              <a:srgbClr val="0A7C8C"/>
            </a:solidFill>
            <a:prstDash val="solid"/>
          </a:ln>
        </p:spPr>
        <p:txBody>
          <a:bodyPr/>
          <a:lstStyle/>
          <a:p>
            <a:endParaRPr lang="en-GB"/>
          </a:p>
        </p:txBody>
      </p:sp>
      <p:sp>
        <p:nvSpPr>
          <p:cNvPr id="14" name="Text 12"/>
          <p:cNvSpPr/>
          <p:nvPr/>
        </p:nvSpPr>
        <p:spPr>
          <a:xfrm>
            <a:off x="5156933" y="749808"/>
            <a:ext cx="1828800" cy="256032"/>
          </a:xfrm>
          <a:prstGeom prst="rect">
            <a:avLst/>
          </a:prstGeom>
          <a:noFill/>
          <a:ln/>
        </p:spPr>
        <p:txBody>
          <a:bodyPr wrap="square" lIns="0" tIns="0" rIns="0" bIns="0" rtlCol="0" anchor="ctr"/>
          <a:lstStyle/>
          <a:p>
            <a:pPr marL="0" indent="0" algn="ctr">
              <a:buNone/>
            </a:pPr>
            <a:r>
              <a:rPr lang="en-US" sz="1000" b="1" dirty="0">
                <a:solidFill>
                  <a:srgbClr val="FFFFFF"/>
                </a:solidFill>
              </a:rPr>
              <a:t>Inlet Flow Rate Profile</a:t>
            </a:r>
            <a:endParaRPr lang="en-US" sz="1000" dirty="0"/>
          </a:p>
        </p:txBody>
      </p:sp>
      <p:sp>
        <p:nvSpPr>
          <p:cNvPr id="8" name="Shape 13">
            <a:extLst>
              <a:ext uri="{FF2B5EF4-FFF2-40B4-BE49-F238E27FC236}">
                <a16:creationId xmlns:a16="http://schemas.microsoft.com/office/drawing/2014/main" id="{DE0A8554-8426-4AAD-9758-4D75CF39A7E0}"/>
              </a:ext>
            </a:extLst>
          </p:cNvPr>
          <p:cNvSpPr/>
          <p:nvPr/>
        </p:nvSpPr>
        <p:spPr>
          <a:xfrm>
            <a:off x="294132" y="2164577"/>
            <a:ext cx="960120" cy="274320"/>
          </a:xfrm>
          <a:prstGeom prst="rect">
            <a:avLst/>
          </a:prstGeom>
          <a:solidFill>
            <a:srgbClr val="0A7C8C"/>
          </a:solidFill>
          <a:ln w="12700">
            <a:solidFill>
              <a:srgbClr val="0A7C8C"/>
            </a:solidFill>
            <a:prstDash val="solid"/>
          </a:ln>
        </p:spPr>
        <p:txBody>
          <a:bodyPr/>
          <a:lstStyle/>
          <a:p>
            <a:endParaRPr lang="en-GB"/>
          </a:p>
        </p:txBody>
      </p:sp>
      <p:sp>
        <p:nvSpPr>
          <p:cNvPr id="9" name="Text 14">
            <a:extLst>
              <a:ext uri="{FF2B5EF4-FFF2-40B4-BE49-F238E27FC236}">
                <a16:creationId xmlns:a16="http://schemas.microsoft.com/office/drawing/2014/main" id="{E456DAC0-4A64-212A-7AF1-7DC1A4DD4BFD}"/>
              </a:ext>
            </a:extLst>
          </p:cNvPr>
          <p:cNvSpPr/>
          <p:nvPr/>
        </p:nvSpPr>
        <p:spPr>
          <a:xfrm>
            <a:off x="294132" y="2164577"/>
            <a:ext cx="960120" cy="274320"/>
          </a:xfrm>
          <a:prstGeom prst="rect">
            <a:avLst/>
          </a:prstGeom>
          <a:noFill/>
          <a:ln/>
        </p:spPr>
        <p:txBody>
          <a:bodyPr wrap="square" lIns="0" tIns="0" rIns="0" bIns="0" rtlCol="0" anchor="ctr"/>
          <a:lstStyle/>
          <a:p>
            <a:pPr marL="0" indent="0" algn="ctr">
              <a:buNone/>
            </a:pPr>
            <a:r>
              <a:rPr lang="en-US" sz="1000" b="1" dirty="0">
                <a:solidFill>
                  <a:srgbClr val="FFFFFF"/>
                </a:solidFill>
              </a:rPr>
              <a:t>Name</a:t>
            </a:r>
            <a:endParaRPr lang="en-US" sz="1000" dirty="0"/>
          </a:p>
        </p:txBody>
      </p:sp>
      <p:sp>
        <p:nvSpPr>
          <p:cNvPr id="10" name="Shape 15">
            <a:extLst>
              <a:ext uri="{FF2B5EF4-FFF2-40B4-BE49-F238E27FC236}">
                <a16:creationId xmlns:a16="http://schemas.microsoft.com/office/drawing/2014/main" id="{18353B5F-9752-7A2E-5694-68583EE090C4}"/>
              </a:ext>
            </a:extLst>
          </p:cNvPr>
          <p:cNvSpPr/>
          <p:nvPr/>
        </p:nvSpPr>
        <p:spPr>
          <a:xfrm>
            <a:off x="1254252" y="2164577"/>
            <a:ext cx="1051560" cy="274320"/>
          </a:xfrm>
          <a:prstGeom prst="rect">
            <a:avLst/>
          </a:prstGeom>
          <a:solidFill>
            <a:srgbClr val="0A7C8C"/>
          </a:solidFill>
          <a:ln w="12700">
            <a:solidFill>
              <a:srgbClr val="0A7C8C"/>
            </a:solidFill>
            <a:prstDash val="solid"/>
          </a:ln>
        </p:spPr>
        <p:txBody>
          <a:bodyPr/>
          <a:lstStyle/>
          <a:p>
            <a:endParaRPr lang="en-GB"/>
          </a:p>
        </p:txBody>
      </p:sp>
      <p:sp>
        <p:nvSpPr>
          <p:cNvPr id="11" name="Text 16">
            <a:extLst>
              <a:ext uri="{FF2B5EF4-FFF2-40B4-BE49-F238E27FC236}">
                <a16:creationId xmlns:a16="http://schemas.microsoft.com/office/drawing/2014/main" id="{8E33A74E-905B-4C3F-3B04-1A7B8357B33A}"/>
              </a:ext>
            </a:extLst>
          </p:cNvPr>
          <p:cNvSpPr/>
          <p:nvPr/>
        </p:nvSpPr>
        <p:spPr>
          <a:xfrm>
            <a:off x="1254252" y="2164577"/>
            <a:ext cx="1051560" cy="274320"/>
          </a:xfrm>
          <a:prstGeom prst="rect">
            <a:avLst/>
          </a:prstGeom>
          <a:noFill/>
          <a:ln/>
        </p:spPr>
        <p:txBody>
          <a:bodyPr wrap="square" lIns="0" tIns="0" rIns="0" bIns="0" rtlCol="0" anchor="ctr"/>
          <a:lstStyle/>
          <a:p>
            <a:pPr marL="0" indent="0" algn="ctr">
              <a:buNone/>
            </a:pPr>
            <a:r>
              <a:rPr lang="en-US" sz="1000" b="1" dirty="0">
                <a:solidFill>
                  <a:srgbClr val="FFFFFF"/>
                </a:solidFill>
              </a:rPr>
              <a:t>Value</a:t>
            </a:r>
            <a:endParaRPr lang="en-US" sz="1000" dirty="0"/>
          </a:p>
        </p:txBody>
      </p:sp>
      <p:sp>
        <p:nvSpPr>
          <p:cNvPr id="12" name="Shape 17">
            <a:extLst>
              <a:ext uri="{FF2B5EF4-FFF2-40B4-BE49-F238E27FC236}">
                <a16:creationId xmlns:a16="http://schemas.microsoft.com/office/drawing/2014/main" id="{450F361C-9722-023A-09C3-7F483B0F16ED}"/>
              </a:ext>
            </a:extLst>
          </p:cNvPr>
          <p:cNvSpPr/>
          <p:nvPr/>
        </p:nvSpPr>
        <p:spPr>
          <a:xfrm>
            <a:off x="2305812" y="2164577"/>
            <a:ext cx="2350008" cy="274320"/>
          </a:xfrm>
          <a:prstGeom prst="rect">
            <a:avLst/>
          </a:prstGeom>
          <a:solidFill>
            <a:srgbClr val="0A7C8C"/>
          </a:solidFill>
          <a:ln w="12700">
            <a:solidFill>
              <a:srgbClr val="0A7C8C"/>
            </a:solidFill>
            <a:prstDash val="solid"/>
          </a:ln>
        </p:spPr>
        <p:txBody>
          <a:bodyPr/>
          <a:lstStyle/>
          <a:p>
            <a:endParaRPr lang="en-GB"/>
          </a:p>
        </p:txBody>
      </p:sp>
      <p:sp>
        <p:nvSpPr>
          <p:cNvPr id="15" name="Text 18">
            <a:extLst>
              <a:ext uri="{FF2B5EF4-FFF2-40B4-BE49-F238E27FC236}">
                <a16:creationId xmlns:a16="http://schemas.microsoft.com/office/drawing/2014/main" id="{D3DB73C8-3D13-D6AD-A905-45EE24B68ED6}"/>
              </a:ext>
            </a:extLst>
          </p:cNvPr>
          <p:cNvSpPr/>
          <p:nvPr/>
        </p:nvSpPr>
        <p:spPr>
          <a:xfrm>
            <a:off x="2305812" y="2164577"/>
            <a:ext cx="2350008" cy="274320"/>
          </a:xfrm>
          <a:prstGeom prst="rect">
            <a:avLst/>
          </a:prstGeom>
          <a:noFill/>
          <a:ln/>
        </p:spPr>
        <p:txBody>
          <a:bodyPr wrap="square" lIns="0" tIns="0" rIns="0" bIns="0" rtlCol="0" anchor="ctr"/>
          <a:lstStyle/>
          <a:p>
            <a:pPr marL="0" indent="0" algn="ctr">
              <a:buNone/>
            </a:pPr>
            <a:r>
              <a:rPr lang="en-US" sz="1000" b="1" dirty="0">
                <a:solidFill>
                  <a:srgbClr val="FFFFFF"/>
                </a:solidFill>
              </a:rPr>
              <a:t>Description</a:t>
            </a:r>
            <a:endParaRPr lang="en-US" sz="1000" dirty="0"/>
          </a:p>
        </p:txBody>
      </p:sp>
      <p:sp>
        <p:nvSpPr>
          <p:cNvPr id="16" name="Shape 19">
            <a:extLst>
              <a:ext uri="{FF2B5EF4-FFF2-40B4-BE49-F238E27FC236}">
                <a16:creationId xmlns:a16="http://schemas.microsoft.com/office/drawing/2014/main" id="{906E954A-8FE4-8C93-7A31-1FBBC34CEE66}"/>
              </a:ext>
            </a:extLst>
          </p:cNvPr>
          <p:cNvSpPr/>
          <p:nvPr/>
        </p:nvSpPr>
        <p:spPr>
          <a:xfrm>
            <a:off x="294132" y="2438897"/>
            <a:ext cx="960120" cy="333756"/>
          </a:xfrm>
          <a:prstGeom prst="rect">
            <a:avLst/>
          </a:prstGeom>
          <a:solidFill>
            <a:srgbClr val="FFFFFF"/>
          </a:solidFill>
          <a:ln w="5080">
            <a:solidFill>
              <a:srgbClr val="D0E8EC"/>
            </a:solidFill>
            <a:prstDash val="solid"/>
          </a:ln>
        </p:spPr>
        <p:txBody>
          <a:bodyPr/>
          <a:lstStyle/>
          <a:p>
            <a:endParaRPr lang="en-GB"/>
          </a:p>
        </p:txBody>
      </p:sp>
      <p:sp>
        <p:nvSpPr>
          <p:cNvPr id="18" name="Shape 21">
            <a:extLst>
              <a:ext uri="{FF2B5EF4-FFF2-40B4-BE49-F238E27FC236}">
                <a16:creationId xmlns:a16="http://schemas.microsoft.com/office/drawing/2014/main" id="{61830488-E022-9B45-F4E6-E31A7BF6FBAF}"/>
              </a:ext>
            </a:extLst>
          </p:cNvPr>
          <p:cNvSpPr/>
          <p:nvPr/>
        </p:nvSpPr>
        <p:spPr>
          <a:xfrm>
            <a:off x="1254252" y="2438897"/>
            <a:ext cx="1051560" cy="333756"/>
          </a:xfrm>
          <a:prstGeom prst="rect">
            <a:avLst/>
          </a:prstGeom>
          <a:solidFill>
            <a:srgbClr val="FFFFFF"/>
          </a:solidFill>
          <a:ln w="5080">
            <a:solidFill>
              <a:srgbClr val="D0E8EC"/>
            </a:solidFill>
            <a:prstDash val="solid"/>
          </a:ln>
        </p:spPr>
        <p:txBody>
          <a:bodyPr/>
          <a:lstStyle/>
          <a:p>
            <a:endParaRPr lang="en-GB"/>
          </a:p>
        </p:txBody>
      </p:sp>
      <p:sp>
        <p:nvSpPr>
          <p:cNvPr id="19" name="Text 22">
            <a:extLst>
              <a:ext uri="{FF2B5EF4-FFF2-40B4-BE49-F238E27FC236}">
                <a16:creationId xmlns:a16="http://schemas.microsoft.com/office/drawing/2014/main" id="{4BB5630F-16D4-BC19-C565-FB31C923484B}"/>
              </a:ext>
            </a:extLst>
          </p:cNvPr>
          <p:cNvSpPr/>
          <p:nvPr/>
        </p:nvSpPr>
        <p:spPr>
          <a:xfrm>
            <a:off x="1299972" y="2438897"/>
            <a:ext cx="960120" cy="333756"/>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cs typeface="Calibri" pitchFamily="34" charset="-120"/>
              </a:rPr>
              <a:t>0.7 cm</a:t>
            </a:r>
            <a:endParaRPr lang="en-US" sz="1000" dirty="0"/>
          </a:p>
        </p:txBody>
      </p:sp>
      <p:sp>
        <p:nvSpPr>
          <p:cNvPr id="20" name="Shape 23">
            <a:extLst>
              <a:ext uri="{FF2B5EF4-FFF2-40B4-BE49-F238E27FC236}">
                <a16:creationId xmlns:a16="http://schemas.microsoft.com/office/drawing/2014/main" id="{1FDDA5BA-2E9F-58BF-F9F8-82B78DB6D173}"/>
              </a:ext>
            </a:extLst>
          </p:cNvPr>
          <p:cNvSpPr/>
          <p:nvPr/>
        </p:nvSpPr>
        <p:spPr>
          <a:xfrm>
            <a:off x="2305812" y="2438897"/>
            <a:ext cx="2350008" cy="333756"/>
          </a:xfrm>
          <a:prstGeom prst="rect">
            <a:avLst/>
          </a:prstGeom>
          <a:solidFill>
            <a:srgbClr val="FFFFFF"/>
          </a:solidFill>
          <a:ln w="5080">
            <a:solidFill>
              <a:srgbClr val="D0E8EC"/>
            </a:solidFill>
            <a:prstDash val="solid"/>
          </a:ln>
        </p:spPr>
        <p:txBody>
          <a:bodyPr/>
          <a:lstStyle/>
          <a:p>
            <a:endParaRPr lang="en-GB"/>
          </a:p>
        </p:txBody>
      </p:sp>
      <p:sp>
        <p:nvSpPr>
          <p:cNvPr id="21" name="Text 24">
            <a:extLst>
              <a:ext uri="{FF2B5EF4-FFF2-40B4-BE49-F238E27FC236}">
                <a16:creationId xmlns:a16="http://schemas.microsoft.com/office/drawing/2014/main" id="{6C0AE973-E1E3-9DC4-7384-1EFCACC89E9F}"/>
              </a:ext>
            </a:extLst>
          </p:cNvPr>
          <p:cNvSpPr/>
          <p:nvPr/>
        </p:nvSpPr>
        <p:spPr>
          <a:xfrm>
            <a:off x="2351532" y="2438897"/>
            <a:ext cx="2258568" cy="333756"/>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Unrestricted artery diameter</a:t>
            </a:r>
            <a:endParaRPr lang="en-US" sz="1000" dirty="0"/>
          </a:p>
        </p:txBody>
      </p:sp>
      <p:sp>
        <p:nvSpPr>
          <p:cNvPr id="22" name="Shape 25">
            <a:extLst>
              <a:ext uri="{FF2B5EF4-FFF2-40B4-BE49-F238E27FC236}">
                <a16:creationId xmlns:a16="http://schemas.microsoft.com/office/drawing/2014/main" id="{0460D3C3-CA8C-18CF-917C-8E0A0B2E58CD}"/>
              </a:ext>
            </a:extLst>
          </p:cNvPr>
          <p:cNvSpPr/>
          <p:nvPr/>
        </p:nvSpPr>
        <p:spPr>
          <a:xfrm>
            <a:off x="294132" y="2772653"/>
            <a:ext cx="960120" cy="333756"/>
          </a:xfrm>
          <a:prstGeom prst="rect">
            <a:avLst/>
          </a:prstGeom>
          <a:solidFill>
            <a:srgbClr val="E8F5F7"/>
          </a:solidFill>
          <a:ln w="5080">
            <a:solidFill>
              <a:srgbClr val="D0E8EC"/>
            </a:solidFill>
            <a:prstDash val="solid"/>
          </a:ln>
        </p:spPr>
        <p:txBody>
          <a:bodyPr/>
          <a:lstStyle/>
          <a:p>
            <a:endParaRPr lang="en-GB"/>
          </a:p>
        </p:txBody>
      </p:sp>
      <p:sp>
        <p:nvSpPr>
          <p:cNvPr id="23" name="Text 26">
            <a:extLst>
              <a:ext uri="{FF2B5EF4-FFF2-40B4-BE49-F238E27FC236}">
                <a16:creationId xmlns:a16="http://schemas.microsoft.com/office/drawing/2014/main" id="{036610FE-8B03-5107-803C-40E9B6026EA0}"/>
              </a:ext>
            </a:extLst>
          </p:cNvPr>
          <p:cNvSpPr/>
          <p:nvPr/>
        </p:nvSpPr>
        <p:spPr>
          <a:xfrm>
            <a:off x="339852" y="2772653"/>
            <a:ext cx="868680" cy="333756"/>
          </a:xfrm>
          <a:prstGeom prst="rect">
            <a:avLst/>
          </a:prstGeom>
          <a:noFill/>
          <a:ln/>
        </p:spPr>
        <p:txBody>
          <a:bodyPr wrap="square" lIns="0" tIns="0" rIns="0" bIns="0" rtlCol="0" anchor="ctr"/>
          <a:lstStyle/>
          <a:p>
            <a:pPr marL="0" indent="0">
              <a:buNone/>
            </a:pPr>
            <a:r>
              <a:rPr lang="en-US" sz="1050" b="1" dirty="0" err="1">
                <a:solidFill>
                  <a:srgbClr val="0D1B3E"/>
                </a:solidFill>
                <a:latin typeface="Cambria Math" pitchFamily="34" charset="0"/>
                <a:ea typeface="Cambria Math" pitchFamily="34" charset="-122"/>
              </a:rPr>
              <a:t>Ws</a:t>
            </a:r>
            <a:endParaRPr lang="en-US" sz="1050" dirty="0"/>
          </a:p>
        </p:txBody>
      </p:sp>
      <p:sp>
        <p:nvSpPr>
          <p:cNvPr id="24" name="Shape 27">
            <a:extLst>
              <a:ext uri="{FF2B5EF4-FFF2-40B4-BE49-F238E27FC236}">
                <a16:creationId xmlns:a16="http://schemas.microsoft.com/office/drawing/2014/main" id="{CF4A6AF7-C809-24AF-E6C6-2BDC35A45E70}"/>
              </a:ext>
            </a:extLst>
          </p:cNvPr>
          <p:cNvSpPr/>
          <p:nvPr/>
        </p:nvSpPr>
        <p:spPr>
          <a:xfrm>
            <a:off x="1254252" y="2772653"/>
            <a:ext cx="1051560" cy="333756"/>
          </a:xfrm>
          <a:prstGeom prst="rect">
            <a:avLst/>
          </a:prstGeom>
          <a:solidFill>
            <a:srgbClr val="E8F5F7"/>
          </a:solidFill>
          <a:ln w="5080">
            <a:solidFill>
              <a:srgbClr val="D0E8EC"/>
            </a:solidFill>
            <a:prstDash val="solid"/>
          </a:ln>
        </p:spPr>
        <p:txBody>
          <a:bodyPr/>
          <a:lstStyle/>
          <a:p>
            <a:endParaRPr lang="en-GB"/>
          </a:p>
        </p:txBody>
      </p:sp>
      <p:sp>
        <p:nvSpPr>
          <p:cNvPr id="25" name="Text 28">
            <a:extLst>
              <a:ext uri="{FF2B5EF4-FFF2-40B4-BE49-F238E27FC236}">
                <a16:creationId xmlns:a16="http://schemas.microsoft.com/office/drawing/2014/main" id="{4CA8A3F5-685A-69FD-6CDD-47BB9502DB09}"/>
              </a:ext>
            </a:extLst>
          </p:cNvPr>
          <p:cNvSpPr/>
          <p:nvPr/>
        </p:nvSpPr>
        <p:spPr>
          <a:xfrm>
            <a:off x="1299972" y="2772653"/>
            <a:ext cx="960120" cy="333756"/>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0.5 * Ds</a:t>
            </a:r>
            <a:endParaRPr lang="en-US" sz="1000" dirty="0"/>
          </a:p>
        </p:txBody>
      </p:sp>
      <p:sp>
        <p:nvSpPr>
          <p:cNvPr id="26" name="Shape 29">
            <a:extLst>
              <a:ext uri="{FF2B5EF4-FFF2-40B4-BE49-F238E27FC236}">
                <a16:creationId xmlns:a16="http://schemas.microsoft.com/office/drawing/2014/main" id="{9F83F84A-3FF7-53B7-09F5-69428B8C5DDD}"/>
              </a:ext>
            </a:extLst>
          </p:cNvPr>
          <p:cNvSpPr/>
          <p:nvPr/>
        </p:nvSpPr>
        <p:spPr>
          <a:xfrm>
            <a:off x="2305812" y="2772653"/>
            <a:ext cx="2350008" cy="333756"/>
          </a:xfrm>
          <a:prstGeom prst="rect">
            <a:avLst/>
          </a:prstGeom>
          <a:solidFill>
            <a:srgbClr val="E8F5F7"/>
          </a:solidFill>
          <a:ln w="5080">
            <a:solidFill>
              <a:srgbClr val="D0E8EC"/>
            </a:solidFill>
            <a:prstDash val="solid"/>
          </a:ln>
        </p:spPr>
        <p:txBody>
          <a:bodyPr/>
          <a:lstStyle/>
          <a:p>
            <a:endParaRPr lang="en-GB"/>
          </a:p>
        </p:txBody>
      </p:sp>
      <p:sp>
        <p:nvSpPr>
          <p:cNvPr id="27" name="Text 30">
            <a:extLst>
              <a:ext uri="{FF2B5EF4-FFF2-40B4-BE49-F238E27FC236}">
                <a16:creationId xmlns:a16="http://schemas.microsoft.com/office/drawing/2014/main" id="{C863BC21-7B4D-3F47-E8D5-2F5358E3CD0E}"/>
              </a:ext>
            </a:extLst>
          </p:cNvPr>
          <p:cNvSpPr/>
          <p:nvPr/>
        </p:nvSpPr>
        <p:spPr>
          <a:xfrm>
            <a:off x="2351532" y="2772653"/>
            <a:ext cx="2258568" cy="333756"/>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cs typeface="Calibri" pitchFamily="34" charset="-120"/>
              </a:rPr>
              <a:t>Width of pathological portion of stenosed artery</a:t>
            </a:r>
            <a:endParaRPr lang="en-US" sz="1000" dirty="0"/>
          </a:p>
        </p:txBody>
      </p:sp>
      <p:sp>
        <p:nvSpPr>
          <p:cNvPr id="28" name="Shape 31">
            <a:extLst>
              <a:ext uri="{FF2B5EF4-FFF2-40B4-BE49-F238E27FC236}">
                <a16:creationId xmlns:a16="http://schemas.microsoft.com/office/drawing/2014/main" id="{0644603B-B349-D7B6-2C76-6E818175FDF5}"/>
              </a:ext>
            </a:extLst>
          </p:cNvPr>
          <p:cNvSpPr/>
          <p:nvPr/>
        </p:nvSpPr>
        <p:spPr>
          <a:xfrm>
            <a:off x="294132" y="3106409"/>
            <a:ext cx="960120" cy="333756"/>
          </a:xfrm>
          <a:prstGeom prst="rect">
            <a:avLst/>
          </a:prstGeom>
          <a:solidFill>
            <a:srgbClr val="FFFFFF"/>
          </a:solidFill>
          <a:ln w="5080">
            <a:solidFill>
              <a:srgbClr val="D0E8EC"/>
            </a:solidFill>
            <a:prstDash val="solid"/>
          </a:ln>
        </p:spPr>
        <p:txBody>
          <a:bodyPr/>
          <a:lstStyle/>
          <a:p>
            <a:endParaRPr lang="en-GB" dirty="0"/>
          </a:p>
        </p:txBody>
      </p:sp>
      <p:sp>
        <p:nvSpPr>
          <p:cNvPr id="29" name="Text 32">
            <a:extLst>
              <a:ext uri="{FF2B5EF4-FFF2-40B4-BE49-F238E27FC236}">
                <a16:creationId xmlns:a16="http://schemas.microsoft.com/office/drawing/2014/main" id="{3EBFFB37-F3B6-F5C3-4B12-8107286DBB4C}"/>
              </a:ext>
            </a:extLst>
          </p:cNvPr>
          <p:cNvSpPr/>
          <p:nvPr/>
        </p:nvSpPr>
        <p:spPr>
          <a:xfrm>
            <a:off x="339852" y="3106409"/>
            <a:ext cx="868680" cy="333756"/>
          </a:xfrm>
          <a:prstGeom prst="rect">
            <a:avLst/>
          </a:prstGeom>
          <a:noFill/>
          <a:ln/>
        </p:spPr>
        <p:txBody>
          <a:bodyPr wrap="square" lIns="0" tIns="0" rIns="0" bIns="0" rtlCol="0" anchor="ctr"/>
          <a:lstStyle/>
          <a:p>
            <a:pPr marL="0" indent="0">
              <a:buNone/>
            </a:pPr>
            <a:endParaRPr lang="en-US" sz="1050" baseline="-25000" dirty="0"/>
          </a:p>
        </p:txBody>
      </p:sp>
      <p:sp>
        <p:nvSpPr>
          <p:cNvPr id="30" name="Shape 33">
            <a:extLst>
              <a:ext uri="{FF2B5EF4-FFF2-40B4-BE49-F238E27FC236}">
                <a16:creationId xmlns:a16="http://schemas.microsoft.com/office/drawing/2014/main" id="{41281791-875B-4CC1-7E56-EDDE1CAE5485}"/>
              </a:ext>
            </a:extLst>
          </p:cNvPr>
          <p:cNvSpPr/>
          <p:nvPr/>
        </p:nvSpPr>
        <p:spPr>
          <a:xfrm>
            <a:off x="1254252" y="3106409"/>
            <a:ext cx="1051560" cy="333756"/>
          </a:xfrm>
          <a:prstGeom prst="rect">
            <a:avLst/>
          </a:prstGeom>
          <a:solidFill>
            <a:srgbClr val="FFFFFF"/>
          </a:solidFill>
          <a:ln w="5080">
            <a:solidFill>
              <a:srgbClr val="D0E8EC"/>
            </a:solidFill>
            <a:prstDash val="solid"/>
          </a:ln>
        </p:spPr>
        <p:txBody>
          <a:bodyPr/>
          <a:lstStyle/>
          <a:p>
            <a:endParaRPr lang="en-GB"/>
          </a:p>
        </p:txBody>
      </p:sp>
      <p:sp>
        <p:nvSpPr>
          <p:cNvPr id="31" name="Text 34">
            <a:extLst>
              <a:ext uri="{FF2B5EF4-FFF2-40B4-BE49-F238E27FC236}">
                <a16:creationId xmlns:a16="http://schemas.microsoft.com/office/drawing/2014/main" id="{6061F82E-3D94-19FC-E6CC-BD930B76B764}"/>
              </a:ext>
            </a:extLst>
          </p:cNvPr>
          <p:cNvSpPr/>
          <p:nvPr/>
        </p:nvSpPr>
        <p:spPr>
          <a:xfrm>
            <a:off x="1299972" y="3106409"/>
            <a:ext cx="960120" cy="333756"/>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cs typeface="Calibri" pitchFamily="34" charset="-120"/>
              </a:rPr>
              <a:t>0.2 * Ds</a:t>
            </a:r>
            <a:endParaRPr lang="en-US" sz="1000" dirty="0"/>
          </a:p>
        </p:txBody>
      </p:sp>
      <p:sp>
        <p:nvSpPr>
          <p:cNvPr id="32" name="Shape 35">
            <a:extLst>
              <a:ext uri="{FF2B5EF4-FFF2-40B4-BE49-F238E27FC236}">
                <a16:creationId xmlns:a16="http://schemas.microsoft.com/office/drawing/2014/main" id="{4A884649-27FB-8120-5BE7-D8A1EDB74379}"/>
              </a:ext>
            </a:extLst>
          </p:cNvPr>
          <p:cNvSpPr/>
          <p:nvPr/>
        </p:nvSpPr>
        <p:spPr>
          <a:xfrm>
            <a:off x="2305812" y="3106409"/>
            <a:ext cx="2350008" cy="333756"/>
          </a:xfrm>
          <a:prstGeom prst="rect">
            <a:avLst/>
          </a:prstGeom>
          <a:solidFill>
            <a:srgbClr val="FFFFFF"/>
          </a:solidFill>
          <a:ln w="5080">
            <a:solidFill>
              <a:srgbClr val="D0E8EC"/>
            </a:solidFill>
            <a:prstDash val="solid"/>
          </a:ln>
        </p:spPr>
        <p:txBody>
          <a:bodyPr/>
          <a:lstStyle/>
          <a:p>
            <a:endParaRPr lang="en-GB"/>
          </a:p>
        </p:txBody>
      </p:sp>
      <p:sp>
        <p:nvSpPr>
          <p:cNvPr id="33" name="Text 36">
            <a:extLst>
              <a:ext uri="{FF2B5EF4-FFF2-40B4-BE49-F238E27FC236}">
                <a16:creationId xmlns:a16="http://schemas.microsoft.com/office/drawing/2014/main" id="{34EB7032-1221-BBD4-4E05-28F7BD5F2083}"/>
              </a:ext>
            </a:extLst>
          </p:cNvPr>
          <p:cNvSpPr/>
          <p:nvPr/>
        </p:nvSpPr>
        <p:spPr>
          <a:xfrm>
            <a:off x="2351532" y="3106409"/>
            <a:ext cx="2258568" cy="333756"/>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Constriction of stenosis</a:t>
            </a:r>
            <a:endParaRPr lang="en-US" sz="1000" dirty="0"/>
          </a:p>
        </p:txBody>
      </p:sp>
      <p:sp>
        <p:nvSpPr>
          <p:cNvPr id="34" name="Shape 37">
            <a:extLst>
              <a:ext uri="{FF2B5EF4-FFF2-40B4-BE49-F238E27FC236}">
                <a16:creationId xmlns:a16="http://schemas.microsoft.com/office/drawing/2014/main" id="{82D32C41-B136-23FE-ACC0-2C640701515B}"/>
              </a:ext>
            </a:extLst>
          </p:cNvPr>
          <p:cNvSpPr/>
          <p:nvPr/>
        </p:nvSpPr>
        <p:spPr>
          <a:xfrm>
            <a:off x="294132" y="3440165"/>
            <a:ext cx="960120" cy="333756"/>
          </a:xfrm>
          <a:prstGeom prst="rect">
            <a:avLst/>
          </a:prstGeom>
          <a:solidFill>
            <a:srgbClr val="E8F5F7"/>
          </a:solidFill>
          <a:ln w="5080">
            <a:solidFill>
              <a:srgbClr val="D0E8EC"/>
            </a:solidFill>
            <a:prstDash val="solid"/>
          </a:ln>
        </p:spPr>
        <p:txBody>
          <a:bodyPr/>
          <a:lstStyle/>
          <a:p>
            <a:endParaRPr lang="en-GB" dirty="0"/>
          </a:p>
        </p:txBody>
      </p:sp>
      <p:sp>
        <p:nvSpPr>
          <p:cNvPr id="35" name="Text 38">
            <a:extLst>
              <a:ext uri="{FF2B5EF4-FFF2-40B4-BE49-F238E27FC236}">
                <a16:creationId xmlns:a16="http://schemas.microsoft.com/office/drawing/2014/main" id="{0A58CE8D-3000-85B2-A7F4-FA481764EF8F}"/>
              </a:ext>
            </a:extLst>
          </p:cNvPr>
          <p:cNvSpPr/>
          <p:nvPr/>
        </p:nvSpPr>
        <p:spPr>
          <a:xfrm>
            <a:off x="339852" y="3440165"/>
            <a:ext cx="868680" cy="333756"/>
          </a:xfrm>
          <a:prstGeom prst="rect">
            <a:avLst/>
          </a:prstGeom>
          <a:noFill/>
          <a:ln/>
        </p:spPr>
        <p:txBody>
          <a:bodyPr wrap="square" lIns="0" tIns="0" rIns="0" bIns="0" rtlCol="0" anchor="ctr"/>
          <a:lstStyle/>
          <a:p>
            <a:pPr marL="0" indent="0">
              <a:buNone/>
            </a:pPr>
            <a:endParaRPr lang="en-US" sz="1050" baseline="-25000" dirty="0"/>
          </a:p>
        </p:txBody>
      </p:sp>
      <p:sp>
        <p:nvSpPr>
          <p:cNvPr id="36" name="Shape 39">
            <a:extLst>
              <a:ext uri="{FF2B5EF4-FFF2-40B4-BE49-F238E27FC236}">
                <a16:creationId xmlns:a16="http://schemas.microsoft.com/office/drawing/2014/main" id="{59593B20-6AF9-DB98-AC44-99691D51808E}"/>
              </a:ext>
            </a:extLst>
          </p:cNvPr>
          <p:cNvSpPr/>
          <p:nvPr/>
        </p:nvSpPr>
        <p:spPr>
          <a:xfrm>
            <a:off x="1254252" y="3440165"/>
            <a:ext cx="1051560" cy="333756"/>
          </a:xfrm>
          <a:prstGeom prst="rect">
            <a:avLst/>
          </a:prstGeom>
          <a:solidFill>
            <a:srgbClr val="E8F5F7"/>
          </a:solidFill>
          <a:ln w="5080">
            <a:solidFill>
              <a:srgbClr val="D0E8EC"/>
            </a:solidFill>
            <a:prstDash val="solid"/>
          </a:ln>
        </p:spPr>
        <p:txBody>
          <a:bodyPr/>
          <a:lstStyle/>
          <a:p>
            <a:endParaRPr lang="en-GB"/>
          </a:p>
        </p:txBody>
      </p:sp>
      <p:sp>
        <p:nvSpPr>
          <p:cNvPr id="37" name="Text 40">
            <a:extLst>
              <a:ext uri="{FF2B5EF4-FFF2-40B4-BE49-F238E27FC236}">
                <a16:creationId xmlns:a16="http://schemas.microsoft.com/office/drawing/2014/main" id="{C8352154-FA3D-4B0B-0183-F5DA4C0C1C8E}"/>
              </a:ext>
            </a:extLst>
          </p:cNvPr>
          <p:cNvSpPr/>
          <p:nvPr/>
        </p:nvSpPr>
        <p:spPr>
          <a:xfrm>
            <a:off x="1299972" y="3440165"/>
            <a:ext cx="960120" cy="333756"/>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cs typeface="Calibri" pitchFamily="34" charset="-120"/>
              </a:rPr>
              <a:t>250</a:t>
            </a:r>
            <a:endParaRPr lang="en-US" sz="1000" dirty="0"/>
          </a:p>
        </p:txBody>
      </p:sp>
      <p:sp>
        <p:nvSpPr>
          <p:cNvPr id="38" name="Shape 41">
            <a:extLst>
              <a:ext uri="{FF2B5EF4-FFF2-40B4-BE49-F238E27FC236}">
                <a16:creationId xmlns:a16="http://schemas.microsoft.com/office/drawing/2014/main" id="{4292725A-0EF0-0525-F4A5-845E79315144}"/>
              </a:ext>
            </a:extLst>
          </p:cNvPr>
          <p:cNvSpPr/>
          <p:nvPr/>
        </p:nvSpPr>
        <p:spPr>
          <a:xfrm>
            <a:off x="2305812" y="3440165"/>
            <a:ext cx="2350008" cy="333756"/>
          </a:xfrm>
          <a:prstGeom prst="rect">
            <a:avLst/>
          </a:prstGeom>
          <a:solidFill>
            <a:srgbClr val="E8F5F7"/>
          </a:solidFill>
          <a:ln w="5080">
            <a:solidFill>
              <a:srgbClr val="D0E8EC"/>
            </a:solidFill>
            <a:prstDash val="solid"/>
          </a:ln>
        </p:spPr>
        <p:txBody>
          <a:bodyPr/>
          <a:lstStyle/>
          <a:p>
            <a:endParaRPr lang="en-GB"/>
          </a:p>
        </p:txBody>
      </p:sp>
      <p:sp>
        <p:nvSpPr>
          <p:cNvPr id="40" name="Shape 43">
            <a:extLst>
              <a:ext uri="{FF2B5EF4-FFF2-40B4-BE49-F238E27FC236}">
                <a16:creationId xmlns:a16="http://schemas.microsoft.com/office/drawing/2014/main" id="{95880DC2-DF66-39AC-E14F-C3B1822842C1}"/>
              </a:ext>
            </a:extLst>
          </p:cNvPr>
          <p:cNvSpPr/>
          <p:nvPr/>
        </p:nvSpPr>
        <p:spPr>
          <a:xfrm>
            <a:off x="294132" y="3773921"/>
            <a:ext cx="960120" cy="333756"/>
          </a:xfrm>
          <a:prstGeom prst="rect">
            <a:avLst/>
          </a:prstGeom>
          <a:solidFill>
            <a:srgbClr val="FFFFFF"/>
          </a:solidFill>
          <a:ln w="5080">
            <a:solidFill>
              <a:srgbClr val="D0E8EC"/>
            </a:solidFill>
            <a:prstDash val="solid"/>
          </a:ln>
        </p:spPr>
        <p:txBody>
          <a:bodyPr/>
          <a:lstStyle/>
          <a:p>
            <a:endParaRPr lang="en-GB"/>
          </a:p>
        </p:txBody>
      </p:sp>
      <p:sp>
        <p:nvSpPr>
          <p:cNvPr id="41" name="Text 44">
            <a:extLst>
              <a:ext uri="{FF2B5EF4-FFF2-40B4-BE49-F238E27FC236}">
                <a16:creationId xmlns:a16="http://schemas.microsoft.com/office/drawing/2014/main" id="{13747077-9C0B-CBCD-2EBA-ABEF8747F337}"/>
              </a:ext>
            </a:extLst>
          </p:cNvPr>
          <p:cNvSpPr/>
          <p:nvPr/>
        </p:nvSpPr>
        <p:spPr>
          <a:xfrm>
            <a:off x="339852" y="3773921"/>
            <a:ext cx="868680" cy="333756"/>
          </a:xfrm>
          <a:prstGeom prst="rect">
            <a:avLst/>
          </a:prstGeom>
          <a:noFill/>
          <a:ln/>
        </p:spPr>
        <p:txBody>
          <a:bodyPr wrap="square" lIns="0" tIns="0" rIns="0" bIns="0" rtlCol="0" anchor="ctr"/>
          <a:lstStyle/>
          <a:p>
            <a:pPr marL="0" indent="0">
              <a:buNone/>
            </a:pPr>
            <a:r>
              <a:rPr lang="en-US" sz="1050" b="1" dirty="0" err="1">
                <a:solidFill>
                  <a:srgbClr val="0D1B3E"/>
                </a:solidFill>
                <a:latin typeface="Cambria Math" pitchFamily="34" charset="0"/>
                <a:ea typeface="Cambria Math" pitchFamily="34" charset="-122"/>
              </a:rPr>
              <a:t>X_min</a:t>
            </a:r>
            <a:endParaRPr lang="en-US" sz="1050" dirty="0"/>
          </a:p>
        </p:txBody>
      </p:sp>
      <p:sp>
        <p:nvSpPr>
          <p:cNvPr id="42" name="Shape 45">
            <a:extLst>
              <a:ext uri="{FF2B5EF4-FFF2-40B4-BE49-F238E27FC236}">
                <a16:creationId xmlns:a16="http://schemas.microsoft.com/office/drawing/2014/main" id="{D35652E1-FE13-895D-A8E1-1ABABFBE0C33}"/>
              </a:ext>
            </a:extLst>
          </p:cNvPr>
          <p:cNvSpPr/>
          <p:nvPr/>
        </p:nvSpPr>
        <p:spPr>
          <a:xfrm>
            <a:off x="1254252" y="3773921"/>
            <a:ext cx="1051560" cy="333756"/>
          </a:xfrm>
          <a:prstGeom prst="rect">
            <a:avLst/>
          </a:prstGeom>
          <a:solidFill>
            <a:srgbClr val="FFFFFF"/>
          </a:solidFill>
          <a:ln w="5080">
            <a:solidFill>
              <a:srgbClr val="D0E8EC"/>
            </a:solidFill>
            <a:prstDash val="solid"/>
          </a:ln>
        </p:spPr>
        <p:txBody>
          <a:bodyPr/>
          <a:lstStyle/>
          <a:p>
            <a:endParaRPr lang="en-GB"/>
          </a:p>
        </p:txBody>
      </p:sp>
      <p:sp>
        <p:nvSpPr>
          <p:cNvPr id="43" name="Text 46">
            <a:extLst>
              <a:ext uri="{FF2B5EF4-FFF2-40B4-BE49-F238E27FC236}">
                <a16:creationId xmlns:a16="http://schemas.microsoft.com/office/drawing/2014/main" id="{08D525B6-CC06-ED90-961F-903CCAB4495C}"/>
              </a:ext>
            </a:extLst>
          </p:cNvPr>
          <p:cNvSpPr/>
          <p:nvPr/>
        </p:nvSpPr>
        <p:spPr>
          <a:xfrm>
            <a:off x="1299972" y="3773921"/>
            <a:ext cx="960120" cy="333756"/>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cs typeface="Calibri" pitchFamily="34" charset="-120"/>
              </a:rPr>
              <a:t>-10 * Ds</a:t>
            </a:r>
            <a:endParaRPr lang="en-US" sz="1000" dirty="0"/>
          </a:p>
        </p:txBody>
      </p:sp>
      <p:sp>
        <p:nvSpPr>
          <p:cNvPr id="44" name="Shape 47">
            <a:extLst>
              <a:ext uri="{FF2B5EF4-FFF2-40B4-BE49-F238E27FC236}">
                <a16:creationId xmlns:a16="http://schemas.microsoft.com/office/drawing/2014/main" id="{3B35D4D7-A075-47C0-CDF6-CB5D783D564F}"/>
              </a:ext>
            </a:extLst>
          </p:cNvPr>
          <p:cNvSpPr/>
          <p:nvPr/>
        </p:nvSpPr>
        <p:spPr>
          <a:xfrm>
            <a:off x="2305812" y="3773921"/>
            <a:ext cx="2350008" cy="333756"/>
          </a:xfrm>
          <a:prstGeom prst="rect">
            <a:avLst/>
          </a:prstGeom>
          <a:solidFill>
            <a:srgbClr val="FFFFFF"/>
          </a:solidFill>
          <a:ln w="5080">
            <a:solidFill>
              <a:srgbClr val="D0E8EC"/>
            </a:solidFill>
            <a:prstDash val="solid"/>
          </a:ln>
        </p:spPr>
        <p:txBody>
          <a:bodyPr/>
          <a:lstStyle/>
          <a:p>
            <a:endParaRPr lang="en-GB"/>
          </a:p>
        </p:txBody>
      </p:sp>
      <p:sp>
        <p:nvSpPr>
          <p:cNvPr id="46" name="Shape 49">
            <a:extLst>
              <a:ext uri="{FF2B5EF4-FFF2-40B4-BE49-F238E27FC236}">
                <a16:creationId xmlns:a16="http://schemas.microsoft.com/office/drawing/2014/main" id="{A6674D88-0E19-F07A-EFDE-62E84E424FA4}"/>
              </a:ext>
            </a:extLst>
          </p:cNvPr>
          <p:cNvSpPr/>
          <p:nvPr/>
        </p:nvSpPr>
        <p:spPr>
          <a:xfrm>
            <a:off x="294132" y="4107677"/>
            <a:ext cx="960120" cy="333756"/>
          </a:xfrm>
          <a:prstGeom prst="rect">
            <a:avLst/>
          </a:prstGeom>
          <a:solidFill>
            <a:srgbClr val="E8F5F7"/>
          </a:solidFill>
          <a:ln w="5080">
            <a:solidFill>
              <a:srgbClr val="D0E8EC"/>
            </a:solidFill>
            <a:prstDash val="solid"/>
          </a:ln>
        </p:spPr>
        <p:txBody>
          <a:bodyPr/>
          <a:lstStyle/>
          <a:p>
            <a:endParaRPr lang="en-GB"/>
          </a:p>
        </p:txBody>
      </p:sp>
      <p:sp>
        <p:nvSpPr>
          <p:cNvPr id="47" name="Text 50">
            <a:extLst>
              <a:ext uri="{FF2B5EF4-FFF2-40B4-BE49-F238E27FC236}">
                <a16:creationId xmlns:a16="http://schemas.microsoft.com/office/drawing/2014/main" id="{5DE410F6-B4AE-CBBC-BB63-EC56506342BB}"/>
              </a:ext>
            </a:extLst>
          </p:cNvPr>
          <p:cNvSpPr/>
          <p:nvPr/>
        </p:nvSpPr>
        <p:spPr>
          <a:xfrm>
            <a:off x="339852" y="4107677"/>
            <a:ext cx="868680" cy="333756"/>
          </a:xfrm>
          <a:prstGeom prst="rect">
            <a:avLst/>
          </a:prstGeom>
          <a:noFill/>
          <a:ln/>
        </p:spPr>
        <p:txBody>
          <a:bodyPr wrap="square" lIns="0" tIns="0" rIns="0" bIns="0" rtlCol="0" anchor="ctr"/>
          <a:lstStyle/>
          <a:p>
            <a:pPr marL="0" indent="0">
              <a:buNone/>
            </a:pPr>
            <a:r>
              <a:rPr lang="en-US" sz="1050" b="1" dirty="0" err="1">
                <a:solidFill>
                  <a:srgbClr val="0D1B3E"/>
                </a:solidFill>
                <a:latin typeface="Cambria Math" pitchFamily="34" charset="0"/>
                <a:ea typeface="Cambria Math" pitchFamily="34" charset="-122"/>
              </a:rPr>
              <a:t>X_max</a:t>
            </a:r>
            <a:endParaRPr lang="en-US" sz="1050" dirty="0"/>
          </a:p>
        </p:txBody>
      </p:sp>
      <p:sp>
        <p:nvSpPr>
          <p:cNvPr id="48" name="Shape 51">
            <a:extLst>
              <a:ext uri="{FF2B5EF4-FFF2-40B4-BE49-F238E27FC236}">
                <a16:creationId xmlns:a16="http://schemas.microsoft.com/office/drawing/2014/main" id="{77A895A6-2E8B-7A0C-E9B8-DE78E00600BA}"/>
              </a:ext>
            </a:extLst>
          </p:cNvPr>
          <p:cNvSpPr/>
          <p:nvPr/>
        </p:nvSpPr>
        <p:spPr>
          <a:xfrm>
            <a:off x="1254252" y="4107677"/>
            <a:ext cx="1051560" cy="333756"/>
          </a:xfrm>
          <a:prstGeom prst="rect">
            <a:avLst/>
          </a:prstGeom>
          <a:solidFill>
            <a:srgbClr val="E8F5F7"/>
          </a:solidFill>
          <a:ln w="5080">
            <a:solidFill>
              <a:srgbClr val="D0E8EC"/>
            </a:solidFill>
            <a:prstDash val="solid"/>
          </a:ln>
        </p:spPr>
        <p:txBody>
          <a:bodyPr/>
          <a:lstStyle/>
          <a:p>
            <a:endParaRPr lang="en-GB"/>
          </a:p>
        </p:txBody>
      </p:sp>
      <p:sp>
        <p:nvSpPr>
          <p:cNvPr id="49" name="Text 52">
            <a:extLst>
              <a:ext uri="{FF2B5EF4-FFF2-40B4-BE49-F238E27FC236}">
                <a16:creationId xmlns:a16="http://schemas.microsoft.com/office/drawing/2014/main" id="{0E44EE6F-27EB-7CF6-A064-7AC561F893FE}"/>
              </a:ext>
            </a:extLst>
          </p:cNvPr>
          <p:cNvSpPr/>
          <p:nvPr/>
        </p:nvSpPr>
        <p:spPr>
          <a:xfrm>
            <a:off x="1299972" y="4107677"/>
            <a:ext cx="960120" cy="333756"/>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cs typeface="Calibri" pitchFamily="34" charset="-120"/>
              </a:rPr>
              <a:t>20 * Ds</a:t>
            </a:r>
            <a:endParaRPr lang="en-US" sz="1000" dirty="0"/>
          </a:p>
        </p:txBody>
      </p:sp>
      <p:sp>
        <p:nvSpPr>
          <p:cNvPr id="50" name="Shape 53">
            <a:extLst>
              <a:ext uri="{FF2B5EF4-FFF2-40B4-BE49-F238E27FC236}">
                <a16:creationId xmlns:a16="http://schemas.microsoft.com/office/drawing/2014/main" id="{003BEFCB-DA16-1EF4-A0BE-9A095CA293E5}"/>
              </a:ext>
            </a:extLst>
          </p:cNvPr>
          <p:cNvSpPr/>
          <p:nvPr/>
        </p:nvSpPr>
        <p:spPr>
          <a:xfrm>
            <a:off x="2305812" y="4107677"/>
            <a:ext cx="2350008" cy="333756"/>
          </a:xfrm>
          <a:prstGeom prst="rect">
            <a:avLst/>
          </a:prstGeom>
          <a:solidFill>
            <a:srgbClr val="E8F5F7"/>
          </a:solidFill>
          <a:ln w="5080">
            <a:solidFill>
              <a:srgbClr val="D0E8EC"/>
            </a:solidFill>
            <a:prstDash val="solid"/>
          </a:ln>
        </p:spPr>
        <p:txBody>
          <a:bodyPr/>
          <a:lstStyle/>
          <a:p>
            <a:endParaRPr lang="en-GB"/>
          </a:p>
        </p:txBody>
      </p:sp>
      <mc:AlternateContent xmlns:mc="http://schemas.openxmlformats.org/markup-compatibility/2006" xmlns:a14="http://schemas.microsoft.com/office/drawing/2010/main">
        <mc:Choice Requires="a14">
          <p:sp>
            <p:nvSpPr>
              <p:cNvPr id="56" name="Shape 59">
                <a:extLst>
                  <a:ext uri="{FF2B5EF4-FFF2-40B4-BE49-F238E27FC236}">
                    <a16:creationId xmlns:a16="http://schemas.microsoft.com/office/drawing/2014/main" id="{E603A952-1DF6-83C3-88A0-72E63100C5E1}"/>
                  </a:ext>
                </a:extLst>
              </p:cNvPr>
              <p:cNvSpPr/>
              <p:nvPr/>
            </p:nvSpPr>
            <p:spPr>
              <a:xfrm>
                <a:off x="294132" y="4441432"/>
                <a:ext cx="4361688" cy="533135"/>
              </a:xfrm>
              <a:prstGeom prst="rect">
                <a:avLst/>
              </a:prstGeom>
              <a:solidFill>
                <a:srgbClr val="FFFFFF"/>
              </a:solidFill>
              <a:ln w="5080">
                <a:solidFill>
                  <a:srgbClr val="D0E8EC"/>
                </a:solidFill>
                <a:prstDash val="solid"/>
              </a:ln>
            </p:spPr>
            <p:txBody>
              <a:bodyPr/>
              <a:lstStyle/>
              <a:p>
                <a:pPr/>
                <a14:m>
                  <m:oMathPara xmlns:m="http://schemas.openxmlformats.org/officeDocument/2006/math">
                    <m:oMathParaPr>
                      <m:jc m:val="centerGroup"/>
                    </m:oMathParaPr>
                    <m:oMath xmlns:m="http://schemas.openxmlformats.org/officeDocument/2006/math">
                      <m:r>
                        <a:rPr lang="en-IN" sz="1200" b="0" i="1" smtClean="0">
                          <a:latin typeface="Cambria Math" panose="02040503050406030204" pitchFamily="18" charset="0"/>
                        </a:rPr>
                        <m:t>𝑟</m:t>
                      </m:r>
                      <m:d>
                        <m:dPr>
                          <m:ctrlPr>
                            <a:rPr lang="en-IN" sz="1200" b="0" i="1" smtClean="0">
                              <a:latin typeface="Cambria Math" panose="02040503050406030204" pitchFamily="18" charset="0"/>
                            </a:rPr>
                          </m:ctrlPr>
                        </m:dPr>
                        <m:e>
                          <m:r>
                            <a:rPr lang="en-IN" sz="1200" b="0" i="1" smtClean="0">
                              <a:latin typeface="Cambria Math" panose="02040503050406030204" pitchFamily="18" charset="0"/>
                            </a:rPr>
                            <m:t>𝑥</m:t>
                          </m:r>
                        </m:e>
                      </m:d>
                      <m:r>
                        <a:rPr lang="en-IN" sz="1200" b="0" i="1" smtClean="0">
                          <a:latin typeface="Cambria Math" panose="02040503050406030204" pitchFamily="18" charset="0"/>
                        </a:rPr>
                        <m:t>= </m:t>
                      </m:r>
                      <m:f>
                        <m:fPr>
                          <m:ctrlPr>
                            <a:rPr lang="en-IN" sz="1200" b="0" i="1" smtClean="0">
                              <a:latin typeface="Cambria Math" panose="02040503050406030204" pitchFamily="18" charset="0"/>
                            </a:rPr>
                          </m:ctrlPr>
                        </m:fPr>
                        <m:num>
                          <m:sSub>
                            <m:sSubPr>
                              <m:ctrlPr>
                                <a:rPr lang="en-IN" sz="1200" b="0" i="1" smtClean="0">
                                  <a:latin typeface="Cambria Math" panose="02040503050406030204" pitchFamily="18" charset="0"/>
                                </a:rPr>
                              </m:ctrlPr>
                            </m:sSubPr>
                            <m:e>
                              <m:r>
                                <a:rPr lang="en-IN" sz="1200" b="0" i="1" smtClean="0">
                                  <a:latin typeface="Cambria Math" panose="02040503050406030204" pitchFamily="18" charset="0"/>
                                </a:rPr>
                                <m:t>𝐷</m:t>
                              </m:r>
                            </m:e>
                            <m:sub>
                              <m:r>
                                <a:rPr lang="en-IN" sz="1200" b="0" i="1" smtClean="0">
                                  <a:latin typeface="Cambria Math" panose="02040503050406030204" pitchFamily="18" charset="0"/>
                                </a:rPr>
                                <m:t>𝑠</m:t>
                              </m:r>
                            </m:sub>
                          </m:sSub>
                        </m:num>
                        <m:den>
                          <m:r>
                            <a:rPr lang="en-IN" sz="1200" b="0" i="1" smtClean="0">
                              <a:latin typeface="Cambria Math" panose="02040503050406030204" pitchFamily="18" charset="0"/>
                            </a:rPr>
                            <m:t>2</m:t>
                          </m:r>
                        </m:den>
                      </m:f>
                      <m:r>
                        <a:rPr lang="en-IN" sz="1200" b="0" i="1" smtClean="0">
                          <a:latin typeface="Cambria Math" panose="02040503050406030204" pitchFamily="18" charset="0"/>
                        </a:rPr>
                        <m:t>− </m:t>
                      </m:r>
                      <m:sSub>
                        <m:sSubPr>
                          <m:ctrlPr>
                            <a:rPr lang="en-IN" sz="1200" b="0" i="1" smtClean="0">
                              <a:latin typeface="Cambria Math" panose="02040503050406030204" pitchFamily="18" charset="0"/>
                            </a:rPr>
                          </m:ctrlPr>
                        </m:sSubPr>
                        <m:e>
                          <m:r>
                            <a:rPr lang="en-IN" sz="1200" b="0" i="1" smtClean="0">
                              <a:latin typeface="Cambria Math" panose="02040503050406030204" pitchFamily="18" charset="0"/>
                            </a:rPr>
                            <m:t>𝐻</m:t>
                          </m:r>
                        </m:e>
                        <m:sub>
                          <m:r>
                            <a:rPr lang="en-IN" sz="1200" b="0" i="1" smtClean="0">
                              <a:latin typeface="Cambria Math" panose="02040503050406030204" pitchFamily="18" charset="0"/>
                            </a:rPr>
                            <m:t>𝑠</m:t>
                          </m:r>
                        </m:sub>
                      </m:sSub>
                      <m:func>
                        <m:funcPr>
                          <m:ctrlPr>
                            <a:rPr lang="en-IN" sz="1200" b="0" i="1" smtClean="0">
                              <a:latin typeface="Cambria Math" panose="02040503050406030204" pitchFamily="18" charset="0"/>
                            </a:rPr>
                          </m:ctrlPr>
                        </m:funcPr>
                        <m:fName>
                          <m:r>
                            <m:rPr>
                              <m:sty m:val="p"/>
                            </m:rPr>
                            <a:rPr lang="en-IN" sz="1200" b="0" i="0" smtClean="0">
                              <a:latin typeface="Cambria Math" panose="02040503050406030204" pitchFamily="18" charset="0"/>
                            </a:rPr>
                            <m:t>exp</m:t>
                          </m:r>
                        </m:fName>
                        <m:e>
                          <m:r>
                            <a:rPr lang="en-IN" sz="1200" b="0" i="1" smtClean="0">
                              <a:latin typeface="Cambria Math" panose="02040503050406030204" pitchFamily="18" charset="0"/>
                            </a:rPr>
                            <m:t>(</m:t>
                          </m:r>
                          <m:f>
                            <m:fPr>
                              <m:ctrlPr>
                                <a:rPr lang="en-IN" sz="1200" i="1">
                                  <a:latin typeface="Cambria Math" panose="02040503050406030204" pitchFamily="18" charset="0"/>
                                </a:rPr>
                              </m:ctrlPr>
                            </m:fPr>
                            <m:num>
                              <m:r>
                                <a:rPr lang="en-IN" sz="1200" i="1">
                                  <a:latin typeface="Cambria Math" panose="02040503050406030204" pitchFamily="18" charset="0"/>
                                </a:rPr>
                                <m:t>−</m:t>
                              </m:r>
                              <m:sSup>
                                <m:sSupPr>
                                  <m:ctrlPr>
                                    <a:rPr lang="en-IN" sz="1200" i="1">
                                      <a:latin typeface="Cambria Math" panose="02040503050406030204" pitchFamily="18" charset="0"/>
                                    </a:rPr>
                                  </m:ctrlPr>
                                </m:sSupPr>
                                <m:e>
                                  <m:r>
                                    <a:rPr lang="en-IN" sz="1200" i="1">
                                      <a:latin typeface="Cambria Math" panose="02040503050406030204" pitchFamily="18" charset="0"/>
                                    </a:rPr>
                                    <m:t>𝑥</m:t>
                                  </m:r>
                                </m:e>
                                <m:sup>
                                  <m:r>
                                    <a:rPr lang="en-IN" sz="1200" i="1">
                                      <a:latin typeface="Cambria Math" panose="02040503050406030204" pitchFamily="18" charset="0"/>
                                    </a:rPr>
                                    <m:t>2</m:t>
                                  </m:r>
                                </m:sup>
                              </m:sSup>
                            </m:num>
                            <m:den>
                              <m:r>
                                <a:rPr lang="en-IN" sz="1200" i="1">
                                  <a:latin typeface="Cambria Math" panose="02040503050406030204" pitchFamily="18" charset="0"/>
                                </a:rPr>
                                <m:t>2</m:t>
                              </m:r>
                              <m:sSup>
                                <m:sSupPr>
                                  <m:ctrlPr>
                                    <a:rPr lang="en-IN" sz="1200" i="1">
                                      <a:latin typeface="Cambria Math" panose="02040503050406030204" pitchFamily="18" charset="0"/>
                                    </a:rPr>
                                  </m:ctrlPr>
                                </m:sSupPr>
                                <m:e>
                                  <m:r>
                                    <a:rPr lang="en-IN" sz="1200" i="1">
                                      <a:latin typeface="Cambria Math" panose="02040503050406030204" pitchFamily="18" charset="0"/>
                                    </a:rPr>
                                    <m:t>𝑊</m:t>
                                  </m:r>
                                  <m:r>
                                    <a:rPr lang="en-IN" sz="1200" b="0" i="1" baseline="-25000" smtClean="0">
                                      <a:latin typeface="Cambria Math" panose="02040503050406030204" pitchFamily="18" charset="0"/>
                                    </a:rPr>
                                    <m:t>𝑠</m:t>
                                  </m:r>
                                </m:e>
                                <m:sup>
                                  <m:r>
                                    <a:rPr lang="en-IN" sz="1200" i="1">
                                      <a:latin typeface="Cambria Math" panose="02040503050406030204" pitchFamily="18" charset="0"/>
                                    </a:rPr>
                                    <m:t>2</m:t>
                                  </m:r>
                                </m:sup>
                              </m:sSup>
                            </m:den>
                          </m:f>
                          <m:r>
                            <a:rPr lang="en-IN" sz="1200" b="0" i="1" smtClean="0">
                              <a:latin typeface="Cambria Math" panose="02040503050406030204" pitchFamily="18" charset="0"/>
                            </a:rPr>
                            <m:t>)</m:t>
                          </m:r>
                        </m:e>
                      </m:func>
                    </m:oMath>
                  </m:oMathPara>
                </a14:m>
                <a:endParaRPr lang="en-GB" dirty="0"/>
              </a:p>
            </p:txBody>
          </p:sp>
        </mc:Choice>
        <mc:Fallback xmlns="">
          <p:sp>
            <p:nvSpPr>
              <p:cNvPr id="56" name="Shape 59">
                <a:extLst>
                  <a:ext uri="{FF2B5EF4-FFF2-40B4-BE49-F238E27FC236}">
                    <a16:creationId xmlns:a16="http://schemas.microsoft.com/office/drawing/2014/main" id="{E603A952-1DF6-83C3-88A0-72E63100C5E1}"/>
                  </a:ext>
                </a:extLst>
              </p:cNvPr>
              <p:cNvSpPr>
                <a:spLocks noRot="1" noChangeAspect="1" noMove="1" noResize="1" noEditPoints="1" noAdjustHandles="1" noChangeArrowheads="1" noChangeShapeType="1" noTextEdit="1"/>
              </p:cNvSpPr>
              <p:nvPr/>
            </p:nvSpPr>
            <p:spPr>
              <a:xfrm>
                <a:off x="294132" y="4441432"/>
                <a:ext cx="4361688" cy="533135"/>
              </a:xfrm>
              <a:prstGeom prst="rect">
                <a:avLst/>
              </a:prstGeom>
              <a:blipFill>
                <a:blip r:embed="rId3"/>
                <a:stretch>
                  <a:fillRect/>
                </a:stretch>
              </a:blipFill>
              <a:ln w="5080">
                <a:solidFill>
                  <a:srgbClr val="D0E8EC"/>
                </a:solidFill>
                <a:prstDash val="solid"/>
              </a:ln>
            </p:spPr>
            <p:txBody>
              <a:bodyPr/>
              <a:lstStyle/>
              <a:p>
                <a:r>
                  <a:rPr lang="en-IN">
                    <a:noFill/>
                  </a:rPr>
                  <a:t> </a:t>
                </a:r>
              </a:p>
            </p:txBody>
          </p:sp>
        </mc:Fallback>
      </mc:AlternateContent>
      <p:sp>
        <p:nvSpPr>
          <p:cNvPr id="64" name="AutoShape 2">
            <a:extLst>
              <a:ext uri="{FF2B5EF4-FFF2-40B4-BE49-F238E27FC236}">
                <a16:creationId xmlns:a16="http://schemas.microsoft.com/office/drawing/2014/main" id="{5F2A6E3E-A5C8-94C1-2852-6EAB0C9BB3BA}"/>
              </a:ext>
            </a:extLst>
          </p:cNvPr>
          <p:cNvSpPr>
            <a:spLocks noChangeAspect="1" noChangeArrowheads="1"/>
          </p:cNvSpPr>
          <p:nvPr/>
        </p:nvSpPr>
        <p:spPr bwMode="auto">
          <a:xfrm>
            <a:off x="251460" y="3541511"/>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5" name="AutoShape 4">
            <a:extLst>
              <a:ext uri="{FF2B5EF4-FFF2-40B4-BE49-F238E27FC236}">
                <a16:creationId xmlns:a16="http://schemas.microsoft.com/office/drawing/2014/main" id="{67F10939-041A-FCB4-E58A-593726B7E846}"/>
              </a:ext>
            </a:extLst>
          </p:cNvPr>
          <p:cNvSpPr>
            <a:spLocks noChangeAspect="1" noChangeArrowheads="1"/>
          </p:cNvSpPr>
          <p:nvPr/>
        </p:nvSpPr>
        <p:spPr bwMode="auto">
          <a:xfrm>
            <a:off x="403860" y="3693911"/>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6" name="Text 26">
            <a:extLst>
              <a:ext uri="{FF2B5EF4-FFF2-40B4-BE49-F238E27FC236}">
                <a16:creationId xmlns:a16="http://schemas.microsoft.com/office/drawing/2014/main" id="{06E4AAA8-C232-BA62-8DF3-F3AC15037302}"/>
              </a:ext>
            </a:extLst>
          </p:cNvPr>
          <p:cNvSpPr/>
          <p:nvPr/>
        </p:nvSpPr>
        <p:spPr>
          <a:xfrm>
            <a:off x="339852" y="3106409"/>
            <a:ext cx="868680" cy="333756"/>
          </a:xfrm>
          <a:prstGeom prst="rect">
            <a:avLst/>
          </a:prstGeom>
          <a:noFill/>
          <a:ln/>
        </p:spPr>
        <p:txBody>
          <a:bodyPr wrap="square" lIns="0" tIns="0" rIns="0" bIns="0" rtlCol="0" anchor="ctr"/>
          <a:lstStyle/>
          <a:p>
            <a:pPr marL="0" indent="0">
              <a:buNone/>
            </a:pPr>
            <a:r>
              <a:rPr lang="en-US" sz="1050" b="1" dirty="0">
                <a:solidFill>
                  <a:srgbClr val="0D1B3E"/>
                </a:solidFill>
                <a:latin typeface="Cambria Math" pitchFamily="34" charset="0"/>
                <a:ea typeface="Cambria Math" pitchFamily="34" charset="-122"/>
              </a:rPr>
              <a:t>Hs</a:t>
            </a:r>
            <a:endParaRPr lang="en-US" sz="1050" dirty="0"/>
          </a:p>
        </p:txBody>
      </p:sp>
      <p:sp>
        <p:nvSpPr>
          <p:cNvPr id="67" name="Text 26">
            <a:extLst>
              <a:ext uri="{FF2B5EF4-FFF2-40B4-BE49-F238E27FC236}">
                <a16:creationId xmlns:a16="http://schemas.microsoft.com/office/drawing/2014/main" id="{03E39ED9-87C7-243D-8287-5DF25AA7050A}"/>
              </a:ext>
            </a:extLst>
          </p:cNvPr>
          <p:cNvSpPr/>
          <p:nvPr/>
        </p:nvSpPr>
        <p:spPr>
          <a:xfrm>
            <a:off x="339852" y="3455786"/>
            <a:ext cx="868680" cy="333756"/>
          </a:xfrm>
          <a:prstGeom prst="rect">
            <a:avLst/>
          </a:prstGeom>
          <a:noFill/>
          <a:ln/>
        </p:spPr>
        <p:txBody>
          <a:bodyPr wrap="square" lIns="0" tIns="0" rIns="0" bIns="0" rtlCol="0" anchor="ctr"/>
          <a:lstStyle/>
          <a:p>
            <a:pPr marL="0" indent="0">
              <a:buNone/>
            </a:pPr>
            <a:r>
              <a:rPr lang="en-US" sz="1050" b="1" dirty="0">
                <a:solidFill>
                  <a:srgbClr val="0D1B3E"/>
                </a:solidFill>
                <a:latin typeface="Cambria Math" pitchFamily="34" charset="0"/>
                <a:ea typeface="Cambria Math" pitchFamily="34" charset="-122"/>
              </a:rPr>
              <a:t>Re</a:t>
            </a:r>
            <a:endParaRPr lang="en-US" sz="1050" dirty="0"/>
          </a:p>
        </p:txBody>
      </p:sp>
      <p:sp>
        <p:nvSpPr>
          <p:cNvPr id="6" name="Text 26">
            <a:extLst>
              <a:ext uri="{FF2B5EF4-FFF2-40B4-BE49-F238E27FC236}">
                <a16:creationId xmlns:a16="http://schemas.microsoft.com/office/drawing/2014/main" id="{90E5609E-A9C1-D182-F8D1-0075C88B90F1}"/>
              </a:ext>
            </a:extLst>
          </p:cNvPr>
          <p:cNvSpPr/>
          <p:nvPr/>
        </p:nvSpPr>
        <p:spPr>
          <a:xfrm>
            <a:off x="339852" y="2435731"/>
            <a:ext cx="868680" cy="333756"/>
          </a:xfrm>
          <a:prstGeom prst="rect">
            <a:avLst/>
          </a:prstGeom>
          <a:noFill/>
          <a:ln/>
        </p:spPr>
        <p:txBody>
          <a:bodyPr wrap="square" lIns="0" tIns="0" rIns="0" bIns="0" rtlCol="0" anchor="ctr"/>
          <a:lstStyle/>
          <a:p>
            <a:pPr marL="0" indent="0">
              <a:buNone/>
            </a:pPr>
            <a:r>
              <a:rPr lang="en-US" sz="1050" b="1" dirty="0">
                <a:solidFill>
                  <a:srgbClr val="0D1B3E"/>
                </a:solidFill>
                <a:latin typeface="Cambria Math" pitchFamily="34" charset="0"/>
                <a:ea typeface="Cambria Math" pitchFamily="34" charset="-122"/>
              </a:rPr>
              <a:t>Ds</a:t>
            </a:r>
            <a:endParaRPr lang="en-US" sz="1050" dirty="0"/>
          </a:p>
        </p:txBody>
      </p:sp>
      <p:pic>
        <p:nvPicPr>
          <p:cNvPr id="51" name="Picture 50">
            <a:extLst>
              <a:ext uri="{FF2B5EF4-FFF2-40B4-BE49-F238E27FC236}">
                <a16:creationId xmlns:a16="http://schemas.microsoft.com/office/drawing/2014/main" id="{60488C38-266E-17ED-64A4-8DDF2756624F}"/>
              </a:ext>
            </a:extLst>
          </p:cNvPr>
          <p:cNvPicPr>
            <a:picLocks noChangeAspect="1"/>
          </p:cNvPicPr>
          <p:nvPr/>
        </p:nvPicPr>
        <p:blipFill>
          <a:blip r:embed="rId4"/>
          <a:stretch>
            <a:fillRect/>
          </a:stretch>
        </p:blipFill>
        <p:spPr>
          <a:xfrm>
            <a:off x="5156933" y="1207681"/>
            <a:ext cx="3240082" cy="2791030"/>
          </a:xfrm>
          <a:prstGeom prst="rect">
            <a:avLst/>
          </a:prstGeom>
        </p:spPr>
      </p:pic>
      <p:pic>
        <p:nvPicPr>
          <p:cNvPr id="53" name="Picture 52">
            <a:extLst>
              <a:ext uri="{FF2B5EF4-FFF2-40B4-BE49-F238E27FC236}">
                <a16:creationId xmlns:a16="http://schemas.microsoft.com/office/drawing/2014/main" id="{7BD8C9EE-F030-6B3B-9DCB-A97B99999196}"/>
              </a:ext>
            </a:extLst>
          </p:cNvPr>
          <p:cNvPicPr>
            <a:picLocks noChangeAspect="1"/>
          </p:cNvPicPr>
          <p:nvPr/>
        </p:nvPicPr>
        <p:blipFill>
          <a:blip r:embed="rId5"/>
          <a:stretch>
            <a:fillRect/>
          </a:stretch>
        </p:blipFill>
        <p:spPr>
          <a:xfrm>
            <a:off x="274320" y="1138886"/>
            <a:ext cx="3480502" cy="817749"/>
          </a:xfrm>
          <a:prstGeom prst="rect">
            <a:avLst/>
          </a:prstGeom>
        </p:spPr>
      </p:pic>
    </p:spTree>
    <p:extLst>
      <p:ext uri="{BB962C8B-B14F-4D97-AF65-F5344CB8AC3E}">
        <p14:creationId xmlns:p14="http://schemas.microsoft.com/office/powerpoint/2010/main" val="4064687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Grid Independence">
    <p:bg>
      <p:bgPr>
        <a:solidFill>
          <a:srgbClr val="F4F8FA"/>
        </a:solidFill>
        <a:effectLst/>
      </p:bgPr>
    </p:bg>
    <p:spTree>
      <p:nvGrpSpPr>
        <p:cNvPr id="1" name=""/>
        <p:cNvGrpSpPr/>
        <p:nvPr/>
      </p:nvGrpSpPr>
      <p:grpSpPr>
        <a:xfrm>
          <a:off x="0" y="0"/>
          <a:ext cx="0" cy="0"/>
          <a:chOff x="0" y="0"/>
          <a:chExt cx="0" cy="0"/>
        </a:xfrm>
      </p:grpSpPr>
      <p:sp>
        <p:nvSpPr>
          <p:cNvPr id="10" name="Shape 0">
            <a:extLst>
              <a:ext uri="{FF2B5EF4-FFF2-40B4-BE49-F238E27FC236}">
                <a16:creationId xmlns:a16="http://schemas.microsoft.com/office/drawing/2014/main" id="{A50FDE08-988D-3A03-39A2-A7CC1F4450F7}"/>
              </a:ext>
            </a:extLst>
          </p:cNvPr>
          <p:cNvSpPr/>
          <p:nvPr/>
        </p:nvSpPr>
        <p:spPr>
          <a:xfrm>
            <a:off x="0" y="0"/>
            <a:ext cx="9144000" cy="658368"/>
          </a:xfrm>
          <a:prstGeom prst="rect">
            <a:avLst/>
          </a:prstGeom>
          <a:solidFill>
            <a:srgbClr val="0D1B3E"/>
          </a:solidFill>
          <a:ln w="12700">
            <a:solidFill>
              <a:srgbClr val="0D1B3E"/>
            </a:solidFill>
            <a:prstDash val="solid"/>
          </a:ln>
        </p:spPr>
        <p:txBody>
          <a:bodyPr/>
          <a:lstStyle/>
          <a:p>
            <a:endParaRPr lang="en-GB"/>
          </a:p>
        </p:txBody>
      </p:sp>
      <p:sp>
        <p:nvSpPr>
          <p:cNvPr id="11" name="Text 1">
            <a:extLst>
              <a:ext uri="{FF2B5EF4-FFF2-40B4-BE49-F238E27FC236}">
                <a16:creationId xmlns:a16="http://schemas.microsoft.com/office/drawing/2014/main" id="{D07EFE90-0809-5EB0-857B-4A598457D1F7}"/>
              </a:ext>
            </a:extLst>
          </p:cNvPr>
          <p:cNvSpPr/>
          <p:nvPr/>
        </p:nvSpPr>
        <p:spPr>
          <a:xfrm>
            <a:off x="320040" y="0"/>
            <a:ext cx="8503920" cy="658368"/>
          </a:xfrm>
          <a:prstGeom prst="rect">
            <a:avLst/>
          </a:prstGeom>
          <a:noFill/>
          <a:ln/>
        </p:spPr>
        <p:txBody>
          <a:bodyPr wrap="square" lIns="0" tIns="0" rIns="0" bIns="0" rtlCol="0" anchor="ctr"/>
          <a:lstStyle/>
          <a:p>
            <a:pPr marL="0" indent="0">
              <a:buNone/>
            </a:pPr>
            <a:r>
              <a:rPr lang="en-US" sz="2000" b="1" dirty="0">
                <a:solidFill>
                  <a:srgbClr val="FFFFFF"/>
                </a:solidFill>
              </a:rPr>
              <a:t>Simplified Flow Domain for Flow Separation</a:t>
            </a:r>
            <a:endParaRPr lang="en-US" sz="2000" dirty="0"/>
          </a:p>
        </p:txBody>
      </p:sp>
      <p:sp>
        <p:nvSpPr>
          <p:cNvPr id="12" name="Shape 3">
            <a:extLst>
              <a:ext uri="{FF2B5EF4-FFF2-40B4-BE49-F238E27FC236}">
                <a16:creationId xmlns:a16="http://schemas.microsoft.com/office/drawing/2014/main" id="{9C1F2248-710F-CD4A-6FF4-49AAC8144B94}"/>
              </a:ext>
            </a:extLst>
          </p:cNvPr>
          <p:cNvSpPr/>
          <p:nvPr/>
        </p:nvSpPr>
        <p:spPr>
          <a:xfrm>
            <a:off x="304800" y="3977365"/>
            <a:ext cx="3530432" cy="412980"/>
          </a:xfrm>
          <a:prstGeom prst="rect">
            <a:avLst/>
          </a:prstGeom>
          <a:solidFill>
            <a:srgbClr val="E8F5F7"/>
          </a:solidFill>
          <a:ln w="19050">
            <a:solidFill>
              <a:srgbClr val="0A7C8C"/>
            </a:solidFill>
            <a:prstDash val="solid"/>
          </a:ln>
        </p:spPr>
        <p:txBody>
          <a:bodyPr/>
          <a:lstStyle/>
          <a:p>
            <a:endParaRPr lang="en-GB"/>
          </a:p>
        </p:txBody>
      </p:sp>
      <p:sp>
        <p:nvSpPr>
          <p:cNvPr id="13" name="TextBox 12">
            <a:extLst>
              <a:ext uri="{FF2B5EF4-FFF2-40B4-BE49-F238E27FC236}">
                <a16:creationId xmlns:a16="http://schemas.microsoft.com/office/drawing/2014/main" id="{30496BD8-35FE-8133-4033-61830CA37B2F}"/>
              </a:ext>
            </a:extLst>
          </p:cNvPr>
          <p:cNvSpPr txBox="1"/>
          <p:nvPr/>
        </p:nvSpPr>
        <p:spPr>
          <a:xfrm>
            <a:off x="304800" y="4029966"/>
            <a:ext cx="3530432" cy="276999"/>
          </a:xfrm>
          <a:prstGeom prst="rect">
            <a:avLst/>
          </a:prstGeom>
          <a:noFill/>
        </p:spPr>
        <p:txBody>
          <a:bodyPr wrap="square" rtlCol="0">
            <a:spAutoFit/>
          </a:bodyPr>
          <a:lstStyle/>
          <a:p>
            <a:pPr algn="ctr"/>
            <a:r>
              <a:rPr lang="en-US" sz="1200" dirty="0" err="1"/>
              <a:t>V_in_sep</a:t>
            </a:r>
            <a:r>
              <a:rPr lang="en-US" sz="1200" dirty="0"/>
              <a:t>(t) = 0.0036 + 0.004sin(7.554(t-0.148))</a:t>
            </a:r>
            <a:endParaRPr lang="en-GB" sz="1200" dirty="0"/>
          </a:p>
        </p:txBody>
      </p:sp>
      <p:sp>
        <p:nvSpPr>
          <p:cNvPr id="14" name="Shape 2">
            <a:extLst>
              <a:ext uri="{FF2B5EF4-FFF2-40B4-BE49-F238E27FC236}">
                <a16:creationId xmlns:a16="http://schemas.microsoft.com/office/drawing/2014/main" id="{9F44E795-083C-A361-1EAA-45600706FDB8}"/>
              </a:ext>
            </a:extLst>
          </p:cNvPr>
          <p:cNvSpPr/>
          <p:nvPr/>
        </p:nvSpPr>
        <p:spPr>
          <a:xfrm>
            <a:off x="320040" y="749808"/>
            <a:ext cx="3475932" cy="384048"/>
          </a:xfrm>
          <a:prstGeom prst="roundRect">
            <a:avLst>
              <a:gd name="adj" fmla="val 21429"/>
            </a:avLst>
          </a:prstGeom>
          <a:solidFill>
            <a:srgbClr val="0D1B3E"/>
          </a:solidFill>
          <a:ln w="12700">
            <a:solidFill>
              <a:srgbClr val="0D1B3E"/>
            </a:solidFill>
            <a:prstDash val="solid"/>
          </a:ln>
        </p:spPr>
        <p:txBody>
          <a:bodyPr/>
          <a:lstStyle/>
          <a:p>
            <a:endParaRPr lang="en-GB" dirty="0"/>
          </a:p>
        </p:txBody>
      </p:sp>
      <p:sp>
        <p:nvSpPr>
          <p:cNvPr id="15" name="Text 3">
            <a:extLst>
              <a:ext uri="{FF2B5EF4-FFF2-40B4-BE49-F238E27FC236}">
                <a16:creationId xmlns:a16="http://schemas.microsoft.com/office/drawing/2014/main" id="{12AA2AFF-A773-B0E4-DA34-BDCA3FA4FCA0}"/>
              </a:ext>
            </a:extLst>
          </p:cNvPr>
          <p:cNvSpPr/>
          <p:nvPr/>
        </p:nvSpPr>
        <p:spPr>
          <a:xfrm>
            <a:off x="320040" y="749808"/>
            <a:ext cx="3460692" cy="384047"/>
          </a:xfrm>
          <a:prstGeom prst="rect">
            <a:avLst/>
          </a:prstGeom>
          <a:noFill/>
          <a:ln/>
        </p:spPr>
        <p:txBody>
          <a:bodyPr wrap="square" lIns="0" tIns="0" rIns="0" bIns="0" rtlCol="0" anchor="ctr"/>
          <a:lstStyle/>
          <a:p>
            <a:pPr marL="0" indent="0" algn="ctr">
              <a:buNone/>
            </a:pPr>
            <a:r>
              <a:rPr lang="en-US" sz="1400" b="1" dirty="0">
                <a:solidFill>
                  <a:srgbClr val="FFFFFF"/>
                </a:solidFill>
              </a:rPr>
              <a:t>Geometry</a:t>
            </a:r>
            <a:endParaRPr lang="en-US" sz="1400" dirty="0"/>
          </a:p>
        </p:txBody>
      </p:sp>
      <p:sp>
        <p:nvSpPr>
          <p:cNvPr id="16" name="Shape 3">
            <a:extLst>
              <a:ext uri="{FF2B5EF4-FFF2-40B4-BE49-F238E27FC236}">
                <a16:creationId xmlns:a16="http://schemas.microsoft.com/office/drawing/2014/main" id="{19EC12D3-CC70-3ECD-577A-BA5BEF575116}"/>
              </a:ext>
            </a:extLst>
          </p:cNvPr>
          <p:cNvSpPr/>
          <p:nvPr/>
        </p:nvSpPr>
        <p:spPr>
          <a:xfrm>
            <a:off x="5282367" y="3149197"/>
            <a:ext cx="3556833" cy="486397"/>
          </a:xfrm>
          <a:prstGeom prst="rect">
            <a:avLst/>
          </a:prstGeom>
          <a:solidFill>
            <a:srgbClr val="E8F5F7"/>
          </a:solidFill>
          <a:ln w="19050">
            <a:solidFill>
              <a:srgbClr val="0A7C8C"/>
            </a:solidFill>
            <a:prstDash val="solid"/>
          </a:ln>
        </p:spPr>
        <p:txBody>
          <a:bodyPr/>
          <a:lstStyle/>
          <a:p>
            <a:endParaRPr lang="en-GB" sz="1200" dirty="0"/>
          </a:p>
        </p:txBody>
      </p:sp>
      <p:sp>
        <p:nvSpPr>
          <p:cNvPr id="18" name="TextBox 17">
            <a:extLst>
              <a:ext uri="{FF2B5EF4-FFF2-40B4-BE49-F238E27FC236}">
                <a16:creationId xmlns:a16="http://schemas.microsoft.com/office/drawing/2014/main" id="{B4DBE3D8-B99E-7F3A-EDA2-7A23C502A8C9}"/>
              </a:ext>
            </a:extLst>
          </p:cNvPr>
          <p:cNvSpPr txBox="1"/>
          <p:nvPr/>
        </p:nvSpPr>
        <p:spPr>
          <a:xfrm>
            <a:off x="5282367" y="3238506"/>
            <a:ext cx="3449529" cy="307777"/>
          </a:xfrm>
          <a:prstGeom prst="rect">
            <a:avLst/>
          </a:prstGeom>
          <a:noFill/>
        </p:spPr>
        <p:txBody>
          <a:bodyPr wrap="square" rtlCol="0">
            <a:spAutoFit/>
          </a:bodyPr>
          <a:lstStyle/>
          <a:p>
            <a:r>
              <a:rPr lang="en-US" sz="1400" b="1" dirty="0"/>
              <a:t>Baseline Selection: 340 x 105</a:t>
            </a:r>
            <a:endParaRPr lang="en-GB" sz="1200" dirty="0"/>
          </a:p>
        </p:txBody>
      </p:sp>
      <p:sp>
        <p:nvSpPr>
          <p:cNvPr id="19" name="Shape 2">
            <a:extLst>
              <a:ext uri="{FF2B5EF4-FFF2-40B4-BE49-F238E27FC236}">
                <a16:creationId xmlns:a16="http://schemas.microsoft.com/office/drawing/2014/main" id="{01DC57C8-3975-C091-36E6-B4FCFD40FD06}"/>
              </a:ext>
            </a:extLst>
          </p:cNvPr>
          <p:cNvSpPr/>
          <p:nvPr/>
        </p:nvSpPr>
        <p:spPr>
          <a:xfrm>
            <a:off x="5245395" y="749808"/>
            <a:ext cx="3505225" cy="348890"/>
          </a:xfrm>
          <a:prstGeom prst="roundRect">
            <a:avLst>
              <a:gd name="adj" fmla="val 21429"/>
            </a:avLst>
          </a:prstGeom>
          <a:solidFill>
            <a:srgbClr val="0D1B3E"/>
          </a:solidFill>
          <a:ln w="12700">
            <a:solidFill>
              <a:srgbClr val="0D1B3E"/>
            </a:solidFill>
            <a:prstDash val="solid"/>
          </a:ln>
        </p:spPr>
        <p:txBody>
          <a:bodyPr/>
          <a:lstStyle/>
          <a:p>
            <a:endParaRPr lang="en-GB" dirty="0"/>
          </a:p>
        </p:txBody>
      </p:sp>
      <p:sp>
        <p:nvSpPr>
          <p:cNvPr id="20" name="Text 3">
            <a:extLst>
              <a:ext uri="{FF2B5EF4-FFF2-40B4-BE49-F238E27FC236}">
                <a16:creationId xmlns:a16="http://schemas.microsoft.com/office/drawing/2014/main" id="{EE5F538F-8E18-64F4-F0CD-73C609ED4B9C}"/>
              </a:ext>
            </a:extLst>
          </p:cNvPr>
          <p:cNvSpPr/>
          <p:nvPr/>
        </p:nvSpPr>
        <p:spPr>
          <a:xfrm>
            <a:off x="5255964" y="749808"/>
            <a:ext cx="3475932" cy="384047"/>
          </a:xfrm>
          <a:prstGeom prst="rect">
            <a:avLst/>
          </a:prstGeom>
          <a:noFill/>
          <a:ln/>
        </p:spPr>
        <p:txBody>
          <a:bodyPr wrap="square" lIns="0" tIns="0" rIns="0" bIns="0" rtlCol="0" anchor="ctr"/>
          <a:lstStyle/>
          <a:p>
            <a:pPr marL="0" indent="0" algn="ctr">
              <a:buNone/>
            </a:pPr>
            <a:r>
              <a:rPr lang="en-US" sz="1400" b="1" dirty="0">
                <a:solidFill>
                  <a:srgbClr val="FFFFFF"/>
                </a:solidFill>
              </a:rPr>
              <a:t>Grid Independent Mesh</a:t>
            </a:r>
            <a:endParaRPr lang="en-US" sz="1400" dirty="0"/>
          </a:p>
        </p:txBody>
      </p:sp>
      <p:pic>
        <p:nvPicPr>
          <p:cNvPr id="3" name="Picture 2">
            <a:extLst>
              <a:ext uri="{FF2B5EF4-FFF2-40B4-BE49-F238E27FC236}">
                <a16:creationId xmlns:a16="http://schemas.microsoft.com/office/drawing/2014/main" id="{3EB79369-2DB1-00E2-39C4-027AB5C4FAEA}"/>
              </a:ext>
            </a:extLst>
          </p:cNvPr>
          <p:cNvPicPr>
            <a:picLocks noChangeAspect="1"/>
          </p:cNvPicPr>
          <p:nvPr/>
        </p:nvPicPr>
        <p:blipFill>
          <a:blip r:embed="rId2"/>
          <a:stretch>
            <a:fillRect/>
          </a:stretch>
        </p:blipFill>
        <p:spPr>
          <a:xfrm>
            <a:off x="304800" y="1264760"/>
            <a:ext cx="3473995" cy="1506793"/>
          </a:xfrm>
          <a:prstGeom prst="rect">
            <a:avLst/>
          </a:prstGeom>
        </p:spPr>
      </p:pic>
      <p:sp>
        <p:nvSpPr>
          <p:cNvPr id="4" name="Shape 13">
            <a:extLst>
              <a:ext uri="{FF2B5EF4-FFF2-40B4-BE49-F238E27FC236}">
                <a16:creationId xmlns:a16="http://schemas.microsoft.com/office/drawing/2014/main" id="{97BC2BD6-F0C0-E7B5-0DB9-D830E08D0BC2}"/>
              </a:ext>
            </a:extLst>
          </p:cNvPr>
          <p:cNvSpPr/>
          <p:nvPr/>
        </p:nvSpPr>
        <p:spPr>
          <a:xfrm>
            <a:off x="320040" y="2902457"/>
            <a:ext cx="960120" cy="274320"/>
          </a:xfrm>
          <a:prstGeom prst="rect">
            <a:avLst/>
          </a:prstGeom>
          <a:solidFill>
            <a:srgbClr val="0A7C8C"/>
          </a:solidFill>
          <a:ln w="12700">
            <a:solidFill>
              <a:srgbClr val="0A7C8C"/>
            </a:solidFill>
            <a:prstDash val="solid"/>
          </a:ln>
        </p:spPr>
        <p:txBody>
          <a:bodyPr/>
          <a:lstStyle/>
          <a:p>
            <a:endParaRPr lang="en-GB"/>
          </a:p>
        </p:txBody>
      </p:sp>
      <p:sp>
        <p:nvSpPr>
          <p:cNvPr id="6" name="Text 14">
            <a:extLst>
              <a:ext uri="{FF2B5EF4-FFF2-40B4-BE49-F238E27FC236}">
                <a16:creationId xmlns:a16="http://schemas.microsoft.com/office/drawing/2014/main" id="{BC7EA039-3DA2-7F44-07CC-6DF86DB34DC8}"/>
              </a:ext>
            </a:extLst>
          </p:cNvPr>
          <p:cNvSpPr/>
          <p:nvPr/>
        </p:nvSpPr>
        <p:spPr>
          <a:xfrm>
            <a:off x="320040" y="2902457"/>
            <a:ext cx="960120" cy="274320"/>
          </a:xfrm>
          <a:prstGeom prst="rect">
            <a:avLst/>
          </a:prstGeom>
          <a:noFill/>
          <a:ln/>
        </p:spPr>
        <p:txBody>
          <a:bodyPr wrap="square" lIns="0" tIns="0" rIns="0" bIns="0" rtlCol="0" anchor="ctr"/>
          <a:lstStyle/>
          <a:p>
            <a:pPr marL="0" indent="0" algn="ctr">
              <a:buNone/>
            </a:pPr>
            <a:r>
              <a:rPr lang="en-US" sz="1000" b="1" dirty="0">
                <a:solidFill>
                  <a:srgbClr val="FFFFFF"/>
                </a:solidFill>
              </a:rPr>
              <a:t>Name</a:t>
            </a:r>
            <a:endParaRPr lang="en-US" sz="1000" dirty="0"/>
          </a:p>
        </p:txBody>
      </p:sp>
      <p:sp>
        <p:nvSpPr>
          <p:cNvPr id="7" name="Shape 15">
            <a:extLst>
              <a:ext uri="{FF2B5EF4-FFF2-40B4-BE49-F238E27FC236}">
                <a16:creationId xmlns:a16="http://schemas.microsoft.com/office/drawing/2014/main" id="{A5E27643-FA57-C3B7-1A9C-CC2CD301AE4A}"/>
              </a:ext>
            </a:extLst>
          </p:cNvPr>
          <p:cNvSpPr/>
          <p:nvPr/>
        </p:nvSpPr>
        <p:spPr>
          <a:xfrm>
            <a:off x="1280160" y="2902457"/>
            <a:ext cx="1051560" cy="274320"/>
          </a:xfrm>
          <a:prstGeom prst="rect">
            <a:avLst/>
          </a:prstGeom>
          <a:solidFill>
            <a:srgbClr val="0A7C8C"/>
          </a:solidFill>
          <a:ln w="12700">
            <a:solidFill>
              <a:srgbClr val="0A7C8C"/>
            </a:solidFill>
            <a:prstDash val="solid"/>
          </a:ln>
        </p:spPr>
        <p:txBody>
          <a:bodyPr/>
          <a:lstStyle/>
          <a:p>
            <a:endParaRPr lang="en-GB"/>
          </a:p>
        </p:txBody>
      </p:sp>
      <p:sp>
        <p:nvSpPr>
          <p:cNvPr id="9" name="Text 16">
            <a:extLst>
              <a:ext uri="{FF2B5EF4-FFF2-40B4-BE49-F238E27FC236}">
                <a16:creationId xmlns:a16="http://schemas.microsoft.com/office/drawing/2014/main" id="{8761C19E-ADF9-64A1-B25C-BE147A46FC39}"/>
              </a:ext>
            </a:extLst>
          </p:cNvPr>
          <p:cNvSpPr/>
          <p:nvPr/>
        </p:nvSpPr>
        <p:spPr>
          <a:xfrm>
            <a:off x="1280160" y="2902457"/>
            <a:ext cx="1051560" cy="274320"/>
          </a:xfrm>
          <a:prstGeom prst="rect">
            <a:avLst/>
          </a:prstGeom>
          <a:noFill/>
          <a:ln/>
        </p:spPr>
        <p:txBody>
          <a:bodyPr wrap="square" lIns="0" tIns="0" rIns="0" bIns="0" rtlCol="0" anchor="ctr"/>
          <a:lstStyle/>
          <a:p>
            <a:pPr marL="0" indent="0" algn="ctr">
              <a:buNone/>
            </a:pPr>
            <a:r>
              <a:rPr lang="en-US" sz="1000" b="1" dirty="0">
                <a:solidFill>
                  <a:srgbClr val="FFFFFF"/>
                </a:solidFill>
              </a:rPr>
              <a:t>Value</a:t>
            </a:r>
            <a:endParaRPr lang="en-US" sz="1000" dirty="0"/>
          </a:p>
        </p:txBody>
      </p:sp>
      <p:sp>
        <p:nvSpPr>
          <p:cNvPr id="17" name="Shape 17">
            <a:extLst>
              <a:ext uri="{FF2B5EF4-FFF2-40B4-BE49-F238E27FC236}">
                <a16:creationId xmlns:a16="http://schemas.microsoft.com/office/drawing/2014/main" id="{A3341587-FC3E-58CD-7ED7-EF753842064E}"/>
              </a:ext>
            </a:extLst>
          </p:cNvPr>
          <p:cNvSpPr/>
          <p:nvPr/>
        </p:nvSpPr>
        <p:spPr>
          <a:xfrm>
            <a:off x="2331720" y="2902457"/>
            <a:ext cx="1464252" cy="271154"/>
          </a:xfrm>
          <a:prstGeom prst="rect">
            <a:avLst/>
          </a:prstGeom>
          <a:solidFill>
            <a:srgbClr val="0A7C8C"/>
          </a:solidFill>
          <a:ln w="12700">
            <a:solidFill>
              <a:srgbClr val="0A7C8C"/>
            </a:solidFill>
            <a:prstDash val="solid"/>
          </a:ln>
        </p:spPr>
        <p:txBody>
          <a:bodyPr/>
          <a:lstStyle/>
          <a:p>
            <a:endParaRPr lang="en-GB"/>
          </a:p>
        </p:txBody>
      </p:sp>
      <p:sp>
        <p:nvSpPr>
          <p:cNvPr id="21" name="Text 18">
            <a:extLst>
              <a:ext uri="{FF2B5EF4-FFF2-40B4-BE49-F238E27FC236}">
                <a16:creationId xmlns:a16="http://schemas.microsoft.com/office/drawing/2014/main" id="{929ED00A-B9CE-EE0F-2814-9BCB20DD5B9E}"/>
              </a:ext>
            </a:extLst>
          </p:cNvPr>
          <p:cNvSpPr/>
          <p:nvPr/>
        </p:nvSpPr>
        <p:spPr>
          <a:xfrm>
            <a:off x="2331720" y="2902457"/>
            <a:ext cx="1449012" cy="271154"/>
          </a:xfrm>
          <a:prstGeom prst="rect">
            <a:avLst/>
          </a:prstGeom>
          <a:noFill/>
          <a:ln/>
        </p:spPr>
        <p:txBody>
          <a:bodyPr wrap="square" lIns="0" tIns="0" rIns="0" bIns="0" rtlCol="0" anchor="ctr"/>
          <a:lstStyle/>
          <a:p>
            <a:pPr marL="0" indent="0" algn="ctr">
              <a:buNone/>
            </a:pPr>
            <a:r>
              <a:rPr lang="en-US" sz="1000" b="1" dirty="0">
                <a:solidFill>
                  <a:srgbClr val="FFFFFF"/>
                </a:solidFill>
              </a:rPr>
              <a:t>Description</a:t>
            </a:r>
            <a:endParaRPr lang="en-US" sz="1000" dirty="0"/>
          </a:p>
        </p:txBody>
      </p:sp>
      <p:sp>
        <p:nvSpPr>
          <p:cNvPr id="22" name="Shape 19">
            <a:extLst>
              <a:ext uri="{FF2B5EF4-FFF2-40B4-BE49-F238E27FC236}">
                <a16:creationId xmlns:a16="http://schemas.microsoft.com/office/drawing/2014/main" id="{370C1814-37EB-C870-0B27-1D376225AB8E}"/>
              </a:ext>
            </a:extLst>
          </p:cNvPr>
          <p:cNvSpPr/>
          <p:nvPr/>
        </p:nvSpPr>
        <p:spPr>
          <a:xfrm>
            <a:off x="320040" y="3176777"/>
            <a:ext cx="960120" cy="333756"/>
          </a:xfrm>
          <a:prstGeom prst="rect">
            <a:avLst/>
          </a:prstGeom>
          <a:solidFill>
            <a:srgbClr val="FFFFFF"/>
          </a:solidFill>
          <a:ln w="5080">
            <a:solidFill>
              <a:srgbClr val="D0E8EC"/>
            </a:solidFill>
            <a:prstDash val="solid"/>
          </a:ln>
        </p:spPr>
        <p:txBody>
          <a:bodyPr/>
          <a:lstStyle/>
          <a:p>
            <a:endParaRPr lang="en-GB"/>
          </a:p>
        </p:txBody>
      </p:sp>
      <p:sp>
        <p:nvSpPr>
          <p:cNvPr id="23" name="Shape 21">
            <a:extLst>
              <a:ext uri="{FF2B5EF4-FFF2-40B4-BE49-F238E27FC236}">
                <a16:creationId xmlns:a16="http://schemas.microsoft.com/office/drawing/2014/main" id="{F5E75A3E-FFC3-3A5F-57A0-FE26C0941D33}"/>
              </a:ext>
            </a:extLst>
          </p:cNvPr>
          <p:cNvSpPr/>
          <p:nvPr/>
        </p:nvSpPr>
        <p:spPr>
          <a:xfrm>
            <a:off x="1280160" y="3176777"/>
            <a:ext cx="1051560" cy="333756"/>
          </a:xfrm>
          <a:prstGeom prst="rect">
            <a:avLst/>
          </a:prstGeom>
          <a:solidFill>
            <a:srgbClr val="FFFFFF"/>
          </a:solidFill>
          <a:ln w="5080">
            <a:solidFill>
              <a:srgbClr val="D0E8EC"/>
            </a:solidFill>
            <a:prstDash val="solid"/>
          </a:ln>
        </p:spPr>
        <p:txBody>
          <a:bodyPr/>
          <a:lstStyle/>
          <a:p>
            <a:endParaRPr lang="en-GB"/>
          </a:p>
        </p:txBody>
      </p:sp>
      <p:sp>
        <p:nvSpPr>
          <p:cNvPr id="24" name="Text 22">
            <a:extLst>
              <a:ext uri="{FF2B5EF4-FFF2-40B4-BE49-F238E27FC236}">
                <a16:creationId xmlns:a16="http://schemas.microsoft.com/office/drawing/2014/main" id="{57CB19B2-1B61-38A7-079B-337AFAE9CE98}"/>
              </a:ext>
            </a:extLst>
          </p:cNvPr>
          <p:cNvSpPr/>
          <p:nvPr/>
        </p:nvSpPr>
        <p:spPr>
          <a:xfrm>
            <a:off x="1325880" y="3176777"/>
            <a:ext cx="960120" cy="333756"/>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cs typeface="Calibri" pitchFamily="34" charset="-120"/>
              </a:rPr>
              <a:t>0.4</a:t>
            </a:r>
            <a:endParaRPr lang="en-US" sz="1000" dirty="0"/>
          </a:p>
        </p:txBody>
      </p:sp>
      <p:sp>
        <p:nvSpPr>
          <p:cNvPr id="25" name="Shape 23">
            <a:extLst>
              <a:ext uri="{FF2B5EF4-FFF2-40B4-BE49-F238E27FC236}">
                <a16:creationId xmlns:a16="http://schemas.microsoft.com/office/drawing/2014/main" id="{541E38D2-ADC4-2297-504D-C53D97D1BB9B}"/>
              </a:ext>
            </a:extLst>
          </p:cNvPr>
          <p:cNvSpPr/>
          <p:nvPr/>
        </p:nvSpPr>
        <p:spPr>
          <a:xfrm>
            <a:off x="2331720" y="3176777"/>
            <a:ext cx="1464252" cy="330590"/>
          </a:xfrm>
          <a:prstGeom prst="rect">
            <a:avLst/>
          </a:prstGeom>
          <a:solidFill>
            <a:srgbClr val="FFFFFF"/>
          </a:solidFill>
          <a:ln w="5080">
            <a:solidFill>
              <a:srgbClr val="D0E8EC"/>
            </a:solidFill>
            <a:prstDash val="solid"/>
          </a:ln>
        </p:spPr>
        <p:txBody>
          <a:bodyPr/>
          <a:lstStyle/>
          <a:p>
            <a:endParaRPr lang="en-GB"/>
          </a:p>
        </p:txBody>
      </p:sp>
      <p:sp>
        <p:nvSpPr>
          <p:cNvPr id="26" name="Text 24">
            <a:extLst>
              <a:ext uri="{FF2B5EF4-FFF2-40B4-BE49-F238E27FC236}">
                <a16:creationId xmlns:a16="http://schemas.microsoft.com/office/drawing/2014/main" id="{DD77892B-45A9-3A9E-30AE-51470440231C}"/>
              </a:ext>
            </a:extLst>
          </p:cNvPr>
          <p:cNvSpPr/>
          <p:nvPr/>
        </p:nvSpPr>
        <p:spPr>
          <a:xfrm>
            <a:off x="2377440" y="3176777"/>
            <a:ext cx="2258568" cy="333756"/>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cs typeface="Calibri" pitchFamily="34" charset="-120"/>
              </a:rPr>
              <a:t>Aspect ratio</a:t>
            </a:r>
            <a:endParaRPr lang="en-US" sz="1000" dirty="0"/>
          </a:p>
        </p:txBody>
      </p:sp>
      <p:sp>
        <p:nvSpPr>
          <p:cNvPr id="27" name="Shape 25">
            <a:extLst>
              <a:ext uri="{FF2B5EF4-FFF2-40B4-BE49-F238E27FC236}">
                <a16:creationId xmlns:a16="http://schemas.microsoft.com/office/drawing/2014/main" id="{074E282E-FF12-8E3D-5565-10473BCF617E}"/>
              </a:ext>
            </a:extLst>
          </p:cNvPr>
          <p:cNvSpPr/>
          <p:nvPr/>
        </p:nvSpPr>
        <p:spPr>
          <a:xfrm>
            <a:off x="320040" y="3510533"/>
            <a:ext cx="960120" cy="333756"/>
          </a:xfrm>
          <a:prstGeom prst="rect">
            <a:avLst/>
          </a:prstGeom>
          <a:solidFill>
            <a:srgbClr val="E8F5F7"/>
          </a:solidFill>
          <a:ln w="5080">
            <a:solidFill>
              <a:srgbClr val="D0E8EC"/>
            </a:solidFill>
            <a:prstDash val="solid"/>
          </a:ln>
        </p:spPr>
        <p:txBody>
          <a:bodyPr/>
          <a:lstStyle/>
          <a:p>
            <a:endParaRPr lang="en-GB"/>
          </a:p>
        </p:txBody>
      </p:sp>
      <p:sp>
        <p:nvSpPr>
          <p:cNvPr id="28" name="Text 26">
            <a:extLst>
              <a:ext uri="{FF2B5EF4-FFF2-40B4-BE49-F238E27FC236}">
                <a16:creationId xmlns:a16="http://schemas.microsoft.com/office/drawing/2014/main" id="{A1709A50-E64C-36F9-882C-772804760EEA}"/>
              </a:ext>
            </a:extLst>
          </p:cNvPr>
          <p:cNvSpPr/>
          <p:nvPr/>
        </p:nvSpPr>
        <p:spPr>
          <a:xfrm>
            <a:off x="365760" y="3510533"/>
            <a:ext cx="868680" cy="333756"/>
          </a:xfrm>
          <a:prstGeom prst="rect">
            <a:avLst/>
          </a:prstGeom>
          <a:noFill/>
          <a:ln/>
        </p:spPr>
        <p:txBody>
          <a:bodyPr wrap="square" lIns="0" tIns="0" rIns="0" bIns="0" rtlCol="0" anchor="ctr"/>
          <a:lstStyle/>
          <a:p>
            <a:pPr marL="0" indent="0">
              <a:buNone/>
            </a:pPr>
            <a:r>
              <a:rPr lang="en-US" sz="1050" b="1" dirty="0">
                <a:solidFill>
                  <a:srgbClr val="0D1B3E"/>
                </a:solidFill>
                <a:latin typeface="Cambria Math" pitchFamily="34" charset="0"/>
                <a:ea typeface="Cambria Math" pitchFamily="34" charset="-122"/>
              </a:rPr>
              <a:t>W</a:t>
            </a:r>
            <a:endParaRPr lang="en-US" sz="1050" dirty="0"/>
          </a:p>
        </p:txBody>
      </p:sp>
      <p:sp>
        <p:nvSpPr>
          <p:cNvPr id="29" name="Shape 27">
            <a:extLst>
              <a:ext uri="{FF2B5EF4-FFF2-40B4-BE49-F238E27FC236}">
                <a16:creationId xmlns:a16="http://schemas.microsoft.com/office/drawing/2014/main" id="{CA2F44E4-5823-B043-81F9-436E74B274E0}"/>
              </a:ext>
            </a:extLst>
          </p:cNvPr>
          <p:cNvSpPr/>
          <p:nvPr/>
        </p:nvSpPr>
        <p:spPr>
          <a:xfrm>
            <a:off x="1280160" y="3510533"/>
            <a:ext cx="1051560" cy="333756"/>
          </a:xfrm>
          <a:prstGeom prst="rect">
            <a:avLst/>
          </a:prstGeom>
          <a:solidFill>
            <a:srgbClr val="E8F5F7"/>
          </a:solidFill>
          <a:ln w="5080">
            <a:solidFill>
              <a:srgbClr val="D0E8EC"/>
            </a:solidFill>
            <a:prstDash val="solid"/>
          </a:ln>
        </p:spPr>
        <p:txBody>
          <a:bodyPr/>
          <a:lstStyle/>
          <a:p>
            <a:endParaRPr lang="en-GB"/>
          </a:p>
        </p:txBody>
      </p:sp>
      <p:sp>
        <p:nvSpPr>
          <p:cNvPr id="30" name="Text 28">
            <a:extLst>
              <a:ext uri="{FF2B5EF4-FFF2-40B4-BE49-F238E27FC236}">
                <a16:creationId xmlns:a16="http://schemas.microsoft.com/office/drawing/2014/main" id="{F3612B9C-19DE-1A3B-0673-55BB44B02164}"/>
              </a:ext>
            </a:extLst>
          </p:cNvPr>
          <p:cNvSpPr/>
          <p:nvPr/>
        </p:nvSpPr>
        <p:spPr>
          <a:xfrm>
            <a:off x="1325880" y="3510533"/>
            <a:ext cx="960120" cy="333756"/>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cs typeface="Calibri" pitchFamily="34" charset="-120"/>
              </a:rPr>
              <a:t>0.002 m</a:t>
            </a:r>
            <a:endParaRPr lang="en-US" sz="1000" dirty="0"/>
          </a:p>
        </p:txBody>
      </p:sp>
      <p:sp>
        <p:nvSpPr>
          <p:cNvPr id="31" name="Shape 29">
            <a:extLst>
              <a:ext uri="{FF2B5EF4-FFF2-40B4-BE49-F238E27FC236}">
                <a16:creationId xmlns:a16="http://schemas.microsoft.com/office/drawing/2014/main" id="{06FC11ED-4DA7-328A-3D9E-CEEE822F7152}"/>
              </a:ext>
            </a:extLst>
          </p:cNvPr>
          <p:cNvSpPr/>
          <p:nvPr/>
        </p:nvSpPr>
        <p:spPr>
          <a:xfrm>
            <a:off x="2331720" y="3510533"/>
            <a:ext cx="1464252" cy="324177"/>
          </a:xfrm>
          <a:prstGeom prst="rect">
            <a:avLst/>
          </a:prstGeom>
          <a:solidFill>
            <a:srgbClr val="E8F5F7"/>
          </a:solidFill>
          <a:ln w="5080">
            <a:solidFill>
              <a:srgbClr val="D0E8EC"/>
            </a:solidFill>
            <a:prstDash val="solid"/>
          </a:ln>
        </p:spPr>
        <p:txBody>
          <a:bodyPr/>
          <a:lstStyle/>
          <a:p>
            <a:endParaRPr lang="en-GB"/>
          </a:p>
        </p:txBody>
      </p:sp>
      <p:sp>
        <p:nvSpPr>
          <p:cNvPr id="32" name="Text 30">
            <a:extLst>
              <a:ext uri="{FF2B5EF4-FFF2-40B4-BE49-F238E27FC236}">
                <a16:creationId xmlns:a16="http://schemas.microsoft.com/office/drawing/2014/main" id="{C6A7924A-ED2F-0FDF-27CC-527068385D5D}"/>
              </a:ext>
            </a:extLst>
          </p:cNvPr>
          <p:cNvSpPr/>
          <p:nvPr/>
        </p:nvSpPr>
        <p:spPr>
          <a:xfrm>
            <a:off x="2377440" y="3510533"/>
            <a:ext cx="2258568" cy="333756"/>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cs typeface="Calibri" pitchFamily="34" charset="-120"/>
              </a:rPr>
              <a:t>Width</a:t>
            </a:r>
            <a:endParaRPr lang="en-US" sz="1000" dirty="0"/>
          </a:p>
        </p:txBody>
      </p:sp>
      <p:sp>
        <p:nvSpPr>
          <p:cNvPr id="33" name="Text 26">
            <a:extLst>
              <a:ext uri="{FF2B5EF4-FFF2-40B4-BE49-F238E27FC236}">
                <a16:creationId xmlns:a16="http://schemas.microsoft.com/office/drawing/2014/main" id="{7CE21150-45BF-6530-B065-C590E0BB08D0}"/>
              </a:ext>
            </a:extLst>
          </p:cNvPr>
          <p:cNvSpPr/>
          <p:nvPr/>
        </p:nvSpPr>
        <p:spPr>
          <a:xfrm>
            <a:off x="365760" y="3173611"/>
            <a:ext cx="868680" cy="333756"/>
          </a:xfrm>
          <a:prstGeom prst="rect">
            <a:avLst/>
          </a:prstGeom>
          <a:noFill/>
          <a:ln/>
        </p:spPr>
        <p:txBody>
          <a:bodyPr wrap="square" lIns="0" tIns="0" rIns="0" bIns="0" rtlCol="0" anchor="ctr"/>
          <a:lstStyle/>
          <a:p>
            <a:pPr marL="0" indent="0">
              <a:buNone/>
            </a:pPr>
            <a:r>
              <a:rPr lang="en-US" sz="1050" b="1" dirty="0">
                <a:solidFill>
                  <a:srgbClr val="0D1B3E"/>
                </a:solidFill>
                <a:latin typeface="Cambria Math" pitchFamily="34" charset="0"/>
                <a:ea typeface="Cambria Math" pitchFamily="34" charset="-122"/>
              </a:rPr>
              <a:t>W/L</a:t>
            </a:r>
            <a:endParaRPr lang="en-US" sz="1050" dirty="0"/>
          </a:p>
        </p:txBody>
      </p:sp>
      <p:pic>
        <p:nvPicPr>
          <p:cNvPr id="35" name="Picture 34">
            <a:extLst>
              <a:ext uri="{FF2B5EF4-FFF2-40B4-BE49-F238E27FC236}">
                <a16:creationId xmlns:a16="http://schemas.microsoft.com/office/drawing/2014/main" id="{06C0E888-384C-9482-8EC6-24B0AB7356C7}"/>
              </a:ext>
            </a:extLst>
          </p:cNvPr>
          <p:cNvPicPr>
            <a:picLocks noChangeAspect="1"/>
          </p:cNvPicPr>
          <p:nvPr/>
        </p:nvPicPr>
        <p:blipFill>
          <a:blip r:embed="rId3"/>
          <a:stretch>
            <a:fillRect/>
          </a:stretch>
        </p:blipFill>
        <p:spPr>
          <a:xfrm>
            <a:off x="5255964" y="1154003"/>
            <a:ext cx="3583236" cy="187431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3E"/>
          </a:solidFill>
          <a:ln w="12700">
            <a:solidFill>
              <a:srgbClr val="0D1B3E"/>
            </a:solidFill>
            <a:prstDash val="solid"/>
          </a:ln>
        </p:spPr>
        <p:txBody>
          <a:bodyPr/>
          <a:lstStyle/>
          <a:p>
            <a:endParaRPr lang="en-GB"/>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000" b="1" dirty="0">
                <a:solidFill>
                  <a:srgbClr val="FFFFFF"/>
                </a:solidFill>
              </a:rPr>
              <a:t>Governing Equations</a:t>
            </a:r>
            <a:endParaRPr lang="en-US" sz="2000" dirty="0"/>
          </a:p>
        </p:txBody>
      </p:sp>
      <p:sp>
        <p:nvSpPr>
          <p:cNvPr id="5" name="Shape 3"/>
          <p:cNvSpPr/>
          <p:nvPr/>
        </p:nvSpPr>
        <p:spPr>
          <a:xfrm>
            <a:off x="274320" y="1024127"/>
            <a:ext cx="8595360" cy="1413978"/>
          </a:xfrm>
          <a:prstGeom prst="rect">
            <a:avLst/>
          </a:prstGeom>
          <a:solidFill>
            <a:srgbClr val="E8F5F7"/>
          </a:solidFill>
          <a:ln w="19050">
            <a:solidFill>
              <a:srgbClr val="0A7C8C"/>
            </a:solidFill>
            <a:prstDash val="solid"/>
          </a:ln>
        </p:spPr>
        <p:txBody>
          <a:bodyPr/>
          <a:lstStyle/>
          <a:p>
            <a:endParaRPr lang="en-GB"/>
          </a:p>
        </p:txBody>
      </p:sp>
      <p:sp>
        <p:nvSpPr>
          <p:cNvPr id="6" name="Text 4"/>
          <p:cNvSpPr/>
          <p:nvPr/>
        </p:nvSpPr>
        <p:spPr>
          <a:xfrm>
            <a:off x="457200" y="1392173"/>
            <a:ext cx="2225842" cy="880772"/>
          </a:xfrm>
          <a:prstGeom prst="rect">
            <a:avLst/>
          </a:prstGeom>
          <a:noFill/>
          <a:ln/>
        </p:spPr>
        <p:txBody>
          <a:bodyPr wrap="square" lIns="0" tIns="0" rIns="0" bIns="0" rtlCol="0" anchor="t"/>
          <a:lstStyle/>
          <a:p>
            <a:pPr marL="0" indent="0">
              <a:buNone/>
            </a:pPr>
            <a:r>
              <a:rPr lang="en-US" b="1" dirty="0">
                <a:solidFill>
                  <a:srgbClr val="0A7C8C"/>
                </a:solidFill>
              </a:rPr>
              <a:t>Fluid Flow Equations</a:t>
            </a:r>
          </a:p>
          <a:p>
            <a:pPr marL="0" indent="0">
              <a:buNone/>
            </a:pPr>
            <a:r>
              <a:rPr lang="en-US" sz="1400" dirty="0">
                <a:solidFill>
                  <a:srgbClr val="0A7C8C"/>
                </a:solidFill>
              </a:rPr>
              <a:t>(Laminar Flow)</a:t>
            </a:r>
            <a:endParaRPr lang="en-US" sz="1400" dirty="0"/>
          </a:p>
        </p:txBody>
      </p:sp>
      <p:sp>
        <p:nvSpPr>
          <p:cNvPr id="23" name="Shape 21"/>
          <p:cNvSpPr/>
          <p:nvPr/>
        </p:nvSpPr>
        <p:spPr>
          <a:xfrm>
            <a:off x="274320" y="3093229"/>
            <a:ext cx="8595360" cy="1413978"/>
          </a:xfrm>
          <a:prstGeom prst="rect">
            <a:avLst/>
          </a:prstGeom>
          <a:solidFill>
            <a:srgbClr val="E8F5F7"/>
          </a:solidFill>
          <a:ln w="19050">
            <a:solidFill>
              <a:srgbClr val="0A7C8C"/>
            </a:solidFill>
            <a:prstDash val="solid"/>
          </a:ln>
        </p:spPr>
        <p:txBody>
          <a:bodyPr/>
          <a:lstStyle/>
          <a:p>
            <a:endParaRPr lang="en-GB"/>
          </a:p>
        </p:txBody>
      </p:sp>
      <p:sp>
        <p:nvSpPr>
          <p:cNvPr id="24" name="Text 22"/>
          <p:cNvSpPr/>
          <p:nvPr/>
        </p:nvSpPr>
        <p:spPr>
          <a:xfrm>
            <a:off x="457199" y="3369330"/>
            <a:ext cx="2463209" cy="1060938"/>
          </a:xfrm>
          <a:prstGeom prst="rect">
            <a:avLst/>
          </a:prstGeom>
          <a:noFill/>
          <a:ln/>
        </p:spPr>
        <p:txBody>
          <a:bodyPr wrap="square" lIns="0" tIns="0" rIns="0" bIns="0" rtlCol="0" anchor="t"/>
          <a:lstStyle/>
          <a:p>
            <a:pPr marL="0" indent="0">
              <a:buNone/>
            </a:pPr>
            <a:r>
              <a:rPr lang="en-US" b="1" dirty="0">
                <a:solidFill>
                  <a:srgbClr val="0A7C8C"/>
                </a:solidFill>
              </a:rPr>
              <a:t>Mass Transport Equations</a:t>
            </a:r>
          </a:p>
          <a:p>
            <a:pPr marL="0" indent="0">
              <a:buNone/>
            </a:pPr>
            <a:r>
              <a:rPr lang="en-US" sz="1400" dirty="0">
                <a:solidFill>
                  <a:srgbClr val="0A7C8C"/>
                </a:solidFill>
              </a:rPr>
              <a:t>(Transport of Diluted Species)</a:t>
            </a:r>
            <a:endParaRPr lang="en-US" sz="1400" dirty="0"/>
          </a:p>
        </p:txBody>
      </p:sp>
      <p:sp>
        <p:nvSpPr>
          <p:cNvPr id="99" name="Text 97"/>
          <p:cNvSpPr/>
          <p:nvPr/>
        </p:nvSpPr>
        <p:spPr>
          <a:xfrm>
            <a:off x="365760" y="4681728"/>
            <a:ext cx="8412480" cy="292608"/>
          </a:xfrm>
          <a:prstGeom prst="rect">
            <a:avLst/>
          </a:prstGeom>
          <a:noFill/>
          <a:ln/>
        </p:spPr>
        <p:txBody>
          <a:bodyPr wrap="square" rtlCol="0" anchor="ctr"/>
          <a:lstStyle/>
          <a:p>
            <a:pPr marL="0" indent="0" algn="ctr">
              <a:buNone/>
            </a:pPr>
            <a:r>
              <a:rPr lang="en-US" sz="1000" i="1" dirty="0">
                <a:solidFill>
                  <a:srgbClr val="6B8899"/>
                </a:solidFill>
              </a:rPr>
              <a:t>J = diffusive flux |  R = reaction rate term</a:t>
            </a:r>
            <a:endParaRPr lang="en-US" sz="1000"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BF4B942-2A5A-19F7-3F88-4C129B5DBE4F}"/>
                  </a:ext>
                </a:extLst>
              </p:cNvPr>
              <p:cNvSpPr txBox="1"/>
              <p:nvPr/>
            </p:nvSpPr>
            <p:spPr>
              <a:xfrm>
                <a:off x="5494434" y="1332369"/>
                <a:ext cx="311476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𝜌</m:t>
                      </m:r>
                      <m:d>
                        <m:dPr>
                          <m:ctrlPr>
                            <a:rPr lang="en-IN" b="0" i="1" smtClean="0">
                              <a:latin typeface="Cambria Math" panose="02040503050406030204" pitchFamily="18" charset="0"/>
                              <a:ea typeface="Cambria Math" panose="02040503050406030204" pitchFamily="18" charset="0"/>
                            </a:rPr>
                          </m:ctrlPr>
                        </m:dPr>
                        <m:e>
                          <m:r>
                            <a:rPr lang="en-IN" b="1" i="1" smtClean="0">
                              <a:latin typeface="Cambria Math" panose="02040503050406030204" pitchFamily="18" charset="0"/>
                              <a:ea typeface="Cambria Math" panose="02040503050406030204" pitchFamily="18" charset="0"/>
                            </a:rPr>
                            <m:t>𝒖</m:t>
                          </m:r>
                          <m:r>
                            <a:rPr lang="en-IN" b="0" i="1" smtClean="0">
                              <a:latin typeface="Cambria Math" panose="02040503050406030204" pitchFamily="18" charset="0"/>
                              <a:ea typeface="Cambria Math" panose="02040503050406030204" pitchFamily="18" charset="0"/>
                            </a:rPr>
                            <m:t>∙</m:t>
                          </m:r>
                          <m:r>
                            <a:rPr lang="en-IN" b="1" i="1" smtClean="0">
                              <a:latin typeface="Cambria Math" panose="02040503050406030204" pitchFamily="18" charset="0"/>
                              <a:ea typeface="Cambria Math" panose="02040503050406030204" pitchFamily="18" charset="0"/>
                            </a:rPr>
                            <m:t>𝜵</m:t>
                          </m:r>
                        </m:e>
                      </m:d>
                      <m:r>
                        <a:rPr lang="en-IN" b="1" i="1" smtClean="0">
                          <a:latin typeface="Cambria Math" panose="02040503050406030204" pitchFamily="18" charset="0"/>
                          <a:ea typeface="Cambria Math" panose="02040503050406030204" pitchFamily="18" charset="0"/>
                        </a:rPr>
                        <m:t>𝒖</m:t>
                      </m:r>
                      <m:r>
                        <a:rPr lang="en-IN" b="0" i="1" smtClean="0">
                          <a:latin typeface="Cambria Math" panose="02040503050406030204" pitchFamily="18" charset="0"/>
                          <a:ea typeface="Cambria Math" panose="02040503050406030204" pitchFamily="18" charset="0"/>
                        </a:rPr>
                        <m:t>= </m:t>
                      </m:r>
                      <m:r>
                        <a:rPr lang="en-IN" b="1" i="1" smtClean="0">
                          <a:latin typeface="Cambria Math" panose="02040503050406030204" pitchFamily="18" charset="0"/>
                          <a:ea typeface="Cambria Math" panose="02040503050406030204" pitchFamily="18" charset="0"/>
                        </a:rPr>
                        <m:t>𝜵</m:t>
                      </m:r>
                      <m:r>
                        <a:rPr lang="en-IN" b="0" i="1" smtClean="0">
                          <a:latin typeface="Cambria Math" panose="02040503050406030204" pitchFamily="18" charset="0"/>
                          <a:ea typeface="Cambria Math" panose="02040503050406030204" pitchFamily="18" charset="0"/>
                        </a:rPr>
                        <m:t>∙</m:t>
                      </m:r>
                      <m:d>
                        <m:dPr>
                          <m:begChr m:val="["/>
                          <m:endChr m:val="]"/>
                          <m:ctrlPr>
                            <a:rPr lang="en-IN" b="0" i="1" smtClean="0">
                              <a:latin typeface="Cambria Math" panose="02040503050406030204" pitchFamily="18" charset="0"/>
                              <a:ea typeface="Cambria Math" panose="02040503050406030204" pitchFamily="18" charset="0"/>
                            </a:rPr>
                          </m:ctrlPr>
                        </m:dPr>
                        <m:e>
                          <m:r>
                            <a:rPr lang="en-IN" b="0" i="1" smtClean="0">
                              <a:latin typeface="Cambria Math" panose="02040503050406030204" pitchFamily="18" charset="0"/>
                              <a:ea typeface="Cambria Math" panose="02040503050406030204" pitchFamily="18" charset="0"/>
                            </a:rPr>
                            <m:t>−</m:t>
                          </m:r>
                          <m:r>
                            <a:rPr lang="en-IN" b="0" i="1" smtClean="0">
                              <a:latin typeface="Cambria Math" panose="02040503050406030204" pitchFamily="18" charset="0"/>
                              <a:ea typeface="Cambria Math" panose="02040503050406030204" pitchFamily="18" charset="0"/>
                            </a:rPr>
                            <m:t>𝑝</m:t>
                          </m:r>
                          <m:r>
                            <a:rPr lang="en-IN" b="1" i="1" smtClean="0">
                              <a:latin typeface="Cambria Math" panose="02040503050406030204" pitchFamily="18" charset="0"/>
                              <a:ea typeface="Cambria Math" panose="02040503050406030204" pitchFamily="18" charset="0"/>
                            </a:rPr>
                            <m:t>𝑰</m:t>
                          </m:r>
                          <m:r>
                            <a:rPr lang="en-IN" b="0" i="1" smtClean="0">
                              <a:latin typeface="Cambria Math" panose="02040503050406030204" pitchFamily="18" charset="0"/>
                              <a:ea typeface="Cambria Math" panose="02040503050406030204" pitchFamily="18" charset="0"/>
                            </a:rPr>
                            <m:t>+</m:t>
                          </m:r>
                          <m:r>
                            <a:rPr lang="en-IN" b="1" i="1" smtClean="0">
                              <a:latin typeface="Cambria Math" panose="02040503050406030204" pitchFamily="18" charset="0"/>
                              <a:ea typeface="Cambria Math" panose="02040503050406030204" pitchFamily="18" charset="0"/>
                            </a:rPr>
                            <m:t>𝑲</m:t>
                          </m:r>
                        </m:e>
                      </m:d>
                      <m:r>
                        <a:rPr lang="en-IN" b="0" i="1" smtClean="0">
                          <a:latin typeface="Cambria Math" panose="02040503050406030204" pitchFamily="18" charset="0"/>
                          <a:ea typeface="Cambria Math" panose="02040503050406030204" pitchFamily="18" charset="0"/>
                        </a:rPr>
                        <m:t>+</m:t>
                      </m:r>
                      <m:r>
                        <a:rPr lang="en-IN" b="1" i="1" smtClean="0">
                          <a:latin typeface="Cambria Math" panose="02040503050406030204" pitchFamily="18" charset="0"/>
                          <a:ea typeface="Cambria Math" panose="02040503050406030204" pitchFamily="18" charset="0"/>
                        </a:rPr>
                        <m:t>𝑭</m:t>
                      </m:r>
                    </m:oMath>
                  </m:oMathPara>
                </a14:m>
                <a:endParaRPr lang="en-IN" b="1" dirty="0"/>
              </a:p>
            </p:txBody>
          </p:sp>
        </mc:Choice>
        <mc:Fallback xmlns="">
          <p:sp>
            <p:nvSpPr>
              <p:cNvPr id="7" name="TextBox 6">
                <a:extLst>
                  <a:ext uri="{FF2B5EF4-FFF2-40B4-BE49-F238E27FC236}">
                    <a16:creationId xmlns:a16="http://schemas.microsoft.com/office/drawing/2014/main" id="{3BF4B942-2A5A-19F7-3F88-4C129B5DBE4F}"/>
                  </a:ext>
                </a:extLst>
              </p:cNvPr>
              <p:cNvSpPr txBox="1">
                <a:spLocks noRot="1" noChangeAspect="1" noMove="1" noResize="1" noEditPoints="1" noAdjustHandles="1" noChangeArrowheads="1" noChangeShapeType="1" noTextEdit="1"/>
              </p:cNvSpPr>
              <p:nvPr/>
            </p:nvSpPr>
            <p:spPr>
              <a:xfrm>
                <a:off x="5494434" y="1332369"/>
                <a:ext cx="3114762" cy="276999"/>
              </a:xfrm>
              <a:prstGeom prst="rect">
                <a:avLst/>
              </a:prstGeom>
              <a:blipFill>
                <a:blip r:embed="rId3"/>
                <a:stretch>
                  <a:fillRect l="-1370" r="-1370" b="-266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01C780B-EE95-8DF3-AA8A-40D30A45AF4A}"/>
                  </a:ext>
                </a:extLst>
              </p:cNvPr>
              <p:cNvSpPr txBox="1"/>
              <p:nvPr/>
            </p:nvSpPr>
            <p:spPr>
              <a:xfrm>
                <a:off x="5494434" y="1923803"/>
                <a:ext cx="108523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𝜌</m:t>
                      </m:r>
                      <m:r>
                        <a:rPr lang="en-IN" b="1" i="1">
                          <a:latin typeface="Cambria Math" panose="02040503050406030204" pitchFamily="18" charset="0"/>
                          <a:ea typeface="Cambria Math" panose="02040503050406030204" pitchFamily="18" charset="0"/>
                        </a:rPr>
                        <m:t>𝜵</m:t>
                      </m:r>
                      <m:r>
                        <a:rPr lang="en-IN" i="1">
                          <a:latin typeface="Cambria Math" panose="02040503050406030204" pitchFamily="18" charset="0"/>
                          <a:ea typeface="Cambria Math" panose="02040503050406030204" pitchFamily="18" charset="0"/>
                        </a:rPr>
                        <m:t>∙</m:t>
                      </m:r>
                      <m:r>
                        <a:rPr lang="en-IN" b="1" i="1" smtClean="0">
                          <a:latin typeface="Cambria Math" panose="02040503050406030204" pitchFamily="18" charset="0"/>
                          <a:ea typeface="Cambria Math" panose="02040503050406030204" pitchFamily="18" charset="0"/>
                        </a:rPr>
                        <m:t>𝒖</m:t>
                      </m:r>
                      <m:r>
                        <a:rPr lang="en-IN" b="0" i="1" smtClean="0">
                          <a:latin typeface="Cambria Math" panose="02040503050406030204" pitchFamily="18" charset="0"/>
                          <a:ea typeface="Cambria Math" panose="02040503050406030204" pitchFamily="18" charset="0"/>
                        </a:rPr>
                        <m:t>=0</m:t>
                      </m:r>
                    </m:oMath>
                  </m:oMathPara>
                </a14:m>
                <a:endParaRPr lang="en-IN" dirty="0"/>
              </a:p>
            </p:txBody>
          </p:sp>
        </mc:Choice>
        <mc:Fallback xmlns="">
          <p:sp>
            <p:nvSpPr>
              <p:cNvPr id="8" name="TextBox 7">
                <a:extLst>
                  <a:ext uri="{FF2B5EF4-FFF2-40B4-BE49-F238E27FC236}">
                    <a16:creationId xmlns:a16="http://schemas.microsoft.com/office/drawing/2014/main" id="{501C780B-EE95-8DF3-AA8A-40D30A45AF4A}"/>
                  </a:ext>
                </a:extLst>
              </p:cNvPr>
              <p:cNvSpPr txBox="1">
                <a:spLocks noRot="1" noChangeAspect="1" noMove="1" noResize="1" noEditPoints="1" noAdjustHandles="1" noChangeArrowheads="1" noChangeShapeType="1" noTextEdit="1"/>
              </p:cNvSpPr>
              <p:nvPr/>
            </p:nvSpPr>
            <p:spPr>
              <a:xfrm>
                <a:off x="5494434" y="1923803"/>
                <a:ext cx="1085232" cy="276999"/>
              </a:xfrm>
              <a:prstGeom prst="rect">
                <a:avLst/>
              </a:prstGeom>
              <a:blipFill>
                <a:blip r:embed="rId4"/>
                <a:stretch>
                  <a:fillRect l="-5056" r="-5056" b="-266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EDCA978-87E9-88F1-7DF3-DB2B6039358A}"/>
                  </a:ext>
                </a:extLst>
              </p:cNvPr>
              <p:cNvSpPr txBox="1"/>
              <p:nvPr/>
            </p:nvSpPr>
            <p:spPr>
              <a:xfrm>
                <a:off x="5480385" y="3369330"/>
                <a:ext cx="205498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b="1" i="1" smtClean="0">
                          <a:latin typeface="Cambria Math" panose="02040503050406030204" pitchFamily="18" charset="0"/>
                          <a:ea typeface="Cambria Math" panose="02040503050406030204" pitchFamily="18" charset="0"/>
                        </a:rPr>
                        <m:t>𝜵</m:t>
                      </m:r>
                      <m:r>
                        <a:rPr lang="en-IN" i="1" smtClean="0">
                          <a:latin typeface="Cambria Math" panose="02040503050406030204" pitchFamily="18" charset="0"/>
                          <a:ea typeface="Cambria Math" panose="02040503050406030204" pitchFamily="18" charset="0"/>
                        </a:rPr>
                        <m:t>∙</m:t>
                      </m:r>
                      <m:sSub>
                        <m:sSubPr>
                          <m:ctrlPr>
                            <a:rPr lang="en-IN" b="1" i="1" smtClean="0">
                              <a:latin typeface="Cambria Math" panose="02040503050406030204" pitchFamily="18" charset="0"/>
                              <a:ea typeface="Cambria Math" panose="02040503050406030204" pitchFamily="18" charset="0"/>
                            </a:rPr>
                          </m:ctrlPr>
                        </m:sSubPr>
                        <m:e>
                          <m:r>
                            <a:rPr lang="en-IN" b="1" i="1" smtClean="0">
                              <a:latin typeface="Cambria Math" panose="02040503050406030204" pitchFamily="18" charset="0"/>
                              <a:ea typeface="Cambria Math" panose="02040503050406030204" pitchFamily="18" charset="0"/>
                            </a:rPr>
                            <m:t>𝑱</m:t>
                          </m:r>
                        </m:e>
                        <m:sub>
                          <m:r>
                            <a:rPr lang="en-IN" b="1" i="1" smtClean="0">
                              <a:latin typeface="Cambria Math" panose="02040503050406030204" pitchFamily="18" charset="0"/>
                              <a:ea typeface="Cambria Math" panose="02040503050406030204" pitchFamily="18" charset="0"/>
                            </a:rPr>
                            <m:t>𝒊</m:t>
                          </m:r>
                        </m:sub>
                      </m:sSub>
                      <m:r>
                        <a:rPr lang="en-IN" b="0" i="1" smtClean="0">
                          <a:latin typeface="Cambria Math" panose="02040503050406030204" pitchFamily="18" charset="0"/>
                          <a:ea typeface="Cambria Math" panose="02040503050406030204" pitchFamily="18" charset="0"/>
                        </a:rPr>
                        <m:t>+</m:t>
                      </m:r>
                      <m:r>
                        <a:rPr lang="en-IN" b="1" i="1" smtClean="0">
                          <a:latin typeface="Cambria Math" panose="02040503050406030204" pitchFamily="18" charset="0"/>
                          <a:ea typeface="Cambria Math" panose="02040503050406030204" pitchFamily="18" charset="0"/>
                        </a:rPr>
                        <m:t>𝒖</m:t>
                      </m:r>
                      <m:r>
                        <a:rPr lang="en-IN" b="0" i="1" smtClean="0">
                          <a:latin typeface="Cambria Math" panose="02040503050406030204" pitchFamily="18" charset="0"/>
                          <a:ea typeface="Cambria Math" panose="02040503050406030204" pitchFamily="18" charset="0"/>
                        </a:rPr>
                        <m:t>∙</m:t>
                      </m:r>
                      <m:r>
                        <a:rPr lang="en-IN" b="1" i="1" smtClean="0">
                          <a:latin typeface="Cambria Math" panose="02040503050406030204" pitchFamily="18" charset="0"/>
                          <a:ea typeface="Cambria Math" panose="02040503050406030204" pitchFamily="18" charset="0"/>
                        </a:rPr>
                        <m:t>𝜵</m:t>
                      </m:r>
                      <m:sSub>
                        <m:sSubPr>
                          <m:ctrlPr>
                            <a:rPr lang="en-IN" b="0" i="1" smtClean="0">
                              <a:latin typeface="Cambria Math" panose="02040503050406030204" pitchFamily="18" charset="0"/>
                              <a:ea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rPr>
                            <m:t>𝑐</m:t>
                          </m:r>
                        </m:e>
                        <m:sub>
                          <m:r>
                            <a:rPr lang="en-IN" b="0" i="1" smtClean="0">
                              <a:latin typeface="Cambria Math" panose="02040503050406030204" pitchFamily="18" charset="0"/>
                              <a:ea typeface="Cambria Math" panose="02040503050406030204" pitchFamily="18" charset="0"/>
                            </a:rPr>
                            <m:t>𝑖</m:t>
                          </m:r>
                        </m:sub>
                      </m:sSub>
                      <m:r>
                        <a:rPr lang="en-IN" b="0" i="1" smtClean="0">
                          <a:latin typeface="Cambria Math" panose="02040503050406030204" pitchFamily="18" charset="0"/>
                          <a:ea typeface="Cambria Math" panose="02040503050406030204" pitchFamily="18" charset="0"/>
                        </a:rPr>
                        <m:t>= </m:t>
                      </m:r>
                      <m:sSub>
                        <m:sSubPr>
                          <m:ctrlPr>
                            <a:rPr lang="en-IN" b="1" i="1" smtClean="0">
                              <a:latin typeface="Cambria Math" panose="02040503050406030204" pitchFamily="18" charset="0"/>
                              <a:ea typeface="Cambria Math" panose="02040503050406030204" pitchFamily="18" charset="0"/>
                            </a:rPr>
                          </m:ctrlPr>
                        </m:sSubPr>
                        <m:e>
                          <m:r>
                            <a:rPr lang="en-IN" b="1" i="1" smtClean="0">
                              <a:latin typeface="Cambria Math" panose="02040503050406030204" pitchFamily="18" charset="0"/>
                              <a:ea typeface="Cambria Math" panose="02040503050406030204" pitchFamily="18" charset="0"/>
                            </a:rPr>
                            <m:t>𝑹</m:t>
                          </m:r>
                        </m:e>
                        <m:sub>
                          <m:r>
                            <a:rPr lang="en-IN" b="1" i="1" smtClean="0">
                              <a:latin typeface="Cambria Math" panose="02040503050406030204" pitchFamily="18" charset="0"/>
                              <a:ea typeface="Cambria Math" panose="02040503050406030204" pitchFamily="18" charset="0"/>
                            </a:rPr>
                            <m:t>𝒊</m:t>
                          </m:r>
                        </m:sub>
                      </m:sSub>
                    </m:oMath>
                  </m:oMathPara>
                </a14:m>
                <a:endParaRPr lang="en-IN" b="1" dirty="0"/>
              </a:p>
            </p:txBody>
          </p:sp>
        </mc:Choice>
        <mc:Fallback xmlns="">
          <p:sp>
            <p:nvSpPr>
              <p:cNvPr id="9" name="TextBox 8">
                <a:extLst>
                  <a:ext uri="{FF2B5EF4-FFF2-40B4-BE49-F238E27FC236}">
                    <a16:creationId xmlns:a16="http://schemas.microsoft.com/office/drawing/2014/main" id="{8EDCA978-87E9-88F1-7DF3-DB2B6039358A}"/>
                  </a:ext>
                </a:extLst>
              </p:cNvPr>
              <p:cNvSpPr txBox="1">
                <a:spLocks noRot="1" noChangeAspect="1" noMove="1" noResize="1" noEditPoints="1" noAdjustHandles="1" noChangeArrowheads="1" noChangeShapeType="1" noTextEdit="1"/>
              </p:cNvSpPr>
              <p:nvPr/>
            </p:nvSpPr>
            <p:spPr>
              <a:xfrm>
                <a:off x="5480385" y="3369330"/>
                <a:ext cx="2054986" cy="276999"/>
              </a:xfrm>
              <a:prstGeom prst="rect">
                <a:avLst/>
              </a:prstGeom>
              <a:blipFill>
                <a:blip r:embed="rId5"/>
                <a:stretch>
                  <a:fillRect l="-2077" r="-593" b="-3111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54115A5-86F2-9099-5E64-2F3C774DA9E1}"/>
                  </a:ext>
                </a:extLst>
              </p:cNvPr>
              <p:cNvSpPr txBox="1"/>
              <p:nvPr/>
            </p:nvSpPr>
            <p:spPr>
              <a:xfrm>
                <a:off x="5532323" y="4025862"/>
                <a:ext cx="130022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b="1" i="1" smtClean="0">
                              <a:latin typeface="Cambria Math" panose="02040503050406030204" pitchFamily="18" charset="0"/>
                            </a:rPr>
                          </m:ctrlPr>
                        </m:sSubPr>
                        <m:e>
                          <m:r>
                            <a:rPr lang="en-IN" b="1" i="1" smtClean="0">
                              <a:latin typeface="Cambria Math" panose="02040503050406030204" pitchFamily="18" charset="0"/>
                            </a:rPr>
                            <m:t>𝑱</m:t>
                          </m:r>
                        </m:e>
                        <m:sub>
                          <m:r>
                            <a:rPr lang="en-IN" b="1" i="1" smtClean="0">
                              <a:latin typeface="Cambria Math" panose="02040503050406030204" pitchFamily="18" charset="0"/>
                            </a:rPr>
                            <m:t>𝒊</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m:t>
                          </m:r>
                          <m:r>
                            <a:rPr lang="en-IN" b="0" i="1" smtClean="0">
                              <a:latin typeface="Cambria Math" panose="02040503050406030204" pitchFamily="18" charset="0"/>
                            </a:rPr>
                            <m:t>𝐷</m:t>
                          </m:r>
                        </m:e>
                        <m:sub>
                          <m:r>
                            <a:rPr lang="en-IN" b="0" i="1" smtClean="0">
                              <a:latin typeface="Cambria Math" panose="02040503050406030204" pitchFamily="18" charset="0"/>
                            </a:rPr>
                            <m:t>𝑖</m:t>
                          </m:r>
                        </m:sub>
                      </m:sSub>
                      <m:r>
                        <a:rPr lang="en-IN" b="1" i="1" smtClean="0">
                          <a:latin typeface="Cambria Math" panose="02040503050406030204" pitchFamily="18" charset="0"/>
                          <a:ea typeface="Cambria Math" panose="02040503050406030204" pitchFamily="18" charset="0"/>
                        </a:rPr>
                        <m:t>𝜵</m:t>
                      </m:r>
                      <m:sSub>
                        <m:sSubPr>
                          <m:ctrlPr>
                            <a:rPr lang="en-IN" b="0" i="1" smtClean="0">
                              <a:latin typeface="Cambria Math" panose="02040503050406030204" pitchFamily="18" charset="0"/>
                              <a:ea typeface="Cambria Math" panose="02040503050406030204" pitchFamily="18" charset="0"/>
                            </a:rPr>
                          </m:ctrlPr>
                        </m:sSubPr>
                        <m:e>
                          <m:r>
                            <a:rPr lang="en-IN" b="0" i="1" smtClean="0">
                              <a:latin typeface="Cambria Math" panose="02040503050406030204" pitchFamily="18" charset="0"/>
                              <a:ea typeface="Cambria Math" panose="02040503050406030204" pitchFamily="18" charset="0"/>
                            </a:rPr>
                            <m:t>𝑐</m:t>
                          </m:r>
                        </m:e>
                        <m:sub>
                          <m:r>
                            <a:rPr lang="en-IN" b="0" i="1" smtClean="0">
                              <a:latin typeface="Cambria Math" panose="02040503050406030204" pitchFamily="18" charset="0"/>
                              <a:ea typeface="Cambria Math" panose="02040503050406030204" pitchFamily="18" charset="0"/>
                            </a:rPr>
                            <m:t>𝑖</m:t>
                          </m:r>
                        </m:sub>
                      </m:sSub>
                    </m:oMath>
                  </m:oMathPara>
                </a14:m>
                <a:endParaRPr lang="en-IN" dirty="0"/>
              </a:p>
            </p:txBody>
          </p:sp>
        </mc:Choice>
        <mc:Fallback xmlns="">
          <p:sp>
            <p:nvSpPr>
              <p:cNvPr id="10" name="TextBox 9">
                <a:extLst>
                  <a:ext uri="{FF2B5EF4-FFF2-40B4-BE49-F238E27FC236}">
                    <a16:creationId xmlns:a16="http://schemas.microsoft.com/office/drawing/2014/main" id="{D54115A5-86F2-9099-5E64-2F3C774DA9E1}"/>
                  </a:ext>
                </a:extLst>
              </p:cNvPr>
              <p:cNvSpPr txBox="1">
                <a:spLocks noRot="1" noChangeAspect="1" noMove="1" noResize="1" noEditPoints="1" noAdjustHandles="1" noChangeArrowheads="1" noChangeShapeType="1" noTextEdit="1"/>
              </p:cNvSpPr>
              <p:nvPr/>
            </p:nvSpPr>
            <p:spPr>
              <a:xfrm>
                <a:off x="5532323" y="4025862"/>
                <a:ext cx="1300228" cy="276999"/>
              </a:xfrm>
              <a:prstGeom prst="rect">
                <a:avLst/>
              </a:prstGeom>
              <a:blipFill>
                <a:blip r:embed="rId6"/>
                <a:stretch>
                  <a:fillRect l="-5634" r="-1408" b="-28261"/>
                </a:stretch>
              </a:blipFill>
            </p:spPr>
            <p:txBody>
              <a:bodyPr/>
              <a:lstStyle/>
              <a:p>
                <a:r>
                  <a:rPr lang="en-IN">
                    <a:noFill/>
                  </a:rPr>
                  <a:t> </a:t>
                </a:r>
              </a:p>
            </p:txBody>
          </p:sp>
        </mc:Fallback>
      </mc:AlternateContent>
      <p:sp>
        <p:nvSpPr>
          <p:cNvPr id="11" name="TextBox 10">
            <a:extLst>
              <a:ext uri="{FF2B5EF4-FFF2-40B4-BE49-F238E27FC236}">
                <a16:creationId xmlns:a16="http://schemas.microsoft.com/office/drawing/2014/main" id="{5F1EB8B9-52F9-3F82-30F1-104938AB64CF}"/>
              </a:ext>
            </a:extLst>
          </p:cNvPr>
          <p:cNvSpPr txBox="1"/>
          <p:nvPr/>
        </p:nvSpPr>
        <p:spPr>
          <a:xfrm>
            <a:off x="3090465" y="1301592"/>
            <a:ext cx="2115387" cy="338554"/>
          </a:xfrm>
          <a:prstGeom prst="rect">
            <a:avLst/>
          </a:prstGeom>
          <a:noFill/>
        </p:spPr>
        <p:txBody>
          <a:bodyPr wrap="none" rtlCol="0">
            <a:spAutoFit/>
          </a:bodyPr>
          <a:lstStyle/>
          <a:p>
            <a:r>
              <a:rPr lang="en-IN" sz="1600" dirty="0"/>
              <a:t>Navier-Stokes Equation</a:t>
            </a:r>
          </a:p>
        </p:txBody>
      </p:sp>
      <p:sp>
        <p:nvSpPr>
          <p:cNvPr id="12" name="TextBox 11">
            <a:extLst>
              <a:ext uri="{FF2B5EF4-FFF2-40B4-BE49-F238E27FC236}">
                <a16:creationId xmlns:a16="http://schemas.microsoft.com/office/drawing/2014/main" id="{26C40F68-C744-D67A-820A-0B9319AC2E9A}"/>
              </a:ext>
            </a:extLst>
          </p:cNvPr>
          <p:cNvSpPr txBox="1"/>
          <p:nvPr/>
        </p:nvSpPr>
        <p:spPr>
          <a:xfrm>
            <a:off x="3090465" y="1934391"/>
            <a:ext cx="1833707" cy="338554"/>
          </a:xfrm>
          <a:prstGeom prst="rect">
            <a:avLst/>
          </a:prstGeom>
          <a:noFill/>
        </p:spPr>
        <p:txBody>
          <a:bodyPr wrap="none" rtlCol="0">
            <a:spAutoFit/>
          </a:bodyPr>
          <a:lstStyle/>
          <a:p>
            <a:r>
              <a:rPr lang="en-IN" sz="1600" dirty="0"/>
              <a:t>Continuity Equation</a:t>
            </a:r>
          </a:p>
        </p:txBody>
      </p:sp>
      <p:sp>
        <p:nvSpPr>
          <p:cNvPr id="13" name="TextBox 12">
            <a:extLst>
              <a:ext uri="{FF2B5EF4-FFF2-40B4-BE49-F238E27FC236}">
                <a16:creationId xmlns:a16="http://schemas.microsoft.com/office/drawing/2014/main" id="{59D4F95A-0B07-BD6C-F3D3-0B816A317D06}"/>
              </a:ext>
            </a:extLst>
          </p:cNvPr>
          <p:cNvSpPr txBox="1"/>
          <p:nvPr/>
        </p:nvSpPr>
        <p:spPr>
          <a:xfrm>
            <a:off x="3077093" y="3215443"/>
            <a:ext cx="2128759" cy="584775"/>
          </a:xfrm>
          <a:prstGeom prst="rect">
            <a:avLst/>
          </a:prstGeom>
          <a:noFill/>
        </p:spPr>
        <p:txBody>
          <a:bodyPr wrap="square" rtlCol="0">
            <a:spAutoFit/>
          </a:bodyPr>
          <a:lstStyle/>
          <a:p>
            <a:r>
              <a:rPr lang="en-IN" sz="1600" dirty="0"/>
              <a:t>Convection-Diffusion</a:t>
            </a:r>
          </a:p>
          <a:p>
            <a:r>
              <a:rPr lang="en-IN" sz="1600" dirty="0"/>
              <a:t>Equation</a:t>
            </a:r>
          </a:p>
        </p:txBody>
      </p:sp>
      <p:sp>
        <p:nvSpPr>
          <p:cNvPr id="14" name="TextBox 13">
            <a:extLst>
              <a:ext uri="{FF2B5EF4-FFF2-40B4-BE49-F238E27FC236}">
                <a16:creationId xmlns:a16="http://schemas.microsoft.com/office/drawing/2014/main" id="{0327BF2F-4320-5B7A-8D87-B19ADDD8B7A3}"/>
              </a:ext>
            </a:extLst>
          </p:cNvPr>
          <p:cNvSpPr txBox="1"/>
          <p:nvPr/>
        </p:nvSpPr>
        <p:spPr>
          <a:xfrm>
            <a:off x="3090465" y="3995085"/>
            <a:ext cx="1794209" cy="338554"/>
          </a:xfrm>
          <a:prstGeom prst="rect">
            <a:avLst/>
          </a:prstGeom>
          <a:noFill/>
        </p:spPr>
        <p:txBody>
          <a:bodyPr wrap="none" rtlCol="0">
            <a:spAutoFit/>
          </a:bodyPr>
          <a:lstStyle/>
          <a:p>
            <a:r>
              <a:rPr lang="en-IN" sz="1600" dirty="0"/>
              <a:t>Fick’s Diffusion Law</a:t>
            </a:r>
          </a:p>
        </p:txBody>
      </p:sp>
      <p:sp>
        <p:nvSpPr>
          <p:cNvPr id="15" name="Text 97">
            <a:extLst>
              <a:ext uri="{FF2B5EF4-FFF2-40B4-BE49-F238E27FC236}">
                <a16:creationId xmlns:a16="http://schemas.microsoft.com/office/drawing/2014/main" id="{820A7AC7-F2C4-C6B1-D490-087D259D544F}"/>
              </a:ext>
            </a:extLst>
          </p:cNvPr>
          <p:cNvSpPr/>
          <p:nvPr/>
        </p:nvSpPr>
        <p:spPr>
          <a:xfrm>
            <a:off x="287200" y="2620034"/>
            <a:ext cx="8412480" cy="292608"/>
          </a:xfrm>
          <a:prstGeom prst="rect">
            <a:avLst/>
          </a:prstGeom>
          <a:noFill/>
          <a:ln/>
        </p:spPr>
        <p:txBody>
          <a:bodyPr wrap="square" rtlCol="0" anchor="ctr"/>
          <a:lstStyle/>
          <a:p>
            <a:pPr marL="0" indent="0" algn="ctr">
              <a:buNone/>
            </a:pPr>
            <a:r>
              <a:rPr lang="en-US" sz="1000" i="1" dirty="0">
                <a:solidFill>
                  <a:srgbClr val="6B8899"/>
                </a:solidFill>
              </a:rPr>
              <a:t>p = static pressure  |  I = identity tensor  |  K = viscous stress tensor  |  F = body force vector field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name="Slide 5">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3E"/>
          </a:solidFill>
          <a:ln w="12700">
            <a:solidFill>
              <a:srgbClr val="0D1B3E"/>
            </a:solidFill>
            <a:prstDash val="solid"/>
          </a:ln>
        </p:spPr>
        <p:txBody>
          <a:bodyPr/>
          <a:lstStyle/>
          <a:p>
            <a:endParaRPr lang="en-GB"/>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000" b="1" dirty="0">
                <a:solidFill>
                  <a:srgbClr val="FFFFFF"/>
                </a:solidFill>
              </a:rPr>
              <a:t>Boundary Conditions</a:t>
            </a:r>
            <a:endParaRPr lang="en-US" sz="2000" dirty="0"/>
          </a:p>
        </p:txBody>
      </p:sp>
      <p:sp>
        <p:nvSpPr>
          <p:cNvPr id="4" name="Shape 2"/>
          <p:cNvSpPr/>
          <p:nvPr/>
        </p:nvSpPr>
        <p:spPr>
          <a:xfrm>
            <a:off x="274320" y="749808"/>
            <a:ext cx="8595360" cy="347472"/>
          </a:xfrm>
          <a:prstGeom prst="rect">
            <a:avLst/>
          </a:prstGeom>
          <a:solidFill>
            <a:srgbClr val="0D1B3E"/>
          </a:solidFill>
          <a:ln w="12700">
            <a:solidFill>
              <a:srgbClr val="0D1B3E"/>
            </a:solidFill>
            <a:prstDash val="solid"/>
          </a:ln>
        </p:spPr>
        <p:txBody>
          <a:bodyPr/>
          <a:lstStyle/>
          <a:p>
            <a:endParaRPr lang="en-GB"/>
          </a:p>
        </p:txBody>
      </p:sp>
      <p:sp>
        <p:nvSpPr>
          <p:cNvPr id="5" name="Text 3"/>
          <p:cNvSpPr/>
          <p:nvPr/>
        </p:nvSpPr>
        <p:spPr>
          <a:xfrm>
            <a:off x="347472" y="749808"/>
            <a:ext cx="1463040" cy="347472"/>
          </a:xfrm>
          <a:prstGeom prst="rect">
            <a:avLst/>
          </a:prstGeom>
          <a:noFill/>
          <a:ln/>
        </p:spPr>
        <p:txBody>
          <a:bodyPr wrap="square" lIns="50800" tIns="50800" rIns="50800" bIns="50800" rtlCol="0" anchor="ctr"/>
          <a:lstStyle/>
          <a:p>
            <a:pPr marL="0" indent="0">
              <a:buNone/>
            </a:pPr>
            <a:r>
              <a:rPr lang="en-US" sz="1100" b="1" dirty="0">
                <a:solidFill>
                  <a:srgbClr val="FFFFFF"/>
                </a:solidFill>
              </a:rPr>
              <a:t>Location</a:t>
            </a:r>
            <a:endParaRPr lang="en-US" sz="1100" dirty="0"/>
          </a:p>
        </p:txBody>
      </p:sp>
      <p:sp>
        <p:nvSpPr>
          <p:cNvPr id="6" name="Text 4"/>
          <p:cNvSpPr/>
          <p:nvPr/>
        </p:nvSpPr>
        <p:spPr>
          <a:xfrm>
            <a:off x="1920240" y="749808"/>
            <a:ext cx="3246120" cy="347472"/>
          </a:xfrm>
          <a:prstGeom prst="rect">
            <a:avLst/>
          </a:prstGeom>
          <a:noFill/>
          <a:ln/>
        </p:spPr>
        <p:txBody>
          <a:bodyPr wrap="square" lIns="50800" tIns="50800" rIns="50800" bIns="50800" rtlCol="0" anchor="ctr"/>
          <a:lstStyle/>
          <a:p>
            <a:pPr marL="0" indent="0">
              <a:buNone/>
            </a:pPr>
            <a:r>
              <a:rPr lang="en-US" sz="1100" b="1" dirty="0">
                <a:solidFill>
                  <a:srgbClr val="FFFFFF"/>
                </a:solidFill>
              </a:rPr>
              <a:t>Condition</a:t>
            </a:r>
            <a:endParaRPr lang="en-US" sz="1100" dirty="0"/>
          </a:p>
        </p:txBody>
      </p:sp>
      <p:sp>
        <p:nvSpPr>
          <p:cNvPr id="7" name="Text 5"/>
          <p:cNvSpPr/>
          <p:nvPr/>
        </p:nvSpPr>
        <p:spPr>
          <a:xfrm>
            <a:off x="5321808" y="749808"/>
            <a:ext cx="3547872" cy="347472"/>
          </a:xfrm>
          <a:prstGeom prst="rect">
            <a:avLst/>
          </a:prstGeom>
          <a:noFill/>
          <a:ln/>
        </p:spPr>
        <p:txBody>
          <a:bodyPr wrap="square" lIns="50800" tIns="50800" rIns="50800" bIns="50800" rtlCol="0" anchor="ctr"/>
          <a:lstStyle/>
          <a:p>
            <a:pPr marL="0" indent="0">
              <a:buNone/>
            </a:pPr>
            <a:r>
              <a:rPr lang="en-US" sz="1100" b="1" dirty="0">
                <a:solidFill>
                  <a:srgbClr val="FFFFFF"/>
                </a:solidFill>
              </a:rPr>
              <a:t>Equation</a:t>
            </a:r>
            <a:endParaRPr lang="en-US" sz="1100" dirty="0"/>
          </a:p>
        </p:txBody>
      </p:sp>
      <p:sp>
        <p:nvSpPr>
          <p:cNvPr id="8" name="Shape 6"/>
          <p:cNvSpPr/>
          <p:nvPr/>
        </p:nvSpPr>
        <p:spPr>
          <a:xfrm>
            <a:off x="274320" y="1115568"/>
            <a:ext cx="8595360" cy="777240"/>
          </a:xfrm>
          <a:prstGeom prst="rect">
            <a:avLst/>
          </a:prstGeom>
          <a:solidFill>
            <a:srgbClr val="FFFFFF"/>
          </a:solidFill>
          <a:ln w="6350">
            <a:solidFill>
              <a:srgbClr val="D5E8EC"/>
            </a:solidFill>
            <a:prstDash val="solid"/>
          </a:ln>
        </p:spPr>
        <p:txBody>
          <a:bodyPr/>
          <a:lstStyle/>
          <a:p>
            <a:endParaRPr lang="en-GB"/>
          </a:p>
        </p:txBody>
      </p:sp>
      <p:sp>
        <p:nvSpPr>
          <p:cNvPr id="9" name="Shape 7"/>
          <p:cNvSpPr/>
          <p:nvPr/>
        </p:nvSpPr>
        <p:spPr>
          <a:xfrm>
            <a:off x="1874520" y="1115568"/>
            <a:ext cx="0" cy="777240"/>
          </a:xfrm>
          <a:prstGeom prst="line">
            <a:avLst/>
          </a:prstGeom>
          <a:noFill/>
          <a:ln w="6350">
            <a:solidFill>
              <a:srgbClr val="D5E8EC"/>
            </a:solidFill>
            <a:prstDash val="solid"/>
          </a:ln>
        </p:spPr>
        <p:txBody>
          <a:bodyPr/>
          <a:lstStyle/>
          <a:p>
            <a:endParaRPr lang="en-GB"/>
          </a:p>
        </p:txBody>
      </p:sp>
      <p:sp>
        <p:nvSpPr>
          <p:cNvPr id="10" name="Shape 8"/>
          <p:cNvSpPr/>
          <p:nvPr/>
        </p:nvSpPr>
        <p:spPr>
          <a:xfrm>
            <a:off x="5248656" y="1115568"/>
            <a:ext cx="0" cy="777240"/>
          </a:xfrm>
          <a:prstGeom prst="line">
            <a:avLst/>
          </a:prstGeom>
          <a:noFill/>
          <a:ln w="6350">
            <a:solidFill>
              <a:srgbClr val="D5E8EC"/>
            </a:solidFill>
            <a:prstDash val="solid"/>
          </a:ln>
        </p:spPr>
        <p:txBody>
          <a:bodyPr/>
          <a:lstStyle/>
          <a:p>
            <a:endParaRPr lang="en-GB"/>
          </a:p>
        </p:txBody>
      </p:sp>
      <p:sp>
        <p:nvSpPr>
          <p:cNvPr id="11" name="Text 9"/>
          <p:cNvSpPr/>
          <p:nvPr/>
        </p:nvSpPr>
        <p:spPr>
          <a:xfrm>
            <a:off x="347472" y="1170432"/>
            <a:ext cx="1463040" cy="667512"/>
          </a:xfrm>
          <a:prstGeom prst="rect">
            <a:avLst/>
          </a:prstGeom>
          <a:noFill/>
          <a:ln/>
        </p:spPr>
        <p:txBody>
          <a:bodyPr wrap="square" rtlCol="0" anchor="ctr"/>
          <a:lstStyle/>
          <a:p>
            <a:pPr marL="0" indent="0">
              <a:buNone/>
            </a:pPr>
            <a:r>
              <a:rPr lang="en-US" sz="1050" b="1" dirty="0">
                <a:solidFill>
                  <a:srgbClr val="0D1B3E"/>
                </a:solidFill>
              </a:rPr>
              <a:t>Vessel wall</a:t>
            </a:r>
            <a:endParaRPr lang="en-US" sz="1050" dirty="0"/>
          </a:p>
          <a:p>
            <a:pPr marL="0" indent="0">
              <a:buNone/>
            </a:pPr>
            <a:r>
              <a:rPr lang="en-US" sz="1050" b="1" dirty="0">
                <a:solidFill>
                  <a:srgbClr val="0D1B3E"/>
                </a:solidFill>
              </a:rPr>
              <a:t>(no-slip)</a:t>
            </a:r>
            <a:endParaRPr lang="en-US" sz="1050" dirty="0"/>
          </a:p>
        </p:txBody>
      </p:sp>
      <p:sp>
        <p:nvSpPr>
          <p:cNvPr id="12" name="Text 10"/>
          <p:cNvSpPr/>
          <p:nvPr/>
        </p:nvSpPr>
        <p:spPr>
          <a:xfrm>
            <a:off x="1938528" y="1170432"/>
            <a:ext cx="3246120" cy="667512"/>
          </a:xfrm>
          <a:prstGeom prst="rect">
            <a:avLst/>
          </a:prstGeom>
          <a:noFill/>
          <a:ln/>
        </p:spPr>
        <p:txBody>
          <a:bodyPr wrap="square" rtlCol="0" anchor="ctr"/>
          <a:lstStyle/>
          <a:p>
            <a:pPr marL="0" indent="0">
              <a:buNone/>
            </a:pPr>
            <a:r>
              <a:rPr lang="en-US" sz="1000" dirty="0">
                <a:solidFill>
                  <a:srgbClr val="1A2B3C"/>
                </a:solidFill>
              </a:rPr>
              <a:t>No-slip axial velocity</a:t>
            </a:r>
            <a:endParaRPr lang="en-US" sz="1000" dirty="0"/>
          </a:p>
          <a:p>
            <a:pPr marL="0" indent="0">
              <a:buNone/>
            </a:pPr>
            <a:r>
              <a:rPr lang="en-US" sz="1000" dirty="0">
                <a:solidFill>
                  <a:srgbClr val="1A2B3C"/>
                </a:solidFill>
              </a:rPr>
              <a:t>Radial velocity = Vw / ū₀</a:t>
            </a:r>
            <a:endParaRPr lang="en-US" sz="1000" dirty="0"/>
          </a:p>
        </p:txBody>
      </p:sp>
      <mc:AlternateContent xmlns:mc="http://schemas.openxmlformats.org/markup-compatibility/2006" xmlns:a14="http://schemas.microsoft.com/office/drawing/2010/main">
        <mc:Choice Requires="a14">
          <p:sp>
            <p:nvSpPr>
              <p:cNvPr id="13" name="Text 11"/>
              <p:cNvSpPr/>
              <p:nvPr/>
            </p:nvSpPr>
            <p:spPr>
              <a:xfrm>
                <a:off x="5321808" y="1229868"/>
                <a:ext cx="3200400" cy="256032"/>
              </a:xfrm>
              <a:prstGeom prst="rect">
                <a:avLst/>
              </a:prstGeom>
              <a:noFill/>
              <a:ln/>
            </p:spPr>
            <p:txBody>
              <a:bodyPr wrap="square" lIns="0" tIns="0" rIns="0" bIns="0" rtlCol="0" anchor="ctr"/>
              <a:lstStyle/>
              <a:p>
                <a:pPr marL="0" indent="0">
                  <a:buNone/>
                </a:pPr>
                <a14:m>
                  <m:oMath xmlns:m="http://schemas.openxmlformats.org/officeDocument/2006/math">
                    <m:r>
                      <a:rPr lang="en-IN" sz="1200" b="0" i="1" smtClean="0">
                        <a:solidFill>
                          <a:schemeClr val="bg2">
                            <a:lumMod val="25000"/>
                          </a:schemeClr>
                        </a:solidFill>
                        <a:latin typeface="Cambria Math" panose="02040503050406030204" pitchFamily="18" charset="0"/>
                      </a:rPr>
                      <m:t>𝑢</m:t>
                    </m:r>
                    <m:d>
                      <m:dPr>
                        <m:ctrlPr>
                          <a:rPr lang="en-IN" sz="1200" b="0" i="1" smtClean="0">
                            <a:solidFill>
                              <a:schemeClr val="bg2">
                                <a:lumMod val="25000"/>
                              </a:schemeClr>
                            </a:solidFill>
                            <a:latin typeface="Cambria Math" panose="02040503050406030204" pitchFamily="18" charset="0"/>
                          </a:rPr>
                        </m:ctrlPr>
                      </m:dPr>
                      <m:e>
                        <m:r>
                          <a:rPr lang="en-IN" sz="1200" b="0" i="1" smtClean="0">
                            <a:solidFill>
                              <a:schemeClr val="bg2">
                                <a:lumMod val="25000"/>
                              </a:schemeClr>
                            </a:solidFill>
                            <a:latin typeface="Cambria Math" panose="02040503050406030204" pitchFamily="18" charset="0"/>
                          </a:rPr>
                          <m:t>𝑥</m:t>
                        </m:r>
                        <m:r>
                          <a:rPr lang="en-IN" sz="1200" b="0" i="1" smtClean="0">
                            <a:solidFill>
                              <a:schemeClr val="bg2">
                                <a:lumMod val="25000"/>
                              </a:schemeClr>
                            </a:solidFill>
                            <a:latin typeface="Cambria Math" panose="02040503050406030204" pitchFamily="18" charset="0"/>
                          </a:rPr>
                          <m:t>,1,</m:t>
                        </m:r>
                        <m:r>
                          <a:rPr lang="en-IN" sz="1200" b="0" i="1" smtClean="0">
                            <a:solidFill>
                              <a:schemeClr val="bg2">
                                <a:lumMod val="25000"/>
                              </a:schemeClr>
                            </a:solidFill>
                            <a:latin typeface="Cambria Math" panose="02040503050406030204" pitchFamily="18" charset="0"/>
                          </a:rPr>
                          <m:t>𝑡</m:t>
                        </m:r>
                      </m:e>
                    </m:d>
                    <m:r>
                      <a:rPr lang="en-IN" sz="1200" b="0" i="1" smtClean="0">
                        <a:solidFill>
                          <a:schemeClr val="bg2">
                            <a:lumMod val="25000"/>
                          </a:schemeClr>
                        </a:solidFill>
                        <a:latin typeface="Cambria Math" panose="02040503050406030204" pitchFamily="18" charset="0"/>
                      </a:rPr>
                      <m:t>=0</m:t>
                    </m:r>
                  </m:oMath>
                </a14:m>
                <a:r>
                  <a:rPr lang="en-US" sz="1200" dirty="0">
                    <a:solidFill>
                      <a:schemeClr val="bg2">
                        <a:lumMod val="25000"/>
                      </a:schemeClr>
                    </a:solidFill>
                  </a:rPr>
                  <a:t> </a:t>
                </a:r>
              </a:p>
            </p:txBody>
          </p:sp>
        </mc:Choice>
        <mc:Fallback xmlns="">
          <p:sp>
            <p:nvSpPr>
              <p:cNvPr id="13" name="Text 11"/>
              <p:cNvSpPr>
                <a:spLocks noRot="1" noChangeAspect="1" noMove="1" noResize="1" noEditPoints="1" noAdjustHandles="1" noChangeArrowheads="1" noChangeShapeType="1" noTextEdit="1"/>
              </p:cNvSpPr>
              <p:nvPr/>
            </p:nvSpPr>
            <p:spPr>
              <a:xfrm>
                <a:off x="5321808" y="1229868"/>
                <a:ext cx="3200400" cy="256032"/>
              </a:xfrm>
              <a:prstGeom prst="rect">
                <a:avLst/>
              </a:prstGeom>
              <a:blipFill>
                <a:blip r:embed="rId3"/>
                <a:stretch>
                  <a:fillRect l="-1143" t="-4762" b="-21429"/>
                </a:stretch>
              </a:blip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 12"/>
              <p:cNvSpPr/>
              <p:nvPr/>
            </p:nvSpPr>
            <p:spPr>
              <a:xfrm>
                <a:off x="5321808" y="1540764"/>
                <a:ext cx="2194560" cy="256032"/>
              </a:xfrm>
              <a:prstGeom prst="rect">
                <a:avLst/>
              </a:prstGeom>
              <a:noFill/>
              <a:ln/>
            </p:spPr>
            <p:txBody>
              <a:bodyPr wrap="square" lIns="0" tIns="0" rIns="0" bIns="0" rtlCol="0" anchor="ctr"/>
              <a:lstStyle/>
              <a:p>
                <a:pPr marL="0" indent="0">
                  <a:buNone/>
                </a:pPr>
                <a14:m>
                  <m:oMath xmlns:m="http://schemas.openxmlformats.org/officeDocument/2006/math">
                    <m:r>
                      <a:rPr lang="en-IN" sz="1200" b="0" i="1" smtClean="0">
                        <a:solidFill>
                          <a:schemeClr val="bg2">
                            <a:lumMod val="25000"/>
                          </a:schemeClr>
                        </a:solidFill>
                        <a:latin typeface="Cambria Math" panose="02040503050406030204" pitchFamily="18" charset="0"/>
                      </a:rPr>
                      <m:t>𝑣</m:t>
                    </m:r>
                    <m:d>
                      <m:dPr>
                        <m:ctrlPr>
                          <a:rPr lang="en-IN" sz="1200" b="0" i="1" smtClean="0">
                            <a:solidFill>
                              <a:schemeClr val="bg2">
                                <a:lumMod val="25000"/>
                              </a:schemeClr>
                            </a:solidFill>
                            <a:latin typeface="Cambria Math" panose="02040503050406030204" pitchFamily="18" charset="0"/>
                          </a:rPr>
                        </m:ctrlPr>
                      </m:dPr>
                      <m:e>
                        <m:r>
                          <a:rPr lang="en-IN" sz="1200" b="0" i="1" smtClean="0">
                            <a:solidFill>
                              <a:schemeClr val="bg2">
                                <a:lumMod val="25000"/>
                              </a:schemeClr>
                            </a:solidFill>
                            <a:latin typeface="Cambria Math" panose="02040503050406030204" pitchFamily="18" charset="0"/>
                          </a:rPr>
                          <m:t>𝑥</m:t>
                        </m:r>
                        <m:r>
                          <a:rPr lang="en-IN" sz="1200" b="0" i="1" smtClean="0">
                            <a:solidFill>
                              <a:schemeClr val="bg2">
                                <a:lumMod val="25000"/>
                              </a:schemeClr>
                            </a:solidFill>
                            <a:latin typeface="Cambria Math" panose="02040503050406030204" pitchFamily="18" charset="0"/>
                          </a:rPr>
                          <m:t>,1,</m:t>
                        </m:r>
                        <m:r>
                          <a:rPr lang="en-IN" sz="1200" b="0" i="1" smtClean="0">
                            <a:solidFill>
                              <a:schemeClr val="bg2">
                                <a:lumMod val="25000"/>
                              </a:schemeClr>
                            </a:solidFill>
                            <a:latin typeface="Cambria Math" panose="02040503050406030204" pitchFamily="18" charset="0"/>
                          </a:rPr>
                          <m:t>𝑡</m:t>
                        </m:r>
                      </m:e>
                    </m:d>
                    <m:r>
                      <a:rPr lang="en-IN" sz="1200" b="0" i="1" smtClean="0">
                        <a:solidFill>
                          <a:schemeClr val="bg2">
                            <a:lumMod val="25000"/>
                          </a:schemeClr>
                        </a:solidFill>
                        <a:latin typeface="Cambria Math" panose="02040503050406030204" pitchFamily="18" charset="0"/>
                      </a:rPr>
                      <m:t>= </m:t>
                    </m:r>
                    <m:f>
                      <m:fPr>
                        <m:ctrlPr>
                          <a:rPr lang="en-IN" sz="1200" b="0" i="1" smtClean="0">
                            <a:solidFill>
                              <a:schemeClr val="bg2">
                                <a:lumMod val="25000"/>
                              </a:schemeClr>
                            </a:solidFill>
                            <a:latin typeface="Cambria Math" panose="02040503050406030204" pitchFamily="18" charset="0"/>
                          </a:rPr>
                        </m:ctrlPr>
                      </m:fPr>
                      <m:num>
                        <m:sSub>
                          <m:sSubPr>
                            <m:ctrlPr>
                              <a:rPr lang="en-IN" sz="1200" b="0" i="1" smtClean="0">
                                <a:solidFill>
                                  <a:schemeClr val="bg2">
                                    <a:lumMod val="25000"/>
                                  </a:schemeClr>
                                </a:solidFill>
                                <a:latin typeface="Cambria Math" panose="02040503050406030204" pitchFamily="18" charset="0"/>
                              </a:rPr>
                            </m:ctrlPr>
                          </m:sSubPr>
                          <m:e>
                            <m:r>
                              <a:rPr lang="en-IN" sz="1200" b="0" i="1" smtClean="0">
                                <a:solidFill>
                                  <a:schemeClr val="bg2">
                                    <a:lumMod val="25000"/>
                                  </a:schemeClr>
                                </a:solidFill>
                                <a:latin typeface="Cambria Math" panose="02040503050406030204" pitchFamily="18" charset="0"/>
                              </a:rPr>
                              <m:t>𝑉</m:t>
                            </m:r>
                          </m:e>
                          <m:sub>
                            <m:r>
                              <a:rPr lang="en-IN" sz="1200" b="0" i="1" smtClean="0">
                                <a:solidFill>
                                  <a:schemeClr val="bg2">
                                    <a:lumMod val="25000"/>
                                  </a:schemeClr>
                                </a:solidFill>
                                <a:latin typeface="Cambria Math" panose="02040503050406030204" pitchFamily="18" charset="0"/>
                              </a:rPr>
                              <m:t>𝑤</m:t>
                            </m:r>
                          </m:sub>
                        </m:sSub>
                      </m:num>
                      <m:den>
                        <m:acc>
                          <m:accPr>
                            <m:chr m:val="̅"/>
                            <m:ctrlPr>
                              <a:rPr lang="en-IN" sz="1200" b="0" i="1" smtClean="0">
                                <a:solidFill>
                                  <a:schemeClr val="bg2">
                                    <a:lumMod val="25000"/>
                                  </a:schemeClr>
                                </a:solidFill>
                                <a:latin typeface="Cambria Math" panose="02040503050406030204" pitchFamily="18" charset="0"/>
                              </a:rPr>
                            </m:ctrlPr>
                          </m:accPr>
                          <m:e>
                            <m:r>
                              <a:rPr lang="en-IN" sz="1200" b="0" i="1" smtClean="0">
                                <a:solidFill>
                                  <a:schemeClr val="bg2">
                                    <a:lumMod val="25000"/>
                                  </a:schemeClr>
                                </a:solidFill>
                                <a:latin typeface="Cambria Math" panose="02040503050406030204" pitchFamily="18" charset="0"/>
                              </a:rPr>
                              <m:t>𝑢</m:t>
                            </m:r>
                            <m:r>
                              <a:rPr lang="en-IN" sz="1200" b="0" i="1" baseline="-25000" smtClean="0">
                                <a:solidFill>
                                  <a:schemeClr val="bg2">
                                    <a:lumMod val="25000"/>
                                  </a:schemeClr>
                                </a:solidFill>
                                <a:latin typeface="Cambria Math" panose="02040503050406030204" pitchFamily="18" charset="0"/>
                              </a:rPr>
                              <m:t>0</m:t>
                            </m:r>
                          </m:e>
                        </m:acc>
                      </m:den>
                    </m:f>
                    <m:r>
                      <a:rPr lang="en-IN" sz="1200" b="0" i="1" smtClean="0">
                        <a:solidFill>
                          <a:schemeClr val="bg2">
                            <a:lumMod val="25000"/>
                          </a:schemeClr>
                        </a:solidFill>
                        <a:latin typeface="Cambria Math" panose="02040503050406030204" pitchFamily="18" charset="0"/>
                      </a:rPr>
                      <m:t> </m:t>
                    </m:r>
                  </m:oMath>
                </a14:m>
                <a:r>
                  <a:rPr lang="en-US" sz="1200" dirty="0">
                    <a:solidFill>
                      <a:schemeClr val="bg2">
                        <a:lumMod val="25000"/>
                      </a:schemeClr>
                    </a:solidFill>
                  </a:rPr>
                  <a:t> </a:t>
                </a:r>
              </a:p>
            </p:txBody>
          </p:sp>
        </mc:Choice>
        <mc:Fallback xmlns="">
          <p:sp>
            <p:nvSpPr>
              <p:cNvPr id="14" name="Text 12"/>
              <p:cNvSpPr>
                <a:spLocks noRot="1" noChangeAspect="1" noMove="1" noResize="1" noEditPoints="1" noAdjustHandles="1" noChangeArrowheads="1" noChangeShapeType="1" noTextEdit="1"/>
              </p:cNvSpPr>
              <p:nvPr/>
            </p:nvSpPr>
            <p:spPr>
              <a:xfrm>
                <a:off x="5321808" y="1540764"/>
                <a:ext cx="2194560" cy="256032"/>
              </a:xfrm>
              <a:prstGeom prst="rect">
                <a:avLst/>
              </a:prstGeom>
              <a:blipFill>
                <a:blip r:embed="rId4"/>
                <a:stretch>
                  <a:fillRect l="-1667" t="-4762" b="-23810"/>
                </a:stretch>
              </a:blipFill>
              <a:ln/>
            </p:spPr>
            <p:txBody>
              <a:bodyPr/>
              <a:lstStyle/>
              <a:p>
                <a:r>
                  <a:rPr lang="en-IN">
                    <a:noFill/>
                  </a:rPr>
                  <a:t> </a:t>
                </a:r>
              </a:p>
            </p:txBody>
          </p:sp>
        </mc:Fallback>
      </mc:AlternateContent>
      <p:sp>
        <p:nvSpPr>
          <p:cNvPr id="15" name="Shape 13"/>
          <p:cNvSpPr/>
          <p:nvPr/>
        </p:nvSpPr>
        <p:spPr>
          <a:xfrm>
            <a:off x="274320" y="1892808"/>
            <a:ext cx="8595360" cy="777240"/>
          </a:xfrm>
          <a:prstGeom prst="rect">
            <a:avLst/>
          </a:prstGeom>
          <a:solidFill>
            <a:srgbClr val="E8F5F7"/>
          </a:solidFill>
          <a:ln w="6350">
            <a:solidFill>
              <a:srgbClr val="D5E8EC"/>
            </a:solidFill>
            <a:prstDash val="solid"/>
          </a:ln>
        </p:spPr>
        <p:txBody>
          <a:bodyPr/>
          <a:lstStyle/>
          <a:p>
            <a:endParaRPr lang="en-GB"/>
          </a:p>
        </p:txBody>
      </p:sp>
      <p:sp>
        <p:nvSpPr>
          <p:cNvPr id="16" name="Shape 14"/>
          <p:cNvSpPr/>
          <p:nvPr/>
        </p:nvSpPr>
        <p:spPr>
          <a:xfrm>
            <a:off x="1874520" y="1892808"/>
            <a:ext cx="0" cy="777240"/>
          </a:xfrm>
          <a:prstGeom prst="line">
            <a:avLst/>
          </a:prstGeom>
          <a:noFill/>
          <a:ln w="6350">
            <a:solidFill>
              <a:srgbClr val="D5E8EC"/>
            </a:solidFill>
            <a:prstDash val="solid"/>
          </a:ln>
        </p:spPr>
        <p:txBody>
          <a:bodyPr/>
          <a:lstStyle/>
          <a:p>
            <a:endParaRPr lang="en-GB"/>
          </a:p>
        </p:txBody>
      </p:sp>
      <p:sp>
        <p:nvSpPr>
          <p:cNvPr id="17" name="Shape 15"/>
          <p:cNvSpPr/>
          <p:nvPr/>
        </p:nvSpPr>
        <p:spPr>
          <a:xfrm>
            <a:off x="5248656" y="1892808"/>
            <a:ext cx="0" cy="777240"/>
          </a:xfrm>
          <a:prstGeom prst="line">
            <a:avLst/>
          </a:prstGeom>
          <a:noFill/>
          <a:ln w="6350">
            <a:solidFill>
              <a:srgbClr val="D5E8EC"/>
            </a:solidFill>
            <a:prstDash val="solid"/>
          </a:ln>
        </p:spPr>
        <p:txBody>
          <a:bodyPr/>
          <a:lstStyle/>
          <a:p>
            <a:endParaRPr lang="en-GB"/>
          </a:p>
        </p:txBody>
      </p:sp>
      <p:sp>
        <p:nvSpPr>
          <p:cNvPr id="18" name="Text 16"/>
          <p:cNvSpPr/>
          <p:nvPr/>
        </p:nvSpPr>
        <p:spPr>
          <a:xfrm>
            <a:off x="347472" y="1947672"/>
            <a:ext cx="1463040" cy="667512"/>
          </a:xfrm>
          <a:prstGeom prst="rect">
            <a:avLst/>
          </a:prstGeom>
          <a:noFill/>
          <a:ln/>
        </p:spPr>
        <p:txBody>
          <a:bodyPr wrap="square" rtlCol="0" anchor="ctr"/>
          <a:lstStyle/>
          <a:p>
            <a:pPr marL="0" indent="0">
              <a:buNone/>
            </a:pPr>
            <a:r>
              <a:rPr lang="en-US" sz="1050" b="1" dirty="0">
                <a:solidFill>
                  <a:srgbClr val="0D1B3E"/>
                </a:solidFill>
              </a:rPr>
              <a:t>Inlet</a:t>
            </a:r>
            <a:endParaRPr lang="en-US" sz="1050" dirty="0"/>
          </a:p>
          <a:p>
            <a:pPr marL="0" indent="0">
              <a:buNone/>
            </a:pPr>
            <a:r>
              <a:rPr lang="en-US" sz="1050" b="1" dirty="0">
                <a:solidFill>
                  <a:srgbClr val="0D1B3E"/>
                </a:solidFill>
              </a:rPr>
              <a:t>(x = 0)</a:t>
            </a:r>
            <a:endParaRPr lang="en-US" sz="1050" dirty="0"/>
          </a:p>
        </p:txBody>
      </p:sp>
      <p:sp>
        <p:nvSpPr>
          <p:cNvPr id="19" name="Text 17"/>
          <p:cNvSpPr/>
          <p:nvPr/>
        </p:nvSpPr>
        <p:spPr>
          <a:xfrm>
            <a:off x="1938528" y="1947672"/>
            <a:ext cx="3246120" cy="667512"/>
          </a:xfrm>
          <a:prstGeom prst="rect">
            <a:avLst/>
          </a:prstGeom>
          <a:noFill/>
          <a:ln/>
        </p:spPr>
        <p:txBody>
          <a:bodyPr wrap="square" rtlCol="0" anchor="ctr"/>
          <a:lstStyle/>
          <a:p>
            <a:pPr marL="0" indent="0">
              <a:buNone/>
            </a:pPr>
            <a:r>
              <a:rPr lang="en-US" sz="1000" dirty="0">
                <a:solidFill>
                  <a:srgbClr val="1A2B3C"/>
                </a:solidFill>
              </a:rPr>
              <a:t>Womersley pulsatile velocity</a:t>
            </a:r>
            <a:endParaRPr lang="en-US" sz="1000" dirty="0"/>
          </a:p>
          <a:p>
            <a:pPr marL="0" indent="0">
              <a:buNone/>
            </a:pPr>
            <a:r>
              <a:rPr lang="en-US" sz="1000" dirty="0">
                <a:solidFill>
                  <a:srgbClr val="1A2B3C"/>
                </a:solidFill>
              </a:rPr>
              <a:t>Uniform LDL concentration</a:t>
            </a:r>
            <a:endParaRPr lang="en-US" sz="1000" dirty="0"/>
          </a:p>
        </p:txBody>
      </p:sp>
      <mc:AlternateContent xmlns:mc="http://schemas.openxmlformats.org/markup-compatibility/2006" xmlns:a14="http://schemas.microsoft.com/office/drawing/2010/main">
        <mc:Choice Requires="a14">
          <p:sp>
            <p:nvSpPr>
              <p:cNvPr id="20" name="Text 18"/>
              <p:cNvSpPr/>
              <p:nvPr/>
            </p:nvSpPr>
            <p:spPr>
              <a:xfrm>
                <a:off x="5321808" y="2007108"/>
                <a:ext cx="3749040" cy="256032"/>
              </a:xfrm>
              <a:prstGeom prst="rect">
                <a:avLst/>
              </a:prstGeom>
              <a:noFill/>
              <a:ln/>
            </p:spPr>
            <p:txBody>
              <a:bodyPr wrap="square" lIns="0" tIns="0" rIns="0" bIns="0" rtlCol="0" anchor="ctr"/>
              <a:lstStyle/>
              <a:p>
                <a:pPr marL="0" indent="0">
                  <a:buNone/>
                </a:pPr>
                <a14:m>
                  <m:oMath xmlns:m="http://schemas.openxmlformats.org/officeDocument/2006/math">
                    <m:r>
                      <a:rPr lang="en-IN" sz="1200" b="0" i="1" smtClean="0">
                        <a:solidFill>
                          <a:schemeClr val="bg2">
                            <a:lumMod val="25000"/>
                          </a:schemeClr>
                        </a:solidFill>
                        <a:latin typeface="Cambria Math" panose="02040503050406030204" pitchFamily="18" charset="0"/>
                        <a:ea typeface="Cambria Math" pitchFamily="34" charset="-122"/>
                        <a:cs typeface="Cambria Math" pitchFamily="34" charset="-120"/>
                      </a:rPr>
                      <m:t>𝑢</m:t>
                    </m:r>
                    <m:d>
                      <m:dPr>
                        <m:ctrlPr>
                          <a:rPr lang="en-IN" sz="1200" b="0" i="1" smtClean="0">
                            <a:solidFill>
                              <a:schemeClr val="bg2">
                                <a:lumMod val="25000"/>
                              </a:schemeClr>
                            </a:solidFill>
                            <a:latin typeface="Cambria Math" panose="02040503050406030204" pitchFamily="18" charset="0"/>
                            <a:ea typeface="Cambria Math" pitchFamily="34" charset="-122"/>
                            <a:cs typeface="Cambria Math" pitchFamily="34" charset="-120"/>
                          </a:rPr>
                        </m:ctrlPr>
                      </m:dPr>
                      <m:e>
                        <m:r>
                          <a:rPr lang="en-IN" sz="1200" b="0" i="1" smtClean="0">
                            <a:solidFill>
                              <a:schemeClr val="bg2">
                                <a:lumMod val="25000"/>
                              </a:schemeClr>
                            </a:solidFill>
                            <a:latin typeface="Cambria Math" panose="02040503050406030204" pitchFamily="18" charset="0"/>
                            <a:ea typeface="Cambria Math" pitchFamily="34" charset="-122"/>
                            <a:cs typeface="Cambria Math" pitchFamily="34" charset="-120"/>
                          </a:rPr>
                          <m:t>0,</m:t>
                        </m:r>
                        <m:r>
                          <a:rPr lang="en-IN" sz="1200" b="0" i="1" smtClean="0">
                            <a:solidFill>
                              <a:schemeClr val="bg2">
                                <a:lumMod val="25000"/>
                              </a:schemeClr>
                            </a:solidFill>
                            <a:latin typeface="Cambria Math" panose="02040503050406030204" pitchFamily="18" charset="0"/>
                            <a:ea typeface="Cambria Math" pitchFamily="34" charset="-122"/>
                            <a:cs typeface="Cambria Math" pitchFamily="34" charset="-120"/>
                          </a:rPr>
                          <m:t>𝑦</m:t>
                        </m:r>
                        <m:r>
                          <a:rPr lang="en-IN" sz="1200" b="0" i="1" smtClean="0">
                            <a:solidFill>
                              <a:schemeClr val="bg2">
                                <a:lumMod val="25000"/>
                              </a:schemeClr>
                            </a:solidFill>
                            <a:latin typeface="Cambria Math" panose="02040503050406030204" pitchFamily="18" charset="0"/>
                            <a:ea typeface="Cambria Math" pitchFamily="34" charset="-122"/>
                            <a:cs typeface="Cambria Math" pitchFamily="34" charset="-120"/>
                          </a:rPr>
                          <m:t>,</m:t>
                        </m:r>
                        <m:r>
                          <a:rPr lang="en-IN" sz="1200" b="0" i="1" smtClean="0">
                            <a:solidFill>
                              <a:schemeClr val="bg2">
                                <a:lumMod val="25000"/>
                              </a:schemeClr>
                            </a:solidFill>
                            <a:latin typeface="Cambria Math" panose="02040503050406030204" pitchFamily="18" charset="0"/>
                            <a:ea typeface="Cambria Math" pitchFamily="34" charset="-122"/>
                            <a:cs typeface="Cambria Math" pitchFamily="34" charset="-120"/>
                          </a:rPr>
                          <m:t>𝑡</m:t>
                        </m:r>
                      </m:e>
                    </m:d>
                    <m:r>
                      <a:rPr lang="en-IN" sz="1200" b="0" i="1" smtClean="0">
                        <a:solidFill>
                          <a:schemeClr val="bg2">
                            <a:lumMod val="25000"/>
                          </a:schemeClr>
                        </a:solidFill>
                        <a:latin typeface="Cambria Math" panose="02040503050406030204" pitchFamily="18" charset="0"/>
                        <a:ea typeface="Cambria Math" pitchFamily="34" charset="-122"/>
                        <a:cs typeface="Cambria Math" pitchFamily="34" charset="-120"/>
                      </a:rPr>
                      <m:t>= </m:t>
                    </m:r>
                    <m:sSub>
                      <m:sSubPr>
                        <m:ctrlPr>
                          <a:rPr lang="en-IN" sz="1200" b="0" i="1" smtClean="0">
                            <a:solidFill>
                              <a:schemeClr val="bg2">
                                <a:lumMod val="25000"/>
                              </a:schemeClr>
                            </a:solidFill>
                            <a:latin typeface="Cambria Math" panose="02040503050406030204" pitchFamily="18" charset="0"/>
                            <a:ea typeface="Cambria Math" pitchFamily="34" charset="-122"/>
                          </a:rPr>
                        </m:ctrlPr>
                      </m:sSubPr>
                      <m:e>
                        <m:r>
                          <a:rPr lang="en-IN" sz="1200" b="0" i="1" smtClean="0">
                            <a:solidFill>
                              <a:schemeClr val="bg2">
                                <a:lumMod val="25000"/>
                              </a:schemeClr>
                            </a:solidFill>
                            <a:latin typeface="Cambria Math" panose="02040503050406030204" pitchFamily="18" charset="0"/>
                            <a:ea typeface="Cambria Math" pitchFamily="34" charset="-122"/>
                          </a:rPr>
                          <m:t>𝑢</m:t>
                        </m:r>
                      </m:e>
                      <m:sub>
                        <m:r>
                          <a:rPr lang="en-IN" sz="1200" b="0" i="1" smtClean="0">
                            <a:solidFill>
                              <a:schemeClr val="bg2">
                                <a:lumMod val="25000"/>
                              </a:schemeClr>
                            </a:solidFill>
                            <a:latin typeface="Cambria Math" panose="02040503050406030204" pitchFamily="18" charset="0"/>
                            <a:ea typeface="Cambria Math" pitchFamily="34" charset="-122"/>
                          </a:rPr>
                          <m:t>𝑤𝑚</m:t>
                        </m:r>
                      </m:sub>
                    </m:sSub>
                    <m:r>
                      <a:rPr lang="en-IN" sz="1200" b="0" i="1" smtClean="0">
                        <a:solidFill>
                          <a:schemeClr val="bg2">
                            <a:lumMod val="25000"/>
                          </a:schemeClr>
                        </a:solidFill>
                        <a:latin typeface="Cambria Math" panose="02040503050406030204" pitchFamily="18" charset="0"/>
                        <a:ea typeface="Cambria Math" pitchFamily="34" charset="-122"/>
                      </a:rPr>
                      <m:t>,     </m:t>
                    </m:r>
                    <m:r>
                      <a:rPr lang="en-IN" sz="1200" b="0" i="1" smtClean="0">
                        <a:solidFill>
                          <a:schemeClr val="bg2">
                            <a:lumMod val="25000"/>
                          </a:schemeClr>
                        </a:solidFill>
                        <a:latin typeface="Cambria Math" panose="02040503050406030204" pitchFamily="18" charset="0"/>
                        <a:ea typeface="Cambria Math" pitchFamily="34" charset="-122"/>
                      </a:rPr>
                      <m:t>𝑣</m:t>
                    </m:r>
                    <m:d>
                      <m:dPr>
                        <m:ctrlPr>
                          <a:rPr lang="en-IN" sz="1200" b="0" i="1" smtClean="0">
                            <a:solidFill>
                              <a:schemeClr val="bg2">
                                <a:lumMod val="25000"/>
                              </a:schemeClr>
                            </a:solidFill>
                            <a:latin typeface="Cambria Math" panose="02040503050406030204" pitchFamily="18" charset="0"/>
                            <a:ea typeface="Cambria Math" pitchFamily="34" charset="-122"/>
                          </a:rPr>
                        </m:ctrlPr>
                      </m:dPr>
                      <m:e>
                        <m:r>
                          <a:rPr lang="en-IN" sz="1200" b="0" i="1" smtClean="0">
                            <a:solidFill>
                              <a:schemeClr val="bg2">
                                <a:lumMod val="25000"/>
                              </a:schemeClr>
                            </a:solidFill>
                            <a:latin typeface="Cambria Math" panose="02040503050406030204" pitchFamily="18" charset="0"/>
                            <a:ea typeface="Cambria Math" pitchFamily="34" charset="-122"/>
                          </a:rPr>
                          <m:t>0,</m:t>
                        </m:r>
                        <m:r>
                          <a:rPr lang="en-IN" sz="1200" b="0" i="1" smtClean="0">
                            <a:solidFill>
                              <a:schemeClr val="bg2">
                                <a:lumMod val="25000"/>
                              </a:schemeClr>
                            </a:solidFill>
                            <a:latin typeface="Cambria Math" panose="02040503050406030204" pitchFamily="18" charset="0"/>
                            <a:ea typeface="Cambria Math" pitchFamily="34" charset="-122"/>
                          </a:rPr>
                          <m:t>𝑦</m:t>
                        </m:r>
                        <m:r>
                          <a:rPr lang="en-IN" sz="1200" b="0" i="1" smtClean="0">
                            <a:solidFill>
                              <a:schemeClr val="bg2">
                                <a:lumMod val="25000"/>
                              </a:schemeClr>
                            </a:solidFill>
                            <a:latin typeface="Cambria Math" panose="02040503050406030204" pitchFamily="18" charset="0"/>
                            <a:ea typeface="Cambria Math" pitchFamily="34" charset="-122"/>
                          </a:rPr>
                          <m:t>,</m:t>
                        </m:r>
                        <m:r>
                          <a:rPr lang="en-IN" sz="1200" b="0" i="1" smtClean="0">
                            <a:solidFill>
                              <a:schemeClr val="bg2">
                                <a:lumMod val="25000"/>
                              </a:schemeClr>
                            </a:solidFill>
                            <a:latin typeface="Cambria Math" panose="02040503050406030204" pitchFamily="18" charset="0"/>
                            <a:ea typeface="Cambria Math" pitchFamily="34" charset="-122"/>
                          </a:rPr>
                          <m:t>𝑡</m:t>
                        </m:r>
                      </m:e>
                    </m:d>
                    <m:r>
                      <a:rPr lang="en-IN" sz="1200" b="0" i="1" smtClean="0">
                        <a:solidFill>
                          <a:schemeClr val="bg2">
                            <a:lumMod val="25000"/>
                          </a:schemeClr>
                        </a:solidFill>
                        <a:latin typeface="Cambria Math" panose="02040503050406030204" pitchFamily="18" charset="0"/>
                        <a:ea typeface="Cambria Math" pitchFamily="34" charset="-122"/>
                      </a:rPr>
                      <m:t>=0</m:t>
                    </m:r>
                  </m:oMath>
                </a14:m>
                <a:r>
                  <a:rPr lang="en-US" sz="1200" dirty="0"/>
                  <a:t> </a:t>
                </a:r>
              </a:p>
            </p:txBody>
          </p:sp>
        </mc:Choice>
        <mc:Fallback xmlns="">
          <p:sp>
            <p:nvSpPr>
              <p:cNvPr id="20" name="Text 18"/>
              <p:cNvSpPr>
                <a:spLocks noRot="1" noChangeAspect="1" noMove="1" noResize="1" noEditPoints="1" noAdjustHandles="1" noChangeArrowheads="1" noChangeShapeType="1" noTextEdit="1"/>
              </p:cNvSpPr>
              <p:nvPr/>
            </p:nvSpPr>
            <p:spPr>
              <a:xfrm>
                <a:off x="5321808" y="2007108"/>
                <a:ext cx="3749040" cy="256032"/>
              </a:xfrm>
              <a:prstGeom prst="rect">
                <a:avLst/>
              </a:prstGeom>
              <a:blipFill>
                <a:blip r:embed="rId5"/>
                <a:stretch>
                  <a:fillRect l="-976" t="-4762" b="-23810"/>
                </a:stretch>
              </a:blip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 19"/>
              <p:cNvSpPr/>
              <p:nvPr/>
            </p:nvSpPr>
            <p:spPr>
              <a:xfrm>
                <a:off x="5321808" y="2318004"/>
                <a:ext cx="2560320" cy="256032"/>
              </a:xfrm>
              <a:prstGeom prst="rect">
                <a:avLst/>
              </a:prstGeom>
              <a:noFill/>
              <a:ln/>
            </p:spPr>
            <p:txBody>
              <a:bodyPr wrap="square" lIns="0" tIns="0" rIns="0" bIns="0" rtlCol="0" anchor="ctr"/>
              <a:lstStyle/>
              <a:p>
                <a:pPr marL="0" indent="0">
                  <a:buNone/>
                </a:pPr>
                <a14:m>
                  <m:oMath xmlns:m="http://schemas.openxmlformats.org/officeDocument/2006/math">
                    <m:r>
                      <a:rPr lang="en-IN" sz="1200" b="0" i="1" smtClean="0">
                        <a:solidFill>
                          <a:schemeClr val="bg2">
                            <a:lumMod val="25000"/>
                          </a:schemeClr>
                        </a:solidFill>
                        <a:latin typeface="Cambria Math" panose="02040503050406030204" pitchFamily="18" charset="0"/>
                      </a:rPr>
                      <m:t>𝑐</m:t>
                    </m:r>
                    <m:d>
                      <m:dPr>
                        <m:ctrlPr>
                          <a:rPr lang="en-IN" sz="1200" b="0" i="1" smtClean="0">
                            <a:solidFill>
                              <a:schemeClr val="bg2">
                                <a:lumMod val="25000"/>
                              </a:schemeClr>
                            </a:solidFill>
                            <a:latin typeface="Cambria Math" panose="02040503050406030204" pitchFamily="18" charset="0"/>
                          </a:rPr>
                        </m:ctrlPr>
                      </m:dPr>
                      <m:e>
                        <m:r>
                          <a:rPr lang="en-IN" sz="1200" b="0" i="1" smtClean="0">
                            <a:solidFill>
                              <a:schemeClr val="bg2">
                                <a:lumMod val="25000"/>
                              </a:schemeClr>
                            </a:solidFill>
                            <a:latin typeface="Cambria Math" panose="02040503050406030204" pitchFamily="18" charset="0"/>
                          </a:rPr>
                          <m:t>0,</m:t>
                        </m:r>
                        <m:r>
                          <a:rPr lang="en-IN" sz="1200" b="0" i="1" smtClean="0">
                            <a:solidFill>
                              <a:schemeClr val="bg2">
                                <a:lumMod val="25000"/>
                              </a:schemeClr>
                            </a:solidFill>
                            <a:latin typeface="Cambria Math" panose="02040503050406030204" pitchFamily="18" charset="0"/>
                          </a:rPr>
                          <m:t>𝑦</m:t>
                        </m:r>
                        <m:r>
                          <a:rPr lang="en-IN" sz="1200" b="0" i="1" smtClean="0">
                            <a:solidFill>
                              <a:schemeClr val="bg2">
                                <a:lumMod val="25000"/>
                              </a:schemeClr>
                            </a:solidFill>
                            <a:latin typeface="Cambria Math" panose="02040503050406030204" pitchFamily="18" charset="0"/>
                          </a:rPr>
                          <m:t>,</m:t>
                        </m:r>
                        <m:r>
                          <a:rPr lang="en-IN" sz="1200" b="0" i="1" smtClean="0">
                            <a:solidFill>
                              <a:schemeClr val="bg2">
                                <a:lumMod val="25000"/>
                              </a:schemeClr>
                            </a:solidFill>
                            <a:latin typeface="Cambria Math" panose="02040503050406030204" pitchFamily="18" charset="0"/>
                          </a:rPr>
                          <m:t>𝑡</m:t>
                        </m:r>
                      </m:e>
                    </m:d>
                    <m:r>
                      <a:rPr lang="en-IN" sz="1200" b="0" i="1" smtClean="0">
                        <a:solidFill>
                          <a:schemeClr val="bg2">
                            <a:lumMod val="25000"/>
                          </a:schemeClr>
                        </a:solidFill>
                        <a:latin typeface="Cambria Math" panose="02040503050406030204" pitchFamily="18" charset="0"/>
                      </a:rPr>
                      <m:t>=1</m:t>
                    </m:r>
                  </m:oMath>
                </a14:m>
                <a:r>
                  <a:rPr lang="en-US" sz="1200" dirty="0">
                    <a:solidFill>
                      <a:schemeClr val="bg2">
                        <a:lumMod val="25000"/>
                      </a:schemeClr>
                    </a:solidFill>
                  </a:rPr>
                  <a:t> </a:t>
                </a:r>
              </a:p>
            </p:txBody>
          </p:sp>
        </mc:Choice>
        <mc:Fallback xmlns="">
          <p:sp>
            <p:nvSpPr>
              <p:cNvPr id="21" name="Text 19"/>
              <p:cNvSpPr>
                <a:spLocks noRot="1" noChangeAspect="1" noMove="1" noResize="1" noEditPoints="1" noAdjustHandles="1" noChangeArrowheads="1" noChangeShapeType="1" noTextEdit="1"/>
              </p:cNvSpPr>
              <p:nvPr/>
            </p:nvSpPr>
            <p:spPr>
              <a:xfrm>
                <a:off x="5321808" y="2318004"/>
                <a:ext cx="2560320" cy="256032"/>
              </a:xfrm>
              <a:prstGeom prst="rect">
                <a:avLst/>
              </a:prstGeom>
              <a:blipFill>
                <a:blip r:embed="rId6"/>
                <a:stretch>
                  <a:fillRect l="-1429" b="-2381"/>
                </a:stretch>
              </a:blipFill>
              <a:ln/>
            </p:spPr>
            <p:txBody>
              <a:bodyPr/>
              <a:lstStyle/>
              <a:p>
                <a:r>
                  <a:rPr lang="en-IN">
                    <a:noFill/>
                  </a:rPr>
                  <a:t> </a:t>
                </a:r>
              </a:p>
            </p:txBody>
          </p:sp>
        </mc:Fallback>
      </mc:AlternateContent>
      <p:sp>
        <p:nvSpPr>
          <p:cNvPr id="22" name="Shape 20"/>
          <p:cNvSpPr/>
          <p:nvPr/>
        </p:nvSpPr>
        <p:spPr>
          <a:xfrm>
            <a:off x="274320" y="2670048"/>
            <a:ext cx="8595360" cy="777240"/>
          </a:xfrm>
          <a:prstGeom prst="rect">
            <a:avLst/>
          </a:prstGeom>
          <a:solidFill>
            <a:srgbClr val="FFFFFF"/>
          </a:solidFill>
          <a:ln w="6350">
            <a:solidFill>
              <a:srgbClr val="D5E8EC"/>
            </a:solidFill>
            <a:prstDash val="solid"/>
          </a:ln>
        </p:spPr>
        <p:txBody>
          <a:bodyPr/>
          <a:lstStyle/>
          <a:p>
            <a:endParaRPr lang="en-IN" dirty="0"/>
          </a:p>
        </p:txBody>
      </p:sp>
      <p:sp>
        <p:nvSpPr>
          <p:cNvPr id="23" name="Shape 21"/>
          <p:cNvSpPr/>
          <p:nvPr/>
        </p:nvSpPr>
        <p:spPr>
          <a:xfrm>
            <a:off x="1874520" y="2670048"/>
            <a:ext cx="0" cy="777240"/>
          </a:xfrm>
          <a:prstGeom prst="line">
            <a:avLst/>
          </a:prstGeom>
          <a:noFill/>
          <a:ln w="6350">
            <a:solidFill>
              <a:srgbClr val="D5E8EC"/>
            </a:solidFill>
            <a:prstDash val="solid"/>
          </a:ln>
        </p:spPr>
        <p:txBody>
          <a:bodyPr/>
          <a:lstStyle/>
          <a:p>
            <a:endParaRPr lang="en-GB"/>
          </a:p>
        </p:txBody>
      </p:sp>
      <p:sp>
        <p:nvSpPr>
          <p:cNvPr id="24" name="Shape 22"/>
          <p:cNvSpPr/>
          <p:nvPr/>
        </p:nvSpPr>
        <p:spPr>
          <a:xfrm>
            <a:off x="5248656" y="2670048"/>
            <a:ext cx="0" cy="777240"/>
          </a:xfrm>
          <a:prstGeom prst="line">
            <a:avLst/>
          </a:prstGeom>
          <a:noFill/>
          <a:ln w="6350">
            <a:solidFill>
              <a:srgbClr val="D5E8EC"/>
            </a:solidFill>
            <a:prstDash val="solid"/>
          </a:ln>
        </p:spPr>
        <p:txBody>
          <a:bodyPr/>
          <a:lstStyle/>
          <a:p>
            <a:endParaRPr lang="en-GB"/>
          </a:p>
        </p:txBody>
      </p:sp>
      <p:sp>
        <p:nvSpPr>
          <p:cNvPr id="25" name="Text 23"/>
          <p:cNvSpPr/>
          <p:nvPr/>
        </p:nvSpPr>
        <p:spPr>
          <a:xfrm>
            <a:off x="347472" y="2724912"/>
            <a:ext cx="1463040" cy="667512"/>
          </a:xfrm>
          <a:prstGeom prst="rect">
            <a:avLst/>
          </a:prstGeom>
          <a:noFill/>
          <a:ln/>
        </p:spPr>
        <p:txBody>
          <a:bodyPr wrap="square" rtlCol="0" anchor="ctr"/>
          <a:lstStyle/>
          <a:p>
            <a:pPr marL="0" indent="0">
              <a:buNone/>
            </a:pPr>
            <a:r>
              <a:rPr lang="en-US" sz="1050" b="1" dirty="0">
                <a:solidFill>
                  <a:srgbClr val="0D1B3E"/>
                </a:solidFill>
              </a:rPr>
              <a:t>Axis of</a:t>
            </a:r>
            <a:endParaRPr lang="en-US" sz="1050" dirty="0"/>
          </a:p>
          <a:p>
            <a:pPr marL="0" indent="0">
              <a:buNone/>
            </a:pPr>
            <a:r>
              <a:rPr lang="en-US" sz="1050" b="1" dirty="0">
                <a:solidFill>
                  <a:srgbClr val="0D1B3E"/>
                </a:solidFill>
              </a:rPr>
              <a:t>symmetry</a:t>
            </a:r>
            <a:endParaRPr lang="en-US" sz="1050" dirty="0"/>
          </a:p>
        </p:txBody>
      </p:sp>
      <p:sp>
        <p:nvSpPr>
          <p:cNvPr id="26" name="Text 24"/>
          <p:cNvSpPr/>
          <p:nvPr/>
        </p:nvSpPr>
        <p:spPr>
          <a:xfrm>
            <a:off x="1938528" y="2724912"/>
            <a:ext cx="3246120" cy="667512"/>
          </a:xfrm>
          <a:prstGeom prst="rect">
            <a:avLst/>
          </a:prstGeom>
          <a:noFill/>
          <a:ln/>
        </p:spPr>
        <p:txBody>
          <a:bodyPr wrap="square" rtlCol="0" anchor="ctr"/>
          <a:lstStyle/>
          <a:p>
            <a:pPr marL="0" indent="0">
              <a:buNone/>
            </a:pPr>
            <a:r>
              <a:rPr lang="en-US" sz="1000" dirty="0">
                <a:solidFill>
                  <a:srgbClr val="1A2B3C"/>
                </a:solidFill>
              </a:rPr>
              <a:t>Streamline; zero vorticity</a:t>
            </a:r>
            <a:endParaRPr lang="en-US" sz="1000" dirty="0"/>
          </a:p>
          <a:p>
            <a:pPr marL="0" indent="0">
              <a:buNone/>
            </a:pPr>
            <a:r>
              <a:rPr lang="en-US" sz="1000" dirty="0">
                <a:solidFill>
                  <a:srgbClr val="1A2B3C"/>
                </a:solidFill>
              </a:rPr>
              <a:t>Zero radial conc. gradient</a:t>
            </a:r>
            <a:endParaRPr lang="en-US" sz="1000" dirty="0"/>
          </a:p>
        </p:txBody>
      </p:sp>
      <mc:AlternateContent xmlns:mc="http://schemas.openxmlformats.org/markup-compatibility/2006" xmlns:a14="http://schemas.microsoft.com/office/drawing/2010/main">
        <mc:Choice Requires="a14">
          <p:sp>
            <p:nvSpPr>
              <p:cNvPr id="27" name="Text 25"/>
              <p:cNvSpPr/>
              <p:nvPr/>
            </p:nvSpPr>
            <p:spPr>
              <a:xfrm>
                <a:off x="5321808" y="2784348"/>
                <a:ext cx="3474720" cy="256032"/>
              </a:xfrm>
              <a:prstGeom prst="rect">
                <a:avLst/>
              </a:prstGeom>
              <a:noFill/>
              <a:ln/>
            </p:spPr>
            <p:txBody>
              <a:bodyPr wrap="square" lIns="0" tIns="0" rIns="0" bIns="0" rtlCol="0" anchor="ctr"/>
              <a:lstStyle/>
              <a:p>
                <a14:m>
                  <m:oMath xmlns:m="http://schemas.openxmlformats.org/officeDocument/2006/math">
                    <m:r>
                      <a:rPr lang="en-IN" sz="1200" b="0" i="1" smtClean="0">
                        <a:solidFill>
                          <a:schemeClr val="bg2">
                            <a:lumMod val="25000"/>
                          </a:schemeClr>
                        </a:solidFill>
                        <a:latin typeface="Cambria Math" panose="02040503050406030204" pitchFamily="18" charset="0"/>
                      </a:rPr>
                      <m:t>𝑣</m:t>
                    </m:r>
                    <m:d>
                      <m:dPr>
                        <m:ctrlPr>
                          <a:rPr lang="en-IN" sz="1200" b="0" i="1" smtClean="0">
                            <a:solidFill>
                              <a:schemeClr val="bg2">
                                <a:lumMod val="25000"/>
                              </a:schemeClr>
                            </a:solidFill>
                            <a:latin typeface="Cambria Math" panose="02040503050406030204" pitchFamily="18" charset="0"/>
                          </a:rPr>
                        </m:ctrlPr>
                      </m:dPr>
                      <m:e>
                        <m:r>
                          <a:rPr lang="en-IN" sz="1200" b="0" i="1" smtClean="0">
                            <a:solidFill>
                              <a:schemeClr val="bg2">
                                <a:lumMod val="25000"/>
                              </a:schemeClr>
                            </a:solidFill>
                            <a:latin typeface="Cambria Math" panose="02040503050406030204" pitchFamily="18" charset="0"/>
                          </a:rPr>
                          <m:t>𝑥</m:t>
                        </m:r>
                        <m:r>
                          <a:rPr lang="en-IN" sz="1200" b="0" i="1" smtClean="0">
                            <a:solidFill>
                              <a:schemeClr val="bg2">
                                <a:lumMod val="25000"/>
                              </a:schemeClr>
                            </a:solidFill>
                            <a:latin typeface="Cambria Math" panose="02040503050406030204" pitchFamily="18" charset="0"/>
                          </a:rPr>
                          <m:t>,0,</m:t>
                        </m:r>
                        <m:r>
                          <a:rPr lang="en-IN" sz="1200" b="0" i="1" smtClean="0">
                            <a:solidFill>
                              <a:schemeClr val="bg2">
                                <a:lumMod val="25000"/>
                              </a:schemeClr>
                            </a:solidFill>
                            <a:latin typeface="Cambria Math" panose="02040503050406030204" pitchFamily="18" charset="0"/>
                          </a:rPr>
                          <m:t>𝑡</m:t>
                        </m:r>
                      </m:e>
                    </m:d>
                    <m:r>
                      <a:rPr lang="en-IN" sz="1200" b="0" i="1" smtClean="0">
                        <a:solidFill>
                          <a:schemeClr val="bg2">
                            <a:lumMod val="25000"/>
                          </a:schemeClr>
                        </a:solidFill>
                        <a:latin typeface="Cambria Math" panose="02040503050406030204" pitchFamily="18" charset="0"/>
                      </a:rPr>
                      <m:t>=0</m:t>
                    </m:r>
                  </m:oMath>
                </a14:m>
                <a:r>
                  <a:rPr lang="en-US" sz="1200" dirty="0">
                    <a:solidFill>
                      <a:schemeClr val="bg2">
                        <a:lumMod val="25000"/>
                      </a:schemeClr>
                    </a:solidFill>
                  </a:rPr>
                  <a:t> </a:t>
                </a:r>
              </a:p>
            </p:txBody>
          </p:sp>
        </mc:Choice>
        <mc:Fallback xmlns="">
          <p:sp>
            <p:nvSpPr>
              <p:cNvPr id="27" name="Text 25"/>
              <p:cNvSpPr>
                <a:spLocks noRot="1" noChangeAspect="1" noMove="1" noResize="1" noEditPoints="1" noAdjustHandles="1" noChangeArrowheads="1" noChangeShapeType="1" noTextEdit="1"/>
              </p:cNvSpPr>
              <p:nvPr/>
            </p:nvSpPr>
            <p:spPr>
              <a:xfrm>
                <a:off x="5321808" y="2784348"/>
                <a:ext cx="3474720" cy="256032"/>
              </a:xfrm>
              <a:prstGeom prst="rect">
                <a:avLst/>
              </a:prstGeom>
              <a:blipFill>
                <a:blip r:embed="rId7"/>
                <a:stretch>
                  <a:fillRect l="-1053" t="-4762" b="-21429"/>
                </a:stretch>
              </a:blipFill>
              <a:ln/>
            </p:spPr>
            <p:txBody>
              <a:bodyPr/>
              <a:lstStyle/>
              <a:p>
                <a:r>
                  <a:rPr lang="en-IN">
                    <a:noFill/>
                  </a:rPr>
                  <a:t> </a:t>
                </a:r>
              </a:p>
            </p:txBody>
          </p:sp>
        </mc:Fallback>
      </mc:AlternateContent>
      <p:sp>
        <p:nvSpPr>
          <p:cNvPr id="32" name="Shape 30"/>
          <p:cNvSpPr/>
          <p:nvPr/>
        </p:nvSpPr>
        <p:spPr>
          <a:xfrm>
            <a:off x="274320" y="3447288"/>
            <a:ext cx="8595360" cy="777240"/>
          </a:xfrm>
          <a:prstGeom prst="rect">
            <a:avLst/>
          </a:prstGeom>
          <a:solidFill>
            <a:srgbClr val="E8F5F7"/>
          </a:solidFill>
          <a:ln w="6350">
            <a:solidFill>
              <a:srgbClr val="D5E8EC"/>
            </a:solidFill>
            <a:prstDash val="solid"/>
          </a:ln>
        </p:spPr>
        <p:txBody>
          <a:bodyPr/>
          <a:lstStyle/>
          <a:p>
            <a:endParaRPr lang="en-IN" dirty="0"/>
          </a:p>
        </p:txBody>
      </p:sp>
      <p:sp>
        <p:nvSpPr>
          <p:cNvPr id="33" name="Shape 31"/>
          <p:cNvSpPr/>
          <p:nvPr/>
        </p:nvSpPr>
        <p:spPr>
          <a:xfrm>
            <a:off x="1874520" y="3447288"/>
            <a:ext cx="0" cy="777240"/>
          </a:xfrm>
          <a:prstGeom prst="line">
            <a:avLst/>
          </a:prstGeom>
          <a:noFill/>
          <a:ln w="6350">
            <a:solidFill>
              <a:srgbClr val="D5E8EC"/>
            </a:solidFill>
            <a:prstDash val="solid"/>
          </a:ln>
        </p:spPr>
        <p:txBody>
          <a:bodyPr/>
          <a:lstStyle/>
          <a:p>
            <a:endParaRPr lang="en-GB"/>
          </a:p>
        </p:txBody>
      </p:sp>
      <p:sp>
        <p:nvSpPr>
          <p:cNvPr id="34" name="Shape 32"/>
          <p:cNvSpPr/>
          <p:nvPr/>
        </p:nvSpPr>
        <p:spPr>
          <a:xfrm>
            <a:off x="5248656" y="3447288"/>
            <a:ext cx="0" cy="777240"/>
          </a:xfrm>
          <a:prstGeom prst="line">
            <a:avLst/>
          </a:prstGeom>
          <a:noFill/>
          <a:ln w="6350">
            <a:solidFill>
              <a:srgbClr val="D5E8EC"/>
            </a:solidFill>
            <a:prstDash val="solid"/>
          </a:ln>
        </p:spPr>
        <p:txBody>
          <a:bodyPr/>
          <a:lstStyle/>
          <a:p>
            <a:endParaRPr lang="en-GB"/>
          </a:p>
        </p:txBody>
      </p:sp>
      <p:sp>
        <p:nvSpPr>
          <p:cNvPr id="35" name="Text 33"/>
          <p:cNvSpPr/>
          <p:nvPr/>
        </p:nvSpPr>
        <p:spPr>
          <a:xfrm>
            <a:off x="347472" y="3478299"/>
            <a:ext cx="1463040" cy="667512"/>
          </a:xfrm>
          <a:prstGeom prst="rect">
            <a:avLst/>
          </a:prstGeom>
          <a:noFill/>
          <a:ln/>
        </p:spPr>
        <p:txBody>
          <a:bodyPr wrap="square" rtlCol="0" anchor="ctr"/>
          <a:lstStyle/>
          <a:p>
            <a:pPr marL="0" indent="0">
              <a:buNone/>
            </a:pPr>
            <a:r>
              <a:rPr lang="en-US" sz="1050" b="1" dirty="0">
                <a:solidFill>
                  <a:srgbClr val="0D1B3E"/>
                </a:solidFill>
              </a:rPr>
              <a:t>Outlet</a:t>
            </a:r>
            <a:endParaRPr lang="en-US" sz="1050" dirty="0"/>
          </a:p>
          <a:p>
            <a:pPr marL="0" indent="0">
              <a:buNone/>
            </a:pPr>
            <a:r>
              <a:rPr lang="en-US" sz="1050" b="1" dirty="0">
                <a:solidFill>
                  <a:srgbClr val="0D1B3E"/>
                </a:solidFill>
              </a:rPr>
              <a:t>(x = 10R₀)</a:t>
            </a:r>
            <a:endParaRPr lang="en-US" sz="1050" dirty="0"/>
          </a:p>
        </p:txBody>
      </p:sp>
      <p:sp>
        <p:nvSpPr>
          <p:cNvPr id="36" name="Text 34"/>
          <p:cNvSpPr/>
          <p:nvPr/>
        </p:nvSpPr>
        <p:spPr>
          <a:xfrm>
            <a:off x="1938528" y="3502046"/>
            <a:ext cx="3246120" cy="667512"/>
          </a:xfrm>
          <a:prstGeom prst="rect">
            <a:avLst/>
          </a:prstGeom>
          <a:noFill/>
          <a:ln/>
        </p:spPr>
        <p:txBody>
          <a:bodyPr wrap="square" rtlCol="0" anchor="ctr"/>
          <a:lstStyle/>
          <a:p>
            <a:pPr marL="0" indent="0">
              <a:buNone/>
            </a:pPr>
            <a:r>
              <a:rPr lang="en-US" sz="1000" dirty="0">
                <a:solidFill>
                  <a:srgbClr val="1A2B3C"/>
                </a:solidFill>
              </a:rPr>
              <a:t>Extrapolation condition</a:t>
            </a:r>
            <a:endParaRPr lang="en-US" sz="1000" dirty="0"/>
          </a:p>
          <a:p>
            <a:pPr marL="0" indent="0">
              <a:buNone/>
            </a:pPr>
            <a:r>
              <a:rPr lang="en-US" sz="1000" dirty="0">
                <a:solidFill>
                  <a:srgbClr val="1A2B3C"/>
                </a:solidFill>
              </a:rPr>
              <a:t>(no upstream reflection)</a:t>
            </a:r>
            <a:endParaRPr lang="en-US" sz="1000" dirty="0"/>
          </a:p>
        </p:txBody>
      </p:sp>
      <p:sp>
        <p:nvSpPr>
          <p:cNvPr id="38" name="Shape 36"/>
          <p:cNvSpPr/>
          <p:nvPr/>
        </p:nvSpPr>
        <p:spPr>
          <a:xfrm>
            <a:off x="281196" y="4219956"/>
            <a:ext cx="8595360" cy="777240"/>
          </a:xfrm>
          <a:prstGeom prst="rect">
            <a:avLst/>
          </a:prstGeom>
          <a:solidFill>
            <a:srgbClr val="FFFFFF"/>
          </a:solidFill>
          <a:ln w="6350">
            <a:solidFill>
              <a:srgbClr val="D5E8EC"/>
            </a:solidFill>
            <a:prstDash val="solid"/>
          </a:ln>
        </p:spPr>
        <p:txBody>
          <a:bodyPr/>
          <a:lstStyle/>
          <a:p>
            <a:endParaRPr lang="en-GB"/>
          </a:p>
        </p:txBody>
      </p:sp>
      <p:sp>
        <p:nvSpPr>
          <p:cNvPr id="39" name="Shape 37"/>
          <p:cNvSpPr/>
          <p:nvPr/>
        </p:nvSpPr>
        <p:spPr>
          <a:xfrm>
            <a:off x="1874520" y="4224528"/>
            <a:ext cx="0" cy="777240"/>
          </a:xfrm>
          <a:prstGeom prst="line">
            <a:avLst/>
          </a:prstGeom>
          <a:noFill/>
          <a:ln w="6350">
            <a:solidFill>
              <a:srgbClr val="D5E8EC"/>
            </a:solidFill>
            <a:prstDash val="solid"/>
          </a:ln>
        </p:spPr>
        <p:txBody>
          <a:bodyPr/>
          <a:lstStyle/>
          <a:p>
            <a:endParaRPr lang="en-GB"/>
          </a:p>
        </p:txBody>
      </p:sp>
      <p:sp>
        <p:nvSpPr>
          <p:cNvPr id="40" name="Shape 38"/>
          <p:cNvSpPr/>
          <p:nvPr/>
        </p:nvSpPr>
        <p:spPr>
          <a:xfrm>
            <a:off x="5248656" y="4224528"/>
            <a:ext cx="0" cy="777240"/>
          </a:xfrm>
          <a:prstGeom prst="line">
            <a:avLst/>
          </a:prstGeom>
          <a:noFill/>
          <a:ln w="6350">
            <a:solidFill>
              <a:srgbClr val="D5E8EC"/>
            </a:solidFill>
            <a:prstDash val="solid"/>
          </a:ln>
        </p:spPr>
        <p:txBody>
          <a:bodyPr/>
          <a:lstStyle/>
          <a:p>
            <a:endParaRPr lang="en-GB"/>
          </a:p>
        </p:txBody>
      </p:sp>
      <p:sp>
        <p:nvSpPr>
          <p:cNvPr id="41" name="Text 39"/>
          <p:cNvSpPr/>
          <p:nvPr/>
        </p:nvSpPr>
        <p:spPr>
          <a:xfrm>
            <a:off x="321955" y="4215384"/>
            <a:ext cx="1463040" cy="667512"/>
          </a:xfrm>
          <a:prstGeom prst="rect">
            <a:avLst/>
          </a:prstGeom>
          <a:noFill/>
          <a:ln/>
        </p:spPr>
        <p:txBody>
          <a:bodyPr wrap="square" rtlCol="0" anchor="ctr"/>
          <a:lstStyle/>
          <a:p>
            <a:pPr marL="0" indent="0">
              <a:buNone/>
            </a:pPr>
            <a:r>
              <a:rPr lang="en-US" sz="1050" b="1" dirty="0">
                <a:solidFill>
                  <a:srgbClr val="0D1B3E"/>
                </a:solidFill>
              </a:rPr>
              <a:t>Wall</a:t>
            </a:r>
            <a:endParaRPr lang="en-US" sz="1050" dirty="0"/>
          </a:p>
          <a:p>
            <a:pPr marL="0" indent="0">
              <a:buNone/>
            </a:pPr>
            <a:r>
              <a:rPr lang="en-US" sz="1050" b="1" dirty="0">
                <a:solidFill>
                  <a:srgbClr val="0D1B3E"/>
                </a:solidFill>
              </a:rPr>
              <a:t>(LDL conc.)</a:t>
            </a:r>
            <a:endParaRPr lang="en-US" sz="1050" dirty="0"/>
          </a:p>
        </p:txBody>
      </p:sp>
      <p:sp>
        <p:nvSpPr>
          <p:cNvPr id="42" name="Text 40"/>
          <p:cNvSpPr/>
          <p:nvPr/>
        </p:nvSpPr>
        <p:spPr>
          <a:xfrm>
            <a:off x="1953946" y="4224528"/>
            <a:ext cx="3246120" cy="667512"/>
          </a:xfrm>
          <a:prstGeom prst="rect">
            <a:avLst/>
          </a:prstGeom>
          <a:noFill/>
          <a:ln/>
        </p:spPr>
        <p:txBody>
          <a:bodyPr wrap="square" rtlCol="0" anchor="ctr"/>
          <a:lstStyle/>
          <a:p>
            <a:pPr marL="0" indent="0">
              <a:buNone/>
            </a:pPr>
            <a:r>
              <a:rPr lang="en-US" sz="1000" dirty="0">
                <a:solidFill>
                  <a:srgbClr val="1A2B3C"/>
                </a:solidFill>
              </a:rPr>
              <a:t>Convective flux = diffusive flux</a:t>
            </a:r>
            <a:endParaRPr lang="en-US" sz="1000" dirty="0"/>
          </a:p>
          <a:p>
            <a:pPr marL="0" indent="0">
              <a:buNone/>
            </a:pPr>
            <a:r>
              <a:rPr lang="en-US" sz="1000" dirty="0">
                <a:solidFill>
                  <a:srgbClr val="1A2B3C"/>
                </a:solidFill>
              </a:rPr>
              <a:t>at impervious vessel wall</a:t>
            </a:r>
            <a:endParaRPr lang="en-US" sz="1000" dirty="0"/>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1D8D5173-3631-85AA-B5C7-78EF75FD8BB6}"/>
                  </a:ext>
                </a:extLst>
              </p:cNvPr>
              <p:cNvSpPr txBox="1"/>
              <p:nvPr/>
            </p:nvSpPr>
            <p:spPr>
              <a:xfrm>
                <a:off x="5320287" y="4393046"/>
                <a:ext cx="1702838" cy="4464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1400" i="1" smtClean="0">
                              <a:solidFill>
                                <a:schemeClr val="bg2">
                                  <a:lumMod val="25000"/>
                                </a:schemeClr>
                              </a:solidFill>
                              <a:latin typeface="Cambria Math" panose="02040503050406030204" pitchFamily="18" charset="0"/>
                            </a:rPr>
                          </m:ctrlPr>
                        </m:sSubPr>
                        <m:e>
                          <m:r>
                            <a:rPr lang="en-IN" sz="1400" b="0" i="1" smtClean="0">
                              <a:solidFill>
                                <a:schemeClr val="bg2">
                                  <a:lumMod val="25000"/>
                                </a:schemeClr>
                              </a:solidFill>
                              <a:latin typeface="Cambria Math" panose="02040503050406030204" pitchFamily="18" charset="0"/>
                            </a:rPr>
                            <m:t>𝑉</m:t>
                          </m:r>
                        </m:e>
                        <m:sub>
                          <m:r>
                            <a:rPr lang="en-IN" sz="1400" b="0" i="1" smtClean="0">
                              <a:solidFill>
                                <a:schemeClr val="bg2">
                                  <a:lumMod val="25000"/>
                                </a:schemeClr>
                              </a:solidFill>
                              <a:latin typeface="Cambria Math" panose="02040503050406030204" pitchFamily="18" charset="0"/>
                            </a:rPr>
                            <m:t>𝑤</m:t>
                          </m:r>
                        </m:sub>
                      </m:sSub>
                      <m:sSub>
                        <m:sSubPr>
                          <m:ctrlPr>
                            <a:rPr lang="en-IN" sz="1400" i="1" smtClean="0">
                              <a:solidFill>
                                <a:schemeClr val="bg2">
                                  <a:lumMod val="25000"/>
                                </a:schemeClr>
                              </a:solidFill>
                              <a:latin typeface="Cambria Math" panose="02040503050406030204" pitchFamily="18" charset="0"/>
                            </a:rPr>
                          </m:ctrlPr>
                        </m:sSubPr>
                        <m:e>
                          <m:r>
                            <a:rPr lang="en-IN" sz="1400" b="0" i="1" smtClean="0">
                              <a:solidFill>
                                <a:schemeClr val="bg2">
                                  <a:lumMod val="25000"/>
                                </a:schemeClr>
                              </a:solidFill>
                              <a:latin typeface="Cambria Math" panose="02040503050406030204" pitchFamily="18" charset="0"/>
                            </a:rPr>
                            <m:t>𝐶</m:t>
                          </m:r>
                        </m:e>
                        <m:sub>
                          <m:r>
                            <a:rPr lang="en-IN" sz="1400" b="0" i="1" smtClean="0">
                              <a:solidFill>
                                <a:schemeClr val="bg2">
                                  <a:lumMod val="25000"/>
                                </a:schemeClr>
                              </a:solidFill>
                              <a:latin typeface="Cambria Math" panose="02040503050406030204" pitchFamily="18" charset="0"/>
                            </a:rPr>
                            <m:t>𝑤</m:t>
                          </m:r>
                        </m:sub>
                      </m:sSub>
                      <m:r>
                        <a:rPr lang="en-IN" sz="1400" b="0" i="1" smtClean="0">
                          <a:solidFill>
                            <a:schemeClr val="bg2">
                              <a:lumMod val="25000"/>
                            </a:schemeClr>
                          </a:solidFill>
                          <a:latin typeface="Cambria Math" panose="02040503050406030204" pitchFamily="18" charset="0"/>
                        </a:rPr>
                        <m:t>= </m:t>
                      </m:r>
                      <m:f>
                        <m:fPr>
                          <m:ctrlPr>
                            <a:rPr lang="en-IN" sz="1400" b="0" i="1" smtClean="0">
                              <a:solidFill>
                                <a:schemeClr val="bg2">
                                  <a:lumMod val="25000"/>
                                </a:schemeClr>
                              </a:solidFill>
                              <a:latin typeface="Cambria Math" panose="02040503050406030204" pitchFamily="18" charset="0"/>
                            </a:rPr>
                          </m:ctrlPr>
                        </m:fPr>
                        <m:num>
                          <m:r>
                            <a:rPr lang="en-IN" sz="1400" b="0" i="1" smtClean="0">
                              <a:solidFill>
                                <a:schemeClr val="bg2">
                                  <a:lumMod val="25000"/>
                                </a:schemeClr>
                              </a:solidFill>
                              <a:latin typeface="Cambria Math" panose="02040503050406030204" pitchFamily="18" charset="0"/>
                            </a:rPr>
                            <m:t>2</m:t>
                          </m:r>
                          <m:sSub>
                            <m:sSubPr>
                              <m:ctrlPr>
                                <a:rPr lang="en-IN" sz="1400" b="0" i="1" smtClean="0">
                                  <a:solidFill>
                                    <a:schemeClr val="bg2">
                                      <a:lumMod val="25000"/>
                                    </a:schemeClr>
                                  </a:solidFill>
                                  <a:latin typeface="Cambria Math" panose="02040503050406030204" pitchFamily="18" charset="0"/>
                                </a:rPr>
                              </m:ctrlPr>
                            </m:sSubPr>
                            <m:e>
                              <m:acc>
                                <m:accPr>
                                  <m:chr m:val="̅"/>
                                  <m:ctrlPr>
                                    <a:rPr lang="en-IN" sz="1400" i="1">
                                      <a:solidFill>
                                        <a:schemeClr val="bg2">
                                          <a:lumMod val="25000"/>
                                        </a:schemeClr>
                                      </a:solidFill>
                                      <a:latin typeface="Cambria Math" panose="02040503050406030204" pitchFamily="18" charset="0"/>
                                    </a:rPr>
                                  </m:ctrlPr>
                                </m:accPr>
                                <m:e>
                                  <m:r>
                                    <a:rPr lang="en-IN" sz="1400" i="1">
                                      <a:solidFill>
                                        <a:schemeClr val="bg2">
                                          <a:lumMod val="25000"/>
                                        </a:schemeClr>
                                      </a:solidFill>
                                      <a:latin typeface="Cambria Math" panose="02040503050406030204" pitchFamily="18" charset="0"/>
                                    </a:rPr>
                                    <m:t>𝑢</m:t>
                                  </m:r>
                                  <m:r>
                                    <a:rPr lang="en-IN" sz="1400" i="1" baseline="-25000">
                                      <a:solidFill>
                                        <a:schemeClr val="bg2">
                                          <a:lumMod val="25000"/>
                                        </a:schemeClr>
                                      </a:solidFill>
                                      <a:latin typeface="Cambria Math" panose="02040503050406030204" pitchFamily="18" charset="0"/>
                                    </a:rPr>
                                    <m:t>0</m:t>
                                  </m:r>
                                </m:e>
                              </m:acc>
                              <m:r>
                                <a:rPr lang="en-IN" sz="1400" b="0" i="1" smtClean="0">
                                  <a:solidFill>
                                    <a:schemeClr val="bg2">
                                      <a:lumMod val="25000"/>
                                    </a:schemeClr>
                                  </a:solidFill>
                                  <a:latin typeface="Cambria Math" panose="02040503050406030204" pitchFamily="18" charset="0"/>
                                </a:rPr>
                                <m:t>𝐶</m:t>
                              </m:r>
                            </m:e>
                            <m:sub>
                              <m:r>
                                <a:rPr lang="en-IN" sz="1400" b="0" i="1" smtClean="0">
                                  <a:solidFill>
                                    <a:schemeClr val="bg2">
                                      <a:lumMod val="25000"/>
                                    </a:schemeClr>
                                  </a:solidFill>
                                  <a:latin typeface="Cambria Math" panose="02040503050406030204" pitchFamily="18" charset="0"/>
                                </a:rPr>
                                <m:t>0</m:t>
                              </m:r>
                            </m:sub>
                          </m:sSub>
                        </m:num>
                        <m:den>
                          <m:r>
                            <a:rPr lang="en-IN" sz="1400" b="0" i="1" smtClean="0">
                              <a:solidFill>
                                <a:schemeClr val="bg2">
                                  <a:lumMod val="25000"/>
                                </a:schemeClr>
                              </a:solidFill>
                              <a:latin typeface="Cambria Math" panose="02040503050406030204" pitchFamily="18" charset="0"/>
                            </a:rPr>
                            <m:t>𝑅𝑒</m:t>
                          </m:r>
                          <m:r>
                            <a:rPr lang="en-IN" sz="1400" b="0" i="1" smtClean="0">
                              <a:solidFill>
                                <a:schemeClr val="bg2">
                                  <a:lumMod val="25000"/>
                                </a:schemeClr>
                              </a:solidFill>
                              <a:latin typeface="Cambria Math" panose="02040503050406030204" pitchFamily="18" charset="0"/>
                            </a:rPr>
                            <m:t> </m:t>
                          </m:r>
                          <m:r>
                            <a:rPr lang="en-IN" sz="1400" b="0" i="1" smtClean="0">
                              <a:solidFill>
                                <a:schemeClr val="bg2">
                                  <a:lumMod val="25000"/>
                                </a:schemeClr>
                              </a:solidFill>
                              <a:latin typeface="Cambria Math" panose="02040503050406030204" pitchFamily="18" charset="0"/>
                            </a:rPr>
                            <m:t>𝑆𝑐</m:t>
                          </m:r>
                        </m:den>
                      </m:f>
                      <m:r>
                        <a:rPr lang="en-IN" sz="1400" b="0" i="1" smtClean="0">
                          <a:solidFill>
                            <a:schemeClr val="bg2">
                              <a:lumMod val="25000"/>
                            </a:schemeClr>
                          </a:solidFill>
                          <a:latin typeface="Cambria Math" panose="02040503050406030204" pitchFamily="18" charset="0"/>
                        </a:rPr>
                        <m:t> (</m:t>
                      </m:r>
                      <m:f>
                        <m:fPr>
                          <m:ctrlPr>
                            <a:rPr lang="en-IN" sz="1400" b="0" i="1" smtClean="0">
                              <a:solidFill>
                                <a:schemeClr val="bg2">
                                  <a:lumMod val="25000"/>
                                </a:schemeClr>
                              </a:solidFill>
                              <a:latin typeface="Cambria Math" panose="02040503050406030204" pitchFamily="18" charset="0"/>
                            </a:rPr>
                          </m:ctrlPr>
                        </m:fPr>
                        <m:num>
                          <m:r>
                            <m:rPr>
                              <m:nor/>
                            </m:rPr>
                            <a:rPr lang="en-US" sz="1400" dirty="0">
                              <a:solidFill>
                                <a:schemeClr val="bg2">
                                  <a:lumMod val="25000"/>
                                </a:schemeClr>
                              </a:solidFill>
                              <a:latin typeface="Cambria Math" pitchFamily="34" charset="0"/>
                              <a:ea typeface="Cambria Math" pitchFamily="34" charset="-122"/>
                              <a:cs typeface="Cambria Math" pitchFamily="34" charset="-120"/>
                            </a:rPr>
                            <m:t>∂</m:t>
                          </m:r>
                          <m:r>
                            <a:rPr lang="en-IN" sz="1400" b="0" i="1" dirty="0" smtClean="0">
                              <a:solidFill>
                                <a:schemeClr val="bg2">
                                  <a:lumMod val="25000"/>
                                </a:schemeClr>
                              </a:solidFill>
                              <a:latin typeface="Cambria Math" panose="02040503050406030204" pitchFamily="18" charset="0"/>
                              <a:ea typeface="Cambria Math" pitchFamily="34" charset="-122"/>
                              <a:cs typeface="Cambria Math" pitchFamily="34" charset="-120"/>
                            </a:rPr>
                            <m:t>𝑐</m:t>
                          </m:r>
                        </m:num>
                        <m:den>
                          <m:r>
                            <m:rPr>
                              <m:nor/>
                            </m:rPr>
                            <a:rPr lang="en-US" sz="1400" dirty="0">
                              <a:solidFill>
                                <a:schemeClr val="bg2">
                                  <a:lumMod val="25000"/>
                                </a:schemeClr>
                              </a:solidFill>
                              <a:latin typeface="Cambria Math" pitchFamily="34" charset="0"/>
                              <a:ea typeface="Cambria Math" pitchFamily="34" charset="-122"/>
                              <a:cs typeface="Cambria Math" pitchFamily="34" charset="-120"/>
                            </a:rPr>
                            <m:t>∂</m:t>
                          </m:r>
                          <m:r>
                            <a:rPr lang="en-IN" sz="1400" b="0" i="1" dirty="0" smtClean="0">
                              <a:solidFill>
                                <a:schemeClr val="bg2">
                                  <a:lumMod val="25000"/>
                                </a:schemeClr>
                              </a:solidFill>
                              <a:latin typeface="Cambria Math" panose="02040503050406030204" pitchFamily="18" charset="0"/>
                              <a:ea typeface="Cambria Math" pitchFamily="34" charset="-122"/>
                              <a:cs typeface="Cambria Math" pitchFamily="34" charset="-120"/>
                            </a:rPr>
                            <m:t>𝑦</m:t>
                          </m:r>
                        </m:den>
                      </m:f>
                      <m:sSub>
                        <m:sSubPr>
                          <m:ctrlPr>
                            <a:rPr lang="en-IN" sz="1400" b="0" i="1" smtClean="0">
                              <a:solidFill>
                                <a:schemeClr val="bg2">
                                  <a:lumMod val="25000"/>
                                </a:schemeClr>
                              </a:solidFill>
                              <a:latin typeface="Cambria Math" panose="02040503050406030204" pitchFamily="18" charset="0"/>
                            </a:rPr>
                          </m:ctrlPr>
                        </m:sSubPr>
                        <m:e>
                          <m:r>
                            <a:rPr lang="en-IN" sz="1400" b="0" i="1" smtClean="0">
                              <a:solidFill>
                                <a:schemeClr val="bg2">
                                  <a:lumMod val="25000"/>
                                </a:schemeClr>
                              </a:solidFill>
                              <a:latin typeface="Cambria Math" panose="02040503050406030204" pitchFamily="18" charset="0"/>
                            </a:rPr>
                            <m:t>)</m:t>
                          </m:r>
                        </m:e>
                        <m:sub>
                          <m:r>
                            <a:rPr lang="en-IN" sz="1400" b="0" i="1" smtClean="0">
                              <a:solidFill>
                                <a:schemeClr val="bg2">
                                  <a:lumMod val="25000"/>
                                </a:schemeClr>
                              </a:solidFill>
                              <a:latin typeface="Cambria Math" panose="02040503050406030204" pitchFamily="18" charset="0"/>
                            </a:rPr>
                            <m:t>𝑤</m:t>
                          </m:r>
                        </m:sub>
                      </m:sSub>
                    </m:oMath>
                  </m:oMathPara>
                </a14:m>
                <a:endParaRPr lang="en-IN" sz="1400" dirty="0">
                  <a:solidFill>
                    <a:schemeClr val="bg2">
                      <a:lumMod val="25000"/>
                    </a:schemeClr>
                  </a:solidFill>
                </a:endParaRPr>
              </a:p>
            </p:txBody>
          </p:sp>
        </mc:Choice>
        <mc:Fallback xmlns="">
          <p:sp>
            <p:nvSpPr>
              <p:cNvPr id="52" name="TextBox 51">
                <a:extLst>
                  <a:ext uri="{FF2B5EF4-FFF2-40B4-BE49-F238E27FC236}">
                    <a16:creationId xmlns:a16="http://schemas.microsoft.com/office/drawing/2014/main" id="{1D8D5173-3631-85AA-B5C7-78EF75FD8BB6}"/>
                  </a:ext>
                </a:extLst>
              </p:cNvPr>
              <p:cNvSpPr txBox="1">
                <a:spLocks noRot="1" noChangeAspect="1" noMove="1" noResize="1" noEditPoints="1" noAdjustHandles="1" noChangeArrowheads="1" noChangeShapeType="1" noTextEdit="1"/>
              </p:cNvSpPr>
              <p:nvPr/>
            </p:nvSpPr>
            <p:spPr>
              <a:xfrm>
                <a:off x="5320287" y="4393046"/>
                <a:ext cx="1702838" cy="446469"/>
              </a:xfrm>
              <a:prstGeom prst="rect">
                <a:avLst/>
              </a:prstGeom>
              <a:blipFill>
                <a:blip r:embed="rId8"/>
                <a:stretch>
                  <a:fillRect l="-1792" t="-1370" b="-1232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1D4027CC-F994-5864-B710-625AC113D41B}"/>
                  </a:ext>
                </a:extLst>
              </p:cNvPr>
              <p:cNvSpPr txBox="1"/>
              <p:nvPr/>
            </p:nvSpPr>
            <p:spPr>
              <a:xfrm>
                <a:off x="5297247" y="3533866"/>
                <a:ext cx="3393096" cy="601831"/>
              </a:xfrm>
              <a:prstGeom prst="rect">
                <a:avLst/>
              </a:prstGeom>
              <a:noFill/>
            </p:spPr>
            <p:txBody>
              <a:bodyPr wrap="square" lIns="0" tIns="0" rIns="0" bIns="0" rtlCol="0">
                <a:spAutoFit/>
              </a:bodyPr>
              <a:lstStyle/>
              <a:p>
                <a14:m>
                  <m:oMath xmlns:m="http://schemas.openxmlformats.org/officeDocument/2006/math">
                    <m:f>
                      <m:fPr>
                        <m:ctrlPr>
                          <a:rPr lang="en-IN" sz="1200" i="1" smtClean="0">
                            <a:solidFill>
                              <a:schemeClr val="bg2">
                                <a:lumMod val="25000"/>
                              </a:schemeClr>
                            </a:solidFill>
                            <a:latin typeface="Cambria Math" panose="02040503050406030204" pitchFamily="18" charset="0"/>
                          </a:rPr>
                        </m:ctrlPr>
                      </m:fPr>
                      <m:num>
                        <m:sSup>
                          <m:sSupPr>
                            <m:ctrlPr>
                              <a:rPr lang="en-IN" sz="1200" i="1" smtClean="0">
                                <a:solidFill>
                                  <a:schemeClr val="bg2">
                                    <a:lumMod val="25000"/>
                                  </a:schemeClr>
                                </a:solidFill>
                                <a:latin typeface="Cambria Math" panose="02040503050406030204" pitchFamily="18" charset="0"/>
                              </a:rPr>
                            </m:ctrlPr>
                          </m:sSupPr>
                          <m:e>
                            <m:r>
                              <m:rPr>
                                <m:nor/>
                              </m:rPr>
                              <a:rPr lang="en-US" sz="1200" dirty="0">
                                <a:solidFill>
                                  <a:schemeClr val="bg2">
                                    <a:lumMod val="25000"/>
                                  </a:schemeClr>
                                </a:solidFill>
                                <a:latin typeface="Cambria Math" pitchFamily="34" charset="0"/>
                                <a:ea typeface="Cambria Math" pitchFamily="34" charset="-122"/>
                                <a:cs typeface="Cambria Math" pitchFamily="34" charset="-120"/>
                              </a:rPr>
                              <m:t>∂</m:t>
                            </m:r>
                          </m:e>
                          <m:sup>
                            <m:r>
                              <a:rPr lang="en-IN" sz="1200" b="0" i="1" smtClean="0">
                                <a:solidFill>
                                  <a:schemeClr val="bg2">
                                    <a:lumMod val="25000"/>
                                  </a:schemeClr>
                                </a:solidFill>
                                <a:latin typeface="Cambria Math" panose="02040503050406030204" pitchFamily="18" charset="0"/>
                              </a:rPr>
                              <m:t>2</m:t>
                            </m:r>
                          </m:sup>
                        </m:sSup>
                        <m:r>
                          <a:rPr lang="en-IN" sz="1200" b="0" i="1" smtClean="0">
                            <a:solidFill>
                              <a:schemeClr val="bg2">
                                <a:lumMod val="25000"/>
                              </a:schemeClr>
                            </a:solidFill>
                            <a:latin typeface="Cambria Math" panose="02040503050406030204" pitchFamily="18" charset="0"/>
                          </a:rPr>
                          <m:t>𝑢</m:t>
                        </m:r>
                      </m:num>
                      <m:den>
                        <m:sSup>
                          <m:sSupPr>
                            <m:ctrlPr>
                              <a:rPr lang="en-IN" sz="1200" i="1" smtClean="0">
                                <a:solidFill>
                                  <a:schemeClr val="bg2">
                                    <a:lumMod val="25000"/>
                                  </a:schemeClr>
                                </a:solidFill>
                                <a:latin typeface="Cambria Math" panose="02040503050406030204" pitchFamily="18" charset="0"/>
                              </a:rPr>
                            </m:ctrlPr>
                          </m:sSupPr>
                          <m:e>
                            <m:r>
                              <m:rPr>
                                <m:nor/>
                              </m:rPr>
                              <a:rPr lang="en-US" sz="1200" dirty="0">
                                <a:solidFill>
                                  <a:schemeClr val="bg2">
                                    <a:lumMod val="25000"/>
                                  </a:schemeClr>
                                </a:solidFill>
                                <a:latin typeface="Cambria Math" pitchFamily="34" charset="0"/>
                                <a:ea typeface="Cambria Math" pitchFamily="34" charset="-122"/>
                                <a:cs typeface="Cambria Math" pitchFamily="34" charset="-120"/>
                              </a:rPr>
                              <m:t>∂</m:t>
                            </m:r>
                            <m:r>
                              <a:rPr lang="en-IN" sz="1200" b="0" i="1" dirty="0" smtClean="0">
                                <a:solidFill>
                                  <a:schemeClr val="bg2">
                                    <a:lumMod val="25000"/>
                                  </a:schemeClr>
                                </a:solidFill>
                                <a:latin typeface="Cambria Math" panose="02040503050406030204" pitchFamily="18" charset="0"/>
                                <a:ea typeface="Cambria Math" pitchFamily="34" charset="-122"/>
                                <a:cs typeface="Cambria Math" pitchFamily="34" charset="-120"/>
                              </a:rPr>
                              <m:t>𝑥</m:t>
                            </m:r>
                          </m:e>
                          <m:sup>
                            <m:r>
                              <a:rPr lang="en-IN" sz="1200" b="0" i="1" smtClean="0">
                                <a:solidFill>
                                  <a:schemeClr val="bg2">
                                    <a:lumMod val="25000"/>
                                  </a:schemeClr>
                                </a:solidFill>
                                <a:latin typeface="Cambria Math" panose="02040503050406030204" pitchFamily="18" charset="0"/>
                              </a:rPr>
                              <m:t>2</m:t>
                            </m:r>
                          </m:sup>
                        </m:sSup>
                        <m:r>
                          <a:rPr lang="en-IN" sz="1200" b="0" i="1" smtClean="0">
                            <a:solidFill>
                              <a:schemeClr val="bg2">
                                <a:lumMod val="25000"/>
                              </a:schemeClr>
                            </a:solidFill>
                            <a:latin typeface="Cambria Math" panose="02040503050406030204" pitchFamily="18" charset="0"/>
                          </a:rPr>
                          <m:t> </m:t>
                        </m:r>
                      </m:den>
                    </m:f>
                    <m:r>
                      <a:rPr lang="en-IN" sz="1200" b="0" i="1" smtClean="0">
                        <a:solidFill>
                          <a:schemeClr val="bg2">
                            <a:lumMod val="25000"/>
                          </a:schemeClr>
                        </a:solidFill>
                        <a:latin typeface="Cambria Math" panose="02040503050406030204" pitchFamily="18" charset="0"/>
                      </a:rPr>
                      <m:t>=0</m:t>
                    </m:r>
                    <m:r>
                      <a:rPr lang="en-IN" sz="1200" i="1" smtClean="0">
                        <a:solidFill>
                          <a:schemeClr val="bg2">
                            <a:lumMod val="25000"/>
                          </a:schemeClr>
                        </a:solidFill>
                        <a:latin typeface="Cambria Math" panose="02040503050406030204" pitchFamily="18" charset="0"/>
                        <a:ea typeface="Cambria Math" pitchFamily="34" charset="-122"/>
                      </a:rPr>
                      <m:t>,</m:t>
                    </m:r>
                    <m:r>
                      <a:rPr lang="en-IN" sz="1200" b="0" i="1" smtClean="0">
                        <a:solidFill>
                          <a:schemeClr val="bg2">
                            <a:lumMod val="25000"/>
                          </a:schemeClr>
                        </a:solidFill>
                        <a:latin typeface="Cambria Math" panose="02040503050406030204" pitchFamily="18" charset="0"/>
                        <a:ea typeface="Cambria Math" pitchFamily="34" charset="-122"/>
                      </a:rPr>
                      <m:t>     </m:t>
                    </m:r>
                  </m:oMath>
                </a14:m>
                <a:r>
                  <a:rPr lang="en-IN" sz="1200" dirty="0">
                    <a:solidFill>
                      <a:schemeClr val="bg2">
                        <a:lumMod val="25000"/>
                      </a:schemeClr>
                    </a:solidFill>
                  </a:rPr>
                  <a:t> </a:t>
                </a:r>
                <a14:m>
                  <m:oMath xmlns:m="http://schemas.openxmlformats.org/officeDocument/2006/math">
                    <m:f>
                      <m:fPr>
                        <m:ctrlPr>
                          <a:rPr lang="en-IN" sz="1200" i="1">
                            <a:solidFill>
                              <a:schemeClr val="bg2">
                                <a:lumMod val="25000"/>
                              </a:schemeClr>
                            </a:solidFill>
                            <a:latin typeface="Cambria Math" panose="02040503050406030204" pitchFamily="18" charset="0"/>
                          </a:rPr>
                        </m:ctrlPr>
                      </m:fPr>
                      <m:num>
                        <m:sSup>
                          <m:sSupPr>
                            <m:ctrlPr>
                              <a:rPr lang="en-IN" sz="1200" i="1">
                                <a:solidFill>
                                  <a:schemeClr val="bg2">
                                    <a:lumMod val="25000"/>
                                  </a:schemeClr>
                                </a:solidFill>
                                <a:latin typeface="Cambria Math" panose="02040503050406030204" pitchFamily="18" charset="0"/>
                              </a:rPr>
                            </m:ctrlPr>
                          </m:sSupPr>
                          <m:e>
                            <m:r>
                              <m:rPr>
                                <m:nor/>
                              </m:rPr>
                              <a:rPr lang="en-US" sz="1200" dirty="0">
                                <a:solidFill>
                                  <a:schemeClr val="bg2">
                                    <a:lumMod val="25000"/>
                                  </a:schemeClr>
                                </a:solidFill>
                                <a:latin typeface="Cambria Math" pitchFamily="34" charset="0"/>
                                <a:ea typeface="Cambria Math" pitchFamily="34" charset="-122"/>
                                <a:cs typeface="Cambria Math" pitchFamily="34" charset="-120"/>
                              </a:rPr>
                              <m:t>∂</m:t>
                            </m:r>
                          </m:e>
                          <m:sup>
                            <m:r>
                              <a:rPr lang="en-IN" sz="1200" i="1">
                                <a:solidFill>
                                  <a:schemeClr val="bg2">
                                    <a:lumMod val="25000"/>
                                  </a:schemeClr>
                                </a:solidFill>
                                <a:latin typeface="Cambria Math" panose="02040503050406030204" pitchFamily="18" charset="0"/>
                              </a:rPr>
                              <m:t>2</m:t>
                            </m:r>
                          </m:sup>
                        </m:sSup>
                        <m:r>
                          <a:rPr lang="en-IN" sz="1200" b="0" i="1" smtClean="0">
                            <a:solidFill>
                              <a:schemeClr val="bg2">
                                <a:lumMod val="25000"/>
                              </a:schemeClr>
                            </a:solidFill>
                            <a:latin typeface="Cambria Math" panose="02040503050406030204" pitchFamily="18" charset="0"/>
                          </a:rPr>
                          <m:t>𝑣</m:t>
                        </m:r>
                      </m:num>
                      <m:den>
                        <m:sSup>
                          <m:sSupPr>
                            <m:ctrlPr>
                              <a:rPr lang="en-IN" sz="1200" i="1">
                                <a:solidFill>
                                  <a:schemeClr val="bg2">
                                    <a:lumMod val="25000"/>
                                  </a:schemeClr>
                                </a:solidFill>
                                <a:latin typeface="Cambria Math" panose="02040503050406030204" pitchFamily="18" charset="0"/>
                              </a:rPr>
                            </m:ctrlPr>
                          </m:sSupPr>
                          <m:e>
                            <m:r>
                              <m:rPr>
                                <m:nor/>
                              </m:rPr>
                              <a:rPr lang="en-US" sz="1200" dirty="0">
                                <a:solidFill>
                                  <a:schemeClr val="bg2">
                                    <a:lumMod val="25000"/>
                                  </a:schemeClr>
                                </a:solidFill>
                                <a:latin typeface="Cambria Math" pitchFamily="34" charset="0"/>
                                <a:ea typeface="Cambria Math" pitchFamily="34" charset="-122"/>
                                <a:cs typeface="Cambria Math" pitchFamily="34" charset="-120"/>
                              </a:rPr>
                              <m:t>∂</m:t>
                            </m:r>
                            <m:r>
                              <a:rPr lang="en-IN" sz="1200" i="1" dirty="0">
                                <a:solidFill>
                                  <a:schemeClr val="bg2">
                                    <a:lumMod val="25000"/>
                                  </a:schemeClr>
                                </a:solidFill>
                                <a:latin typeface="Cambria Math" panose="02040503050406030204" pitchFamily="18" charset="0"/>
                                <a:ea typeface="Cambria Math" pitchFamily="34" charset="-122"/>
                                <a:cs typeface="Cambria Math" pitchFamily="34" charset="-120"/>
                              </a:rPr>
                              <m:t>𝑥</m:t>
                            </m:r>
                          </m:e>
                          <m:sup>
                            <m:r>
                              <a:rPr lang="en-IN" sz="1200" i="1">
                                <a:solidFill>
                                  <a:schemeClr val="bg2">
                                    <a:lumMod val="25000"/>
                                  </a:schemeClr>
                                </a:solidFill>
                                <a:latin typeface="Cambria Math" panose="02040503050406030204" pitchFamily="18" charset="0"/>
                              </a:rPr>
                              <m:t>2</m:t>
                            </m:r>
                          </m:sup>
                        </m:sSup>
                        <m:r>
                          <a:rPr lang="en-IN" sz="1200" i="1">
                            <a:solidFill>
                              <a:schemeClr val="bg2">
                                <a:lumMod val="25000"/>
                              </a:schemeClr>
                            </a:solidFill>
                            <a:latin typeface="Cambria Math" panose="02040503050406030204" pitchFamily="18" charset="0"/>
                          </a:rPr>
                          <m:t> </m:t>
                        </m:r>
                      </m:den>
                    </m:f>
                    <m:r>
                      <a:rPr lang="en-IN" sz="1200" i="1">
                        <a:solidFill>
                          <a:schemeClr val="bg2">
                            <a:lumMod val="25000"/>
                          </a:schemeClr>
                        </a:solidFill>
                        <a:latin typeface="Cambria Math" panose="02040503050406030204" pitchFamily="18" charset="0"/>
                      </a:rPr>
                      <m:t>=0</m:t>
                    </m:r>
                  </m:oMath>
                </a14:m>
                <a:endParaRPr lang="en-IN" sz="1200" dirty="0">
                  <a:solidFill>
                    <a:schemeClr val="bg2">
                      <a:lumMod val="25000"/>
                    </a:schemeClr>
                  </a:solidFill>
                </a:endParaRPr>
              </a:p>
              <a:p>
                <a14:m>
                  <m:oMath xmlns:m="http://schemas.openxmlformats.org/officeDocument/2006/math">
                    <m:f>
                      <m:fPr>
                        <m:ctrlPr>
                          <a:rPr lang="en-IN" sz="1200" i="1" smtClean="0">
                            <a:solidFill>
                              <a:schemeClr val="bg2">
                                <a:lumMod val="25000"/>
                              </a:schemeClr>
                            </a:solidFill>
                            <a:latin typeface="Cambria Math" panose="02040503050406030204" pitchFamily="18" charset="0"/>
                          </a:rPr>
                        </m:ctrlPr>
                      </m:fPr>
                      <m:num>
                        <m:sSup>
                          <m:sSupPr>
                            <m:ctrlPr>
                              <a:rPr lang="en-IN" sz="1200" i="1" smtClean="0">
                                <a:solidFill>
                                  <a:schemeClr val="bg2">
                                    <a:lumMod val="25000"/>
                                  </a:schemeClr>
                                </a:solidFill>
                                <a:latin typeface="Cambria Math" panose="02040503050406030204" pitchFamily="18" charset="0"/>
                              </a:rPr>
                            </m:ctrlPr>
                          </m:sSupPr>
                          <m:e>
                            <m:r>
                              <m:rPr>
                                <m:nor/>
                              </m:rPr>
                              <a:rPr lang="en-US" sz="1200" dirty="0">
                                <a:solidFill>
                                  <a:schemeClr val="bg2">
                                    <a:lumMod val="25000"/>
                                  </a:schemeClr>
                                </a:solidFill>
                                <a:latin typeface="Cambria Math" pitchFamily="34" charset="0"/>
                                <a:ea typeface="Cambria Math" pitchFamily="34" charset="-122"/>
                                <a:cs typeface="Cambria Math" pitchFamily="34" charset="-120"/>
                              </a:rPr>
                              <m:t>∂</m:t>
                            </m:r>
                          </m:e>
                          <m:sup>
                            <m:r>
                              <a:rPr lang="en-IN" sz="1200" b="0" i="1" smtClean="0">
                                <a:solidFill>
                                  <a:schemeClr val="bg2">
                                    <a:lumMod val="25000"/>
                                  </a:schemeClr>
                                </a:solidFill>
                                <a:latin typeface="Cambria Math" panose="02040503050406030204" pitchFamily="18" charset="0"/>
                              </a:rPr>
                              <m:t>2</m:t>
                            </m:r>
                          </m:sup>
                        </m:sSup>
                        <m:r>
                          <a:rPr lang="en-IN" sz="1200" b="0" i="1" smtClean="0">
                            <a:solidFill>
                              <a:schemeClr val="bg2">
                                <a:lumMod val="25000"/>
                              </a:schemeClr>
                            </a:solidFill>
                            <a:latin typeface="Cambria Math" panose="02040503050406030204" pitchFamily="18" charset="0"/>
                          </a:rPr>
                          <m:t>𝑐</m:t>
                        </m:r>
                      </m:num>
                      <m:den>
                        <m:sSup>
                          <m:sSupPr>
                            <m:ctrlPr>
                              <a:rPr lang="en-IN" sz="1200" i="1" smtClean="0">
                                <a:solidFill>
                                  <a:schemeClr val="bg2">
                                    <a:lumMod val="25000"/>
                                  </a:schemeClr>
                                </a:solidFill>
                                <a:latin typeface="Cambria Math" panose="02040503050406030204" pitchFamily="18" charset="0"/>
                              </a:rPr>
                            </m:ctrlPr>
                          </m:sSupPr>
                          <m:e>
                            <m:r>
                              <m:rPr>
                                <m:nor/>
                              </m:rPr>
                              <a:rPr lang="en-US" sz="1200" dirty="0">
                                <a:solidFill>
                                  <a:schemeClr val="bg2">
                                    <a:lumMod val="25000"/>
                                  </a:schemeClr>
                                </a:solidFill>
                                <a:latin typeface="Cambria Math" pitchFamily="34" charset="0"/>
                                <a:ea typeface="Cambria Math" pitchFamily="34" charset="-122"/>
                                <a:cs typeface="Cambria Math" pitchFamily="34" charset="-120"/>
                              </a:rPr>
                              <m:t>∂</m:t>
                            </m:r>
                            <m:r>
                              <a:rPr lang="en-IN" sz="1200" b="0" i="1" dirty="0" smtClean="0">
                                <a:solidFill>
                                  <a:schemeClr val="bg2">
                                    <a:lumMod val="25000"/>
                                  </a:schemeClr>
                                </a:solidFill>
                                <a:latin typeface="Cambria Math" panose="02040503050406030204" pitchFamily="18" charset="0"/>
                                <a:ea typeface="Cambria Math" pitchFamily="34" charset="-122"/>
                                <a:cs typeface="Cambria Math" pitchFamily="34" charset="-120"/>
                              </a:rPr>
                              <m:t>𝑥</m:t>
                            </m:r>
                          </m:e>
                          <m:sup>
                            <m:r>
                              <a:rPr lang="en-IN" sz="1200" b="0" i="1" smtClean="0">
                                <a:solidFill>
                                  <a:schemeClr val="bg2">
                                    <a:lumMod val="25000"/>
                                  </a:schemeClr>
                                </a:solidFill>
                                <a:latin typeface="Cambria Math" panose="02040503050406030204" pitchFamily="18" charset="0"/>
                              </a:rPr>
                              <m:t>2</m:t>
                            </m:r>
                          </m:sup>
                        </m:sSup>
                        <m:r>
                          <a:rPr lang="en-IN" sz="1200" b="0" i="1" smtClean="0">
                            <a:solidFill>
                              <a:schemeClr val="bg2">
                                <a:lumMod val="25000"/>
                              </a:schemeClr>
                            </a:solidFill>
                            <a:latin typeface="Cambria Math" panose="02040503050406030204" pitchFamily="18" charset="0"/>
                          </a:rPr>
                          <m:t> </m:t>
                        </m:r>
                      </m:den>
                    </m:f>
                    <m:r>
                      <a:rPr lang="en-IN" sz="1200" b="0" i="1" smtClean="0">
                        <a:solidFill>
                          <a:schemeClr val="bg2">
                            <a:lumMod val="25000"/>
                          </a:schemeClr>
                        </a:solidFill>
                        <a:latin typeface="Cambria Math" panose="02040503050406030204" pitchFamily="18" charset="0"/>
                      </a:rPr>
                      <m:t>=0</m:t>
                    </m:r>
                  </m:oMath>
                </a14:m>
                <a:r>
                  <a:rPr lang="en-IN" sz="1200" dirty="0">
                    <a:solidFill>
                      <a:schemeClr val="bg2">
                        <a:lumMod val="25000"/>
                      </a:schemeClr>
                    </a:solidFill>
                  </a:rPr>
                  <a:t> </a:t>
                </a:r>
              </a:p>
            </p:txBody>
          </p:sp>
        </mc:Choice>
        <mc:Fallback xmlns="">
          <p:sp>
            <p:nvSpPr>
              <p:cNvPr id="53" name="TextBox 52">
                <a:extLst>
                  <a:ext uri="{FF2B5EF4-FFF2-40B4-BE49-F238E27FC236}">
                    <a16:creationId xmlns:a16="http://schemas.microsoft.com/office/drawing/2014/main" id="{1D4027CC-F994-5864-B710-625AC113D41B}"/>
                  </a:ext>
                </a:extLst>
              </p:cNvPr>
              <p:cNvSpPr txBox="1">
                <a:spLocks noRot="1" noChangeAspect="1" noMove="1" noResize="1" noEditPoints="1" noAdjustHandles="1" noChangeArrowheads="1" noChangeShapeType="1" noTextEdit="1"/>
              </p:cNvSpPr>
              <p:nvPr/>
            </p:nvSpPr>
            <p:spPr>
              <a:xfrm>
                <a:off x="5297247" y="3533866"/>
                <a:ext cx="3393096" cy="601831"/>
              </a:xfrm>
              <a:prstGeom prst="rect">
                <a:avLst/>
              </a:prstGeom>
              <a:blipFill>
                <a:blip r:embed="rId9"/>
                <a:stretch>
                  <a:fillRect l="-1795" t="-2041" b="-1020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CC2051CD-A09C-D91E-B559-047E019566B9}"/>
                  </a:ext>
                </a:extLst>
              </p:cNvPr>
              <p:cNvSpPr txBox="1"/>
              <p:nvPr/>
            </p:nvSpPr>
            <p:spPr>
              <a:xfrm>
                <a:off x="5327756" y="3059169"/>
                <a:ext cx="1017971" cy="296748"/>
              </a:xfrm>
              <a:prstGeom prst="rect">
                <a:avLst/>
              </a:prstGeom>
              <a:noFill/>
            </p:spPr>
            <p:txBody>
              <a:bodyPr wrap="none" lIns="0" tIns="0" rIns="0" bIns="0" rtlCol="0">
                <a:spAutoFit/>
              </a:bodyPr>
              <a:lstStyle/>
              <a:p>
                <a14:m>
                  <m:oMath xmlns:m="http://schemas.openxmlformats.org/officeDocument/2006/math">
                    <m:f>
                      <m:fPr>
                        <m:ctrlPr>
                          <a:rPr lang="en-IN" sz="1100" i="1" smtClean="0">
                            <a:solidFill>
                              <a:schemeClr val="bg2">
                                <a:lumMod val="25000"/>
                              </a:schemeClr>
                            </a:solidFill>
                            <a:latin typeface="Cambria Math" panose="02040503050406030204" pitchFamily="18" charset="0"/>
                          </a:rPr>
                        </m:ctrlPr>
                      </m:fPr>
                      <m:num>
                        <m:r>
                          <m:rPr>
                            <m:nor/>
                          </m:rPr>
                          <a:rPr lang="en-US" sz="1100" dirty="0">
                            <a:solidFill>
                              <a:schemeClr val="bg2">
                                <a:lumMod val="25000"/>
                              </a:schemeClr>
                            </a:solidFill>
                            <a:latin typeface="Cambria Math" pitchFamily="34" charset="0"/>
                            <a:ea typeface="Cambria Math" pitchFamily="34" charset="-122"/>
                            <a:cs typeface="Cambria Math" pitchFamily="34" charset="-120"/>
                          </a:rPr>
                          <m:t>∂</m:t>
                        </m:r>
                        <m:r>
                          <a:rPr lang="en-IN" sz="1100" b="0" i="1" dirty="0" smtClean="0">
                            <a:solidFill>
                              <a:schemeClr val="bg2">
                                <a:lumMod val="25000"/>
                              </a:schemeClr>
                            </a:solidFill>
                            <a:latin typeface="Cambria Math" panose="02040503050406030204" pitchFamily="18" charset="0"/>
                            <a:ea typeface="Cambria Math" pitchFamily="34" charset="-122"/>
                            <a:cs typeface="Cambria Math" pitchFamily="34" charset="-120"/>
                          </a:rPr>
                          <m:t>𝑢</m:t>
                        </m:r>
                      </m:num>
                      <m:den>
                        <m:r>
                          <m:rPr>
                            <m:nor/>
                          </m:rPr>
                          <a:rPr lang="en-US" sz="1100" dirty="0">
                            <a:solidFill>
                              <a:schemeClr val="bg2">
                                <a:lumMod val="25000"/>
                              </a:schemeClr>
                            </a:solidFill>
                            <a:latin typeface="Cambria Math" pitchFamily="34" charset="0"/>
                            <a:ea typeface="Cambria Math" pitchFamily="34" charset="-122"/>
                            <a:cs typeface="Cambria Math" pitchFamily="34" charset="-120"/>
                          </a:rPr>
                          <m:t>∂</m:t>
                        </m:r>
                        <m:r>
                          <a:rPr lang="en-IN" sz="1100" b="0" i="1" dirty="0" smtClean="0">
                            <a:solidFill>
                              <a:schemeClr val="bg2">
                                <a:lumMod val="25000"/>
                              </a:schemeClr>
                            </a:solidFill>
                            <a:latin typeface="Cambria Math" panose="02040503050406030204" pitchFamily="18" charset="0"/>
                            <a:ea typeface="Cambria Math" pitchFamily="34" charset="-122"/>
                            <a:cs typeface="Cambria Math" pitchFamily="34" charset="-120"/>
                          </a:rPr>
                          <m:t>𝑦</m:t>
                        </m:r>
                      </m:den>
                    </m:f>
                    <m:r>
                      <a:rPr lang="en-IN" sz="1100" b="0" i="1" smtClean="0">
                        <a:solidFill>
                          <a:schemeClr val="bg2">
                            <a:lumMod val="25000"/>
                          </a:schemeClr>
                        </a:solidFill>
                        <a:latin typeface="Cambria Math" panose="02040503050406030204" pitchFamily="18" charset="0"/>
                      </a:rPr>
                      <m:t>=0,     </m:t>
                    </m:r>
                    <m:f>
                      <m:fPr>
                        <m:ctrlPr>
                          <a:rPr lang="en-IN" sz="1100" i="1">
                            <a:solidFill>
                              <a:schemeClr val="bg2">
                                <a:lumMod val="25000"/>
                              </a:schemeClr>
                            </a:solidFill>
                            <a:latin typeface="Cambria Math" panose="02040503050406030204" pitchFamily="18" charset="0"/>
                          </a:rPr>
                        </m:ctrlPr>
                      </m:fPr>
                      <m:num>
                        <m:r>
                          <m:rPr>
                            <m:nor/>
                          </m:rPr>
                          <a:rPr lang="en-US" sz="1100" dirty="0">
                            <a:solidFill>
                              <a:schemeClr val="bg2">
                                <a:lumMod val="25000"/>
                              </a:schemeClr>
                            </a:solidFill>
                            <a:latin typeface="Cambria Math" pitchFamily="34" charset="0"/>
                            <a:ea typeface="Cambria Math" pitchFamily="34" charset="-122"/>
                            <a:cs typeface="Cambria Math" pitchFamily="34" charset="-120"/>
                          </a:rPr>
                          <m:t>∂</m:t>
                        </m:r>
                        <m:r>
                          <a:rPr lang="en-IN" sz="1100" b="0" i="1" dirty="0" smtClean="0">
                            <a:solidFill>
                              <a:schemeClr val="bg2">
                                <a:lumMod val="25000"/>
                              </a:schemeClr>
                            </a:solidFill>
                            <a:latin typeface="Cambria Math" panose="02040503050406030204" pitchFamily="18" charset="0"/>
                            <a:ea typeface="Cambria Math" pitchFamily="34" charset="-122"/>
                            <a:cs typeface="Cambria Math" pitchFamily="34" charset="-120"/>
                          </a:rPr>
                          <m:t>𝑐</m:t>
                        </m:r>
                      </m:num>
                      <m:den>
                        <m:r>
                          <m:rPr>
                            <m:nor/>
                          </m:rPr>
                          <a:rPr lang="en-US" sz="1100" dirty="0">
                            <a:solidFill>
                              <a:schemeClr val="bg2">
                                <a:lumMod val="25000"/>
                              </a:schemeClr>
                            </a:solidFill>
                            <a:latin typeface="Cambria Math" pitchFamily="34" charset="0"/>
                            <a:ea typeface="Cambria Math" pitchFamily="34" charset="-122"/>
                            <a:cs typeface="Cambria Math" pitchFamily="34" charset="-120"/>
                          </a:rPr>
                          <m:t>∂</m:t>
                        </m:r>
                        <m:r>
                          <a:rPr lang="en-IN" sz="1100" i="1" dirty="0">
                            <a:solidFill>
                              <a:schemeClr val="bg2">
                                <a:lumMod val="25000"/>
                              </a:schemeClr>
                            </a:solidFill>
                            <a:latin typeface="Cambria Math" panose="02040503050406030204" pitchFamily="18" charset="0"/>
                            <a:ea typeface="Cambria Math" pitchFamily="34" charset="-122"/>
                            <a:cs typeface="Cambria Math" pitchFamily="34" charset="-120"/>
                          </a:rPr>
                          <m:t>𝑦</m:t>
                        </m:r>
                      </m:den>
                    </m:f>
                    <m:r>
                      <a:rPr lang="en-IN" sz="1100" i="1">
                        <a:solidFill>
                          <a:schemeClr val="bg2">
                            <a:lumMod val="25000"/>
                          </a:schemeClr>
                        </a:solidFill>
                        <a:latin typeface="Cambria Math" panose="02040503050406030204" pitchFamily="18" charset="0"/>
                      </a:rPr>
                      <m:t>=</m:t>
                    </m:r>
                  </m:oMath>
                </a14:m>
                <a:r>
                  <a:rPr lang="en-IN" sz="1100" dirty="0">
                    <a:solidFill>
                      <a:schemeClr val="bg2">
                        <a:lumMod val="25000"/>
                      </a:schemeClr>
                    </a:solidFill>
                  </a:rPr>
                  <a:t>0</a:t>
                </a:r>
              </a:p>
            </p:txBody>
          </p:sp>
        </mc:Choice>
        <mc:Fallback xmlns="">
          <p:sp>
            <p:nvSpPr>
              <p:cNvPr id="54" name="TextBox 53">
                <a:extLst>
                  <a:ext uri="{FF2B5EF4-FFF2-40B4-BE49-F238E27FC236}">
                    <a16:creationId xmlns:a16="http://schemas.microsoft.com/office/drawing/2014/main" id="{CC2051CD-A09C-D91E-B559-047E019566B9}"/>
                  </a:ext>
                </a:extLst>
              </p:cNvPr>
              <p:cNvSpPr txBox="1">
                <a:spLocks noRot="1" noChangeAspect="1" noMove="1" noResize="1" noEditPoints="1" noAdjustHandles="1" noChangeArrowheads="1" noChangeShapeType="1" noTextEdit="1"/>
              </p:cNvSpPr>
              <p:nvPr/>
            </p:nvSpPr>
            <p:spPr>
              <a:xfrm>
                <a:off x="5327756" y="3059169"/>
                <a:ext cx="1017971" cy="296748"/>
              </a:xfrm>
              <a:prstGeom prst="rect">
                <a:avLst/>
              </a:prstGeom>
              <a:blipFill>
                <a:blip r:embed="rId10"/>
                <a:stretch>
                  <a:fillRect l="-5389" t="-2041" r="-4790" b="-12245"/>
                </a:stretch>
              </a:blipFill>
            </p:spPr>
            <p:txBody>
              <a:bodyPr/>
              <a:lstStyle/>
              <a:p>
                <a:r>
                  <a:rPr lang="en-IN">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 0">
            <a:extLst>
              <a:ext uri="{FF2B5EF4-FFF2-40B4-BE49-F238E27FC236}">
                <a16:creationId xmlns:a16="http://schemas.microsoft.com/office/drawing/2014/main" id="{A50FDE08-988D-3A03-39A2-A7CC1F4450F7}"/>
              </a:ext>
            </a:extLst>
          </p:cNvPr>
          <p:cNvSpPr/>
          <p:nvPr/>
        </p:nvSpPr>
        <p:spPr>
          <a:xfrm>
            <a:off x="0" y="0"/>
            <a:ext cx="9144000" cy="658368"/>
          </a:xfrm>
          <a:prstGeom prst="rect">
            <a:avLst/>
          </a:prstGeom>
          <a:solidFill>
            <a:srgbClr val="0D1B3E"/>
          </a:solidFill>
          <a:ln w="12700">
            <a:solidFill>
              <a:srgbClr val="0D1B3E"/>
            </a:solidFill>
            <a:prstDash val="solid"/>
          </a:ln>
        </p:spPr>
        <p:txBody>
          <a:bodyPr/>
          <a:lstStyle/>
          <a:p>
            <a:endParaRPr lang="en-GB"/>
          </a:p>
        </p:txBody>
      </p:sp>
      <p:sp>
        <p:nvSpPr>
          <p:cNvPr id="11" name="Text 1">
            <a:extLst>
              <a:ext uri="{FF2B5EF4-FFF2-40B4-BE49-F238E27FC236}">
                <a16:creationId xmlns:a16="http://schemas.microsoft.com/office/drawing/2014/main" id="{D07EFE90-0809-5EB0-857B-4A598457D1F7}"/>
              </a:ext>
            </a:extLst>
          </p:cNvPr>
          <p:cNvSpPr/>
          <p:nvPr/>
        </p:nvSpPr>
        <p:spPr>
          <a:xfrm>
            <a:off x="320040" y="0"/>
            <a:ext cx="8503920" cy="658368"/>
          </a:xfrm>
          <a:prstGeom prst="rect">
            <a:avLst/>
          </a:prstGeom>
          <a:noFill/>
          <a:ln/>
        </p:spPr>
        <p:txBody>
          <a:bodyPr wrap="square" lIns="0" tIns="0" rIns="0" bIns="0" rtlCol="0" anchor="ctr"/>
          <a:lstStyle/>
          <a:p>
            <a:pPr marL="0" indent="0">
              <a:buNone/>
            </a:pPr>
            <a:r>
              <a:rPr lang="en-US" sz="2000" b="1" dirty="0">
                <a:solidFill>
                  <a:srgbClr val="FFFFFF"/>
                </a:solidFill>
              </a:rPr>
              <a:t>Comparison (Stenosed Artery)</a:t>
            </a:r>
            <a:endParaRPr lang="en-US" sz="2000" dirty="0"/>
          </a:p>
        </p:txBody>
      </p:sp>
      <p:sp>
        <p:nvSpPr>
          <p:cNvPr id="20" name="Text 3">
            <a:extLst>
              <a:ext uri="{FF2B5EF4-FFF2-40B4-BE49-F238E27FC236}">
                <a16:creationId xmlns:a16="http://schemas.microsoft.com/office/drawing/2014/main" id="{EE5F538F-8E18-64F4-F0CD-73C609ED4B9C}"/>
              </a:ext>
            </a:extLst>
          </p:cNvPr>
          <p:cNvSpPr/>
          <p:nvPr/>
        </p:nvSpPr>
        <p:spPr>
          <a:xfrm>
            <a:off x="5255964" y="749808"/>
            <a:ext cx="3475932" cy="384047"/>
          </a:xfrm>
          <a:prstGeom prst="rect">
            <a:avLst/>
          </a:prstGeom>
          <a:noFill/>
          <a:ln/>
        </p:spPr>
        <p:txBody>
          <a:bodyPr wrap="square" lIns="0" tIns="0" rIns="0" bIns="0" rtlCol="0" anchor="ctr"/>
          <a:lstStyle/>
          <a:p>
            <a:pPr marL="0" indent="0" algn="ctr">
              <a:buNone/>
            </a:pPr>
            <a:r>
              <a:rPr lang="en-US" sz="1400" b="1" dirty="0">
                <a:solidFill>
                  <a:srgbClr val="FFFFFF"/>
                </a:solidFill>
              </a:rPr>
              <a:t>Flow Separation Domain</a:t>
            </a:r>
            <a:endParaRPr lang="en-US" sz="1400" dirty="0"/>
          </a:p>
        </p:txBody>
      </p:sp>
      <p:pic>
        <p:nvPicPr>
          <p:cNvPr id="3" name="Picture 2">
            <a:extLst>
              <a:ext uri="{FF2B5EF4-FFF2-40B4-BE49-F238E27FC236}">
                <a16:creationId xmlns:a16="http://schemas.microsoft.com/office/drawing/2014/main" id="{EE986834-A0A4-6A49-B6C1-9A4F0114177E}"/>
              </a:ext>
            </a:extLst>
          </p:cNvPr>
          <p:cNvPicPr>
            <a:picLocks noChangeAspect="1"/>
          </p:cNvPicPr>
          <p:nvPr/>
        </p:nvPicPr>
        <p:blipFill>
          <a:blip r:embed="rId3"/>
          <a:stretch>
            <a:fillRect/>
          </a:stretch>
        </p:blipFill>
        <p:spPr>
          <a:xfrm>
            <a:off x="190005" y="749808"/>
            <a:ext cx="5319917" cy="3900164"/>
          </a:xfrm>
          <a:prstGeom prst="rect">
            <a:avLst/>
          </a:prstGeom>
        </p:spPr>
      </p:pic>
    </p:spTree>
    <p:extLst>
      <p:ext uri="{BB962C8B-B14F-4D97-AF65-F5344CB8AC3E}">
        <p14:creationId xmlns:p14="http://schemas.microsoft.com/office/powerpoint/2010/main" val="3706670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8FA"/>
        </a:solidFill>
        <a:effectLst/>
      </p:bgPr>
    </p:bg>
    <p:spTree>
      <p:nvGrpSpPr>
        <p:cNvPr id="1" name=""/>
        <p:cNvGrpSpPr/>
        <p:nvPr/>
      </p:nvGrpSpPr>
      <p:grpSpPr>
        <a:xfrm>
          <a:off x="0" y="0"/>
          <a:ext cx="0" cy="0"/>
          <a:chOff x="0" y="0"/>
          <a:chExt cx="0" cy="0"/>
        </a:xfrm>
      </p:grpSpPr>
      <p:sp>
        <p:nvSpPr>
          <p:cNvPr id="10" name="Shape 0">
            <a:extLst>
              <a:ext uri="{FF2B5EF4-FFF2-40B4-BE49-F238E27FC236}">
                <a16:creationId xmlns:a16="http://schemas.microsoft.com/office/drawing/2014/main" id="{A50FDE08-988D-3A03-39A2-A7CC1F4450F7}"/>
              </a:ext>
            </a:extLst>
          </p:cNvPr>
          <p:cNvSpPr/>
          <p:nvPr/>
        </p:nvSpPr>
        <p:spPr>
          <a:xfrm>
            <a:off x="0" y="0"/>
            <a:ext cx="9144000" cy="658368"/>
          </a:xfrm>
          <a:prstGeom prst="rect">
            <a:avLst/>
          </a:prstGeom>
          <a:solidFill>
            <a:srgbClr val="0D1B3E"/>
          </a:solidFill>
          <a:ln w="12700">
            <a:solidFill>
              <a:srgbClr val="0D1B3E"/>
            </a:solidFill>
            <a:prstDash val="solid"/>
          </a:ln>
        </p:spPr>
        <p:txBody>
          <a:bodyPr/>
          <a:lstStyle/>
          <a:p>
            <a:endParaRPr lang="en-GB"/>
          </a:p>
        </p:txBody>
      </p:sp>
      <p:sp>
        <p:nvSpPr>
          <p:cNvPr id="11" name="Text 1">
            <a:extLst>
              <a:ext uri="{FF2B5EF4-FFF2-40B4-BE49-F238E27FC236}">
                <a16:creationId xmlns:a16="http://schemas.microsoft.com/office/drawing/2014/main" id="{D07EFE90-0809-5EB0-857B-4A598457D1F7}"/>
              </a:ext>
            </a:extLst>
          </p:cNvPr>
          <p:cNvSpPr/>
          <p:nvPr/>
        </p:nvSpPr>
        <p:spPr>
          <a:xfrm>
            <a:off x="320040" y="0"/>
            <a:ext cx="8503920" cy="658368"/>
          </a:xfrm>
          <a:prstGeom prst="rect">
            <a:avLst/>
          </a:prstGeom>
          <a:noFill/>
          <a:ln/>
        </p:spPr>
        <p:txBody>
          <a:bodyPr wrap="square" lIns="0" tIns="0" rIns="0" bIns="0" rtlCol="0" anchor="ctr"/>
          <a:lstStyle/>
          <a:p>
            <a:pPr marL="0" indent="0">
              <a:buNone/>
            </a:pPr>
            <a:r>
              <a:rPr lang="en-US" sz="2000" b="1" dirty="0">
                <a:solidFill>
                  <a:srgbClr val="FFFFFF"/>
                </a:solidFill>
              </a:rPr>
              <a:t>Grid Independent Study </a:t>
            </a:r>
            <a:endParaRPr lang="en-US" sz="2000" dirty="0"/>
          </a:p>
        </p:txBody>
      </p:sp>
      <p:sp>
        <p:nvSpPr>
          <p:cNvPr id="14" name="Shape 2">
            <a:extLst>
              <a:ext uri="{FF2B5EF4-FFF2-40B4-BE49-F238E27FC236}">
                <a16:creationId xmlns:a16="http://schemas.microsoft.com/office/drawing/2014/main" id="{9F44E795-083C-A361-1EAA-45600706FDB8}"/>
              </a:ext>
            </a:extLst>
          </p:cNvPr>
          <p:cNvSpPr/>
          <p:nvPr/>
        </p:nvSpPr>
        <p:spPr>
          <a:xfrm>
            <a:off x="320039" y="749808"/>
            <a:ext cx="3804523" cy="348890"/>
          </a:xfrm>
          <a:prstGeom prst="roundRect">
            <a:avLst>
              <a:gd name="adj" fmla="val 21429"/>
            </a:avLst>
          </a:prstGeom>
          <a:solidFill>
            <a:srgbClr val="0D1B3E"/>
          </a:solidFill>
          <a:ln w="12700">
            <a:solidFill>
              <a:srgbClr val="0D1B3E"/>
            </a:solidFill>
            <a:prstDash val="solid"/>
          </a:ln>
        </p:spPr>
        <p:txBody>
          <a:bodyPr/>
          <a:lstStyle/>
          <a:p>
            <a:endParaRPr lang="en-GB" dirty="0"/>
          </a:p>
        </p:txBody>
      </p:sp>
      <p:sp>
        <p:nvSpPr>
          <p:cNvPr id="15" name="Text 3">
            <a:extLst>
              <a:ext uri="{FF2B5EF4-FFF2-40B4-BE49-F238E27FC236}">
                <a16:creationId xmlns:a16="http://schemas.microsoft.com/office/drawing/2014/main" id="{12AA2AFF-A773-B0E4-DA34-BDCA3FA4FCA0}"/>
              </a:ext>
            </a:extLst>
          </p:cNvPr>
          <p:cNvSpPr/>
          <p:nvPr/>
        </p:nvSpPr>
        <p:spPr>
          <a:xfrm>
            <a:off x="320040" y="749808"/>
            <a:ext cx="3804522" cy="384047"/>
          </a:xfrm>
          <a:prstGeom prst="rect">
            <a:avLst/>
          </a:prstGeom>
          <a:noFill/>
          <a:ln/>
        </p:spPr>
        <p:txBody>
          <a:bodyPr wrap="square" lIns="0" tIns="0" rIns="0" bIns="0" rtlCol="0" anchor="ctr"/>
          <a:lstStyle/>
          <a:p>
            <a:pPr marL="0" indent="0" algn="ctr">
              <a:buNone/>
            </a:pPr>
            <a:r>
              <a:rPr lang="en-US" sz="1400" b="1" dirty="0">
                <a:solidFill>
                  <a:srgbClr val="FFFFFF"/>
                </a:solidFill>
              </a:rPr>
              <a:t>Stenosed Artery</a:t>
            </a:r>
            <a:endParaRPr lang="en-US" sz="1400" dirty="0"/>
          </a:p>
        </p:txBody>
      </p:sp>
      <p:sp>
        <p:nvSpPr>
          <p:cNvPr id="19" name="Shape 2">
            <a:extLst>
              <a:ext uri="{FF2B5EF4-FFF2-40B4-BE49-F238E27FC236}">
                <a16:creationId xmlns:a16="http://schemas.microsoft.com/office/drawing/2014/main" id="{01DC57C8-3975-C091-36E6-B4FCFD40FD06}"/>
              </a:ext>
            </a:extLst>
          </p:cNvPr>
          <p:cNvSpPr/>
          <p:nvPr/>
        </p:nvSpPr>
        <p:spPr>
          <a:xfrm>
            <a:off x="5019440" y="749808"/>
            <a:ext cx="3436987" cy="348890"/>
          </a:xfrm>
          <a:prstGeom prst="roundRect">
            <a:avLst>
              <a:gd name="adj" fmla="val 21429"/>
            </a:avLst>
          </a:prstGeom>
          <a:solidFill>
            <a:srgbClr val="0D1B3E"/>
          </a:solidFill>
          <a:ln w="12700">
            <a:solidFill>
              <a:srgbClr val="0D1B3E"/>
            </a:solidFill>
            <a:prstDash val="solid"/>
          </a:ln>
        </p:spPr>
        <p:txBody>
          <a:bodyPr/>
          <a:lstStyle/>
          <a:p>
            <a:endParaRPr lang="en-GB" dirty="0"/>
          </a:p>
        </p:txBody>
      </p:sp>
      <p:sp>
        <p:nvSpPr>
          <p:cNvPr id="20" name="Text 3">
            <a:extLst>
              <a:ext uri="{FF2B5EF4-FFF2-40B4-BE49-F238E27FC236}">
                <a16:creationId xmlns:a16="http://schemas.microsoft.com/office/drawing/2014/main" id="{EE5F538F-8E18-64F4-F0CD-73C609ED4B9C}"/>
              </a:ext>
            </a:extLst>
          </p:cNvPr>
          <p:cNvSpPr/>
          <p:nvPr/>
        </p:nvSpPr>
        <p:spPr>
          <a:xfrm>
            <a:off x="5019442" y="749808"/>
            <a:ext cx="3329334" cy="384047"/>
          </a:xfrm>
          <a:prstGeom prst="rect">
            <a:avLst/>
          </a:prstGeom>
          <a:noFill/>
          <a:ln/>
        </p:spPr>
        <p:txBody>
          <a:bodyPr wrap="square" lIns="0" tIns="0" rIns="0" bIns="0" rtlCol="0" anchor="ctr"/>
          <a:lstStyle/>
          <a:p>
            <a:pPr marL="0" indent="0" algn="ctr">
              <a:buNone/>
            </a:pPr>
            <a:r>
              <a:rPr lang="en-US" sz="1400" b="1" dirty="0">
                <a:solidFill>
                  <a:srgbClr val="FFFFFF"/>
                </a:solidFill>
              </a:rPr>
              <a:t>Flow Separation Domain</a:t>
            </a:r>
            <a:endParaRPr lang="en-US" sz="1400" dirty="0"/>
          </a:p>
        </p:txBody>
      </p:sp>
      <p:pic>
        <p:nvPicPr>
          <p:cNvPr id="5" name="Picture 4" descr="A graph of a graph&#10;&#10;Description automatically generated">
            <a:extLst>
              <a:ext uri="{FF2B5EF4-FFF2-40B4-BE49-F238E27FC236}">
                <a16:creationId xmlns:a16="http://schemas.microsoft.com/office/drawing/2014/main" id="{B8AE0BF4-196B-E73E-C3EE-54D68B2F26BC}"/>
              </a:ext>
            </a:extLst>
          </p:cNvPr>
          <p:cNvPicPr>
            <a:picLocks noChangeAspect="1"/>
          </p:cNvPicPr>
          <p:nvPr/>
        </p:nvPicPr>
        <p:blipFill>
          <a:blip r:embed="rId2"/>
          <a:stretch>
            <a:fillRect/>
          </a:stretch>
        </p:blipFill>
        <p:spPr>
          <a:xfrm>
            <a:off x="5019440" y="1263945"/>
            <a:ext cx="3436988" cy="2615609"/>
          </a:xfrm>
          <a:prstGeom prst="rect">
            <a:avLst/>
          </a:prstGeom>
        </p:spPr>
      </p:pic>
      <p:pic>
        <p:nvPicPr>
          <p:cNvPr id="34" name="Picture 33">
            <a:extLst>
              <a:ext uri="{FF2B5EF4-FFF2-40B4-BE49-F238E27FC236}">
                <a16:creationId xmlns:a16="http://schemas.microsoft.com/office/drawing/2014/main" id="{C389F60A-81B7-8B29-2354-CBC611B1714A}"/>
              </a:ext>
            </a:extLst>
          </p:cNvPr>
          <p:cNvPicPr>
            <a:picLocks noChangeAspect="1"/>
          </p:cNvPicPr>
          <p:nvPr/>
        </p:nvPicPr>
        <p:blipFill>
          <a:blip r:embed="rId3"/>
          <a:stretch>
            <a:fillRect/>
          </a:stretch>
        </p:blipFill>
        <p:spPr>
          <a:xfrm>
            <a:off x="320039" y="1346790"/>
            <a:ext cx="3804523" cy="2615609"/>
          </a:xfrm>
          <a:prstGeom prst="rect">
            <a:avLst/>
          </a:prstGeom>
        </p:spPr>
      </p:pic>
      <p:sp>
        <p:nvSpPr>
          <p:cNvPr id="37" name="Shape 3">
            <a:extLst>
              <a:ext uri="{FF2B5EF4-FFF2-40B4-BE49-F238E27FC236}">
                <a16:creationId xmlns:a16="http://schemas.microsoft.com/office/drawing/2014/main" id="{0F959211-D94B-EDC0-EDDF-D3CE7FC60698}"/>
              </a:ext>
            </a:extLst>
          </p:cNvPr>
          <p:cNvSpPr/>
          <p:nvPr/>
        </p:nvSpPr>
        <p:spPr>
          <a:xfrm>
            <a:off x="320042" y="4119372"/>
            <a:ext cx="3804520" cy="274320"/>
          </a:xfrm>
          <a:prstGeom prst="rect">
            <a:avLst/>
          </a:prstGeom>
          <a:solidFill>
            <a:srgbClr val="0D1B3E"/>
          </a:solidFill>
          <a:ln w="12700">
            <a:solidFill>
              <a:srgbClr val="0D1B3E"/>
            </a:solidFill>
            <a:prstDash val="solid"/>
          </a:ln>
        </p:spPr>
        <p:txBody>
          <a:bodyPr/>
          <a:lstStyle/>
          <a:p>
            <a:endParaRPr lang="en-GB"/>
          </a:p>
        </p:txBody>
      </p:sp>
      <p:sp>
        <p:nvSpPr>
          <p:cNvPr id="38" name="Text 4">
            <a:extLst>
              <a:ext uri="{FF2B5EF4-FFF2-40B4-BE49-F238E27FC236}">
                <a16:creationId xmlns:a16="http://schemas.microsoft.com/office/drawing/2014/main" id="{102CC3B3-5A4F-6D76-2BCE-993515A74F1E}"/>
              </a:ext>
            </a:extLst>
          </p:cNvPr>
          <p:cNvSpPr/>
          <p:nvPr/>
        </p:nvSpPr>
        <p:spPr>
          <a:xfrm>
            <a:off x="320042" y="4119372"/>
            <a:ext cx="3804520" cy="274320"/>
          </a:xfrm>
          <a:prstGeom prst="rect">
            <a:avLst/>
          </a:prstGeom>
          <a:noFill/>
          <a:ln/>
        </p:spPr>
        <p:txBody>
          <a:bodyPr wrap="square" lIns="0" tIns="0" rIns="0" bIns="0" rtlCol="0" anchor="ctr"/>
          <a:lstStyle/>
          <a:p>
            <a:pPr marL="0" indent="0" algn="ctr">
              <a:buNone/>
            </a:pPr>
            <a:r>
              <a:rPr lang="en-US" sz="1000" dirty="0">
                <a:solidFill>
                  <a:srgbClr val="FFFFFF"/>
                </a:solidFill>
              </a:rPr>
              <a:t>Fig. 4a — Grid independence test for stenosed artery</a:t>
            </a:r>
            <a:endParaRPr lang="en-US" sz="1000" dirty="0"/>
          </a:p>
        </p:txBody>
      </p:sp>
      <p:sp>
        <p:nvSpPr>
          <p:cNvPr id="40" name="Shape 3">
            <a:extLst>
              <a:ext uri="{FF2B5EF4-FFF2-40B4-BE49-F238E27FC236}">
                <a16:creationId xmlns:a16="http://schemas.microsoft.com/office/drawing/2014/main" id="{4461F982-7D66-3FAF-0B92-07A57DCC40B6}"/>
              </a:ext>
            </a:extLst>
          </p:cNvPr>
          <p:cNvSpPr/>
          <p:nvPr/>
        </p:nvSpPr>
        <p:spPr>
          <a:xfrm>
            <a:off x="5019441" y="4095590"/>
            <a:ext cx="3436985" cy="298101"/>
          </a:xfrm>
          <a:prstGeom prst="rect">
            <a:avLst/>
          </a:prstGeom>
          <a:solidFill>
            <a:srgbClr val="0D1B3E"/>
          </a:solidFill>
          <a:ln w="12700">
            <a:solidFill>
              <a:srgbClr val="0D1B3E"/>
            </a:solidFill>
            <a:prstDash val="solid"/>
          </a:ln>
        </p:spPr>
        <p:txBody>
          <a:bodyPr/>
          <a:lstStyle/>
          <a:p>
            <a:endParaRPr lang="en-GB"/>
          </a:p>
        </p:txBody>
      </p:sp>
      <p:sp>
        <p:nvSpPr>
          <p:cNvPr id="41" name="Text 4">
            <a:extLst>
              <a:ext uri="{FF2B5EF4-FFF2-40B4-BE49-F238E27FC236}">
                <a16:creationId xmlns:a16="http://schemas.microsoft.com/office/drawing/2014/main" id="{35EC39E3-E0A1-639E-AC70-B94A5DAB1B69}"/>
              </a:ext>
            </a:extLst>
          </p:cNvPr>
          <p:cNvSpPr/>
          <p:nvPr/>
        </p:nvSpPr>
        <p:spPr>
          <a:xfrm>
            <a:off x="5019442" y="4095590"/>
            <a:ext cx="3436986" cy="298101"/>
          </a:xfrm>
          <a:prstGeom prst="rect">
            <a:avLst/>
          </a:prstGeom>
          <a:noFill/>
          <a:ln/>
        </p:spPr>
        <p:txBody>
          <a:bodyPr wrap="square" lIns="0" tIns="0" rIns="0" bIns="0" rtlCol="0" anchor="ctr"/>
          <a:lstStyle/>
          <a:p>
            <a:pPr marL="0" indent="0" algn="ctr">
              <a:buNone/>
            </a:pPr>
            <a:r>
              <a:rPr lang="en-US" sz="1000" dirty="0">
                <a:solidFill>
                  <a:srgbClr val="FFFFFF"/>
                </a:solidFill>
              </a:rPr>
              <a:t>Fig. 4b — Grid independence test for flow separation domain</a:t>
            </a:r>
            <a:endParaRPr lang="en-US" sz="1000" dirty="0"/>
          </a:p>
        </p:txBody>
      </p:sp>
    </p:spTree>
    <p:extLst>
      <p:ext uri="{BB962C8B-B14F-4D97-AF65-F5344CB8AC3E}">
        <p14:creationId xmlns:p14="http://schemas.microsoft.com/office/powerpoint/2010/main" val="23472744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665</TotalTime>
  <Words>668</Words>
  <Application>Microsoft Office PowerPoint</Application>
  <PresentationFormat>On-screen Show (16:9)</PresentationFormat>
  <Paragraphs>156</Paragraphs>
  <Slides>9</Slides>
  <Notes>7</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Cambria Math</vt:lpstr>
      <vt:lpstr>DM Sans</vt:lpstr>
      <vt:lpstr>Google Sans Text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LDL Concentration Polarization – Governing Equations &amp; Models</dc:title>
  <dc:subject>PptxGenJS Presentation</dc:subject>
  <dc:creator>Sriya PS</dc:creator>
  <cp:lastModifiedBy>Sriya PS</cp:lastModifiedBy>
  <cp:revision>39</cp:revision>
  <dcterms:created xsi:type="dcterms:W3CDTF">2026-05-25T04:30:08Z</dcterms:created>
  <dcterms:modified xsi:type="dcterms:W3CDTF">2026-06-23T04:58:09Z</dcterms:modified>
</cp:coreProperties>
</file>